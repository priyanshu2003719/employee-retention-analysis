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1" r:id="rId1"/>
    <p:sldMasterId id="2147483769" r:id="rId2"/>
  </p:sldMasterIdLst>
  <p:notesMasterIdLst>
    <p:notesMasterId r:id="rId23"/>
  </p:notesMasterIdLst>
  <p:sldIdLst>
    <p:sldId id="257" r:id="rId3"/>
    <p:sldId id="258" r:id="rId4"/>
    <p:sldId id="259" r:id="rId5"/>
    <p:sldId id="432" r:id="rId6"/>
    <p:sldId id="433" r:id="rId7"/>
    <p:sldId id="454" r:id="rId8"/>
    <p:sldId id="448" r:id="rId9"/>
    <p:sldId id="435" r:id="rId10"/>
    <p:sldId id="449" r:id="rId11"/>
    <p:sldId id="450" r:id="rId12"/>
    <p:sldId id="451" r:id="rId13"/>
    <p:sldId id="452" r:id="rId14"/>
    <p:sldId id="453" r:id="rId15"/>
    <p:sldId id="447" r:id="rId16"/>
    <p:sldId id="455" r:id="rId17"/>
    <p:sldId id="456" r:id="rId18"/>
    <p:sldId id="457" r:id="rId19"/>
    <p:sldId id="459" r:id="rId20"/>
    <p:sldId id="458" r:id="rId21"/>
    <p:sldId id="460" r:id="rId22"/>
  </p:sldIdLst>
  <p:sldSz cx="12192000" cy="6858000"/>
  <p:notesSz cx="6858000" cy="9144000"/>
  <p:custDataLst>
    <p:tags r:id="rId2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C9B8E47-C0D3-4F0F-AA41-1669BA8757C2}">
          <p14:sldIdLst>
            <p14:sldId id="257"/>
            <p14:sldId id="258"/>
            <p14:sldId id="259"/>
            <p14:sldId id="432"/>
            <p14:sldId id="433"/>
            <p14:sldId id="454"/>
            <p14:sldId id="448"/>
            <p14:sldId id="435"/>
            <p14:sldId id="449"/>
            <p14:sldId id="450"/>
            <p14:sldId id="451"/>
            <p14:sldId id="452"/>
            <p14:sldId id="453"/>
            <p14:sldId id="447"/>
            <p14:sldId id="455"/>
            <p14:sldId id="456"/>
            <p14:sldId id="457"/>
            <p14:sldId id="459"/>
            <p14:sldId id="458"/>
            <p14:sldId id="4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1A55"/>
    <a:srgbClr val="67BF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778" autoAdjust="0"/>
    <p:restoredTop sz="94660"/>
  </p:normalViewPr>
  <p:slideViewPr>
    <p:cSldViewPr snapToGrid="0">
      <p:cViewPr varScale="1">
        <p:scale>
          <a:sx n="63" d="100"/>
          <a:sy n="63" d="100"/>
        </p:scale>
        <p:origin x="772"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gs" Target="tags/tag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6A5C36-AE8D-4DA0-B3A4-B84766BD1052}" type="datetimeFigureOut">
              <a:rPr lang="en-IN" smtClean="0"/>
              <a:t>19-03-2026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79C4A7-E4EF-4571-9029-E2D9AC0E3C90}" type="slidenum">
              <a:rPr lang="en-IN" smtClean="0"/>
              <a:t>‹#›</a:t>
            </a:fld>
            <a:endParaRPr lang="en-IN"/>
          </a:p>
        </p:txBody>
      </p:sp>
    </p:spTree>
    <p:extLst>
      <p:ext uri="{BB962C8B-B14F-4D97-AF65-F5344CB8AC3E}">
        <p14:creationId xmlns:p14="http://schemas.microsoft.com/office/powerpoint/2010/main" val="36520420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A4A77-C0EC-E90C-087A-E71757299BE7}"/>
              </a:ext>
            </a:extLst>
          </p:cNvPr>
          <p:cNvSpPr>
            <a:spLocks noGrp="1"/>
          </p:cNvSpPr>
          <p:nvPr>
            <p:ph type="ctrTitle"/>
          </p:nvPr>
        </p:nvSpPr>
        <p:spPr>
          <a:xfrm>
            <a:off x="609600" y="3926541"/>
            <a:ext cx="10972800" cy="1663044"/>
          </a:xfrm>
          <a:prstGeom prst="rect">
            <a:avLst/>
          </a:prstGeom>
        </p:spPr>
        <p:txBody>
          <a:bodyPr anchor="b"/>
          <a:lstStyle>
            <a:lvl1pPr algn="l">
              <a:defRPr sz="6000"/>
            </a:lvl1pPr>
          </a:lstStyle>
          <a:p>
            <a:r>
              <a:rPr lang="en-US" dirty="0"/>
              <a:t>Click to edit Master title style</a:t>
            </a:r>
          </a:p>
        </p:txBody>
      </p:sp>
      <p:sp>
        <p:nvSpPr>
          <p:cNvPr id="3" name="Subtitle 2">
            <a:extLst>
              <a:ext uri="{FF2B5EF4-FFF2-40B4-BE49-F238E27FC236}">
                <a16:creationId xmlns:a16="http://schemas.microsoft.com/office/drawing/2014/main" id="{C65AB453-76B0-1DBA-9EE3-645CA98047EC}"/>
              </a:ext>
            </a:extLst>
          </p:cNvPr>
          <p:cNvSpPr>
            <a:spLocks noGrp="1"/>
          </p:cNvSpPr>
          <p:nvPr>
            <p:ph type="subTitle" idx="1"/>
          </p:nvPr>
        </p:nvSpPr>
        <p:spPr>
          <a:xfrm>
            <a:off x="609600" y="5735636"/>
            <a:ext cx="10972800" cy="474663"/>
          </a:xfrm>
        </p:spPr>
        <p:txBody>
          <a:bodyPr anchor="b"/>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ru-RU" dirty="0"/>
          </a:p>
        </p:txBody>
      </p:sp>
      <p:sp>
        <p:nvSpPr>
          <p:cNvPr id="4" name="Date Placeholder 3">
            <a:extLst>
              <a:ext uri="{FF2B5EF4-FFF2-40B4-BE49-F238E27FC236}">
                <a16:creationId xmlns:a16="http://schemas.microsoft.com/office/drawing/2014/main" id="{F6729D4B-20DA-C5A9-370C-5C556DC7C209}"/>
              </a:ext>
            </a:extLst>
          </p:cNvPr>
          <p:cNvSpPr>
            <a:spLocks noGrp="1"/>
          </p:cNvSpPr>
          <p:nvPr>
            <p:ph type="dt" sz="half" idx="10"/>
          </p:nvPr>
        </p:nvSpPr>
        <p:spPr/>
        <p:txBody>
          <a:bodyPr/>
          <a:lstStyle/>
          <a:p>
            <a:fld id="{AA8A0EC6-5648-844A-8827-911B00959032}" type="datetimeFigureOut">
              <a:rPr lang="en-US" smtClean="0"/>
              <a:t>3/19/2026</a:t>
            </a:fld>
            <a:endParaRPr lang="en-US"/>
          </a:p>
        </p:txBody>
      </p:sp>
      <p:sp>
        <p:nvSpPr>
          <p:cNvPr id="5" name="Footer Placeholder 4">
            <a:extLst>
              <a:ext uri="{FF2B5EF4-FFF2-40B4-BE49-F238E27FC236}">
                <a16:creationId xmlns:a16="http://schemas.microsoft.com/office/drawing/2014/main" id="{ACC23F1A-779F-4295-3160-E943DBC0453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Picture Placeholder 8">
            <a:extLst>
              <a:ext uri="{FF2B5EF4-FFF2-40B4-BE49-F238E27FC236}">
                <a16:creationId xmlns:a16="http://schemas.microsoft.com/office/drawing/2014/main" id="{0849934F-55C5-A548-E041-1CB8C42DF0E6}"/>
              </a:ext>
            </a:extLst>
          </p:cNvPr>
          <p:cNvSpPr>
            <a:spLocks noGrp="1"/>
          </p:cNvSpPr>
          <p:nvPr>
            <p:ph type="pic" sz="quarter" idx="13"/>
          </p:nvPr>
        </p:nvSpPr>
        <p:spPr>
          <a:xfrm>
            <a:off x="0" y="0"/>
            <a:ext cx="12192000" cy="3926541"/>
          </a:xfrm>
        </p:spPr>
        <p:txBody>
          <a:bodyPr/>
          <a:lstStyle/>
          <a:p>
            <a:r>
              <a:rPr lang="en-US" dirty="0"/>
              <a:t>Click icon to add picture</a:t>
            </a:r>
          </a:p>
        </p:txBody>
      </p:sp>
    </p:spTree>
    <p:extLst>
      <p:ext uri="{BB962C8B-B14F-4D97-AF65-F5344CB8AC3E}">
        <p14:creationId xmlns:p14="http://schemas.microsoft.com/office/powerpoint/2010/main" val="12502343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DBA23-25B7-954B-D646-B91AE0381109}"/>
              </a:ext>
            </a:extLst>
          </p:cNvPr>
          <p:cNvSpPr>
            <a:spLocks noGrp="1"/>
          </p:cNvSpPr>
          <p:nvPr>
            <p:ph type="title"/>
          </p:nvPr>
        </p:nvSpPr>
        <p:spPr>
          <a:xfrm>
            <a:off x="609600" y="363537"/>
            <a:ext cx="10972800" cy="1230485"/>
          </a:xfrm>
          <a:prstGeom prst="rect">
            <a:avLst/>
          </a:prstGeom>
        </p:spPr>
        <p:txBody>
          <a:bodyPr/>
          <a:lstStyle/>
          <a:p>
            <a:r>
              <a:rPr lang="en-US" dirty="0"/>
              <a:t>Click to edit Master title style</a:t>
            </a:r>
          </a:p>
        </p:txBody>
      </p:sp>
      <p:sp>
        <p:nvSpPr>
          <p:cNvPr id="14" name="Text Placeholder 2">
            <a:extLst>
              <a:ext uri="{FF2B5EF4-FFF2-40B4-BE49-F238E27FC236}">
                <a16:creationId xmlns:a16="http://schemas.microsoft.com/office/drawing/2014/main" id="{121325FB-E0FE-AAA4-853C-618899B58156}"/>
              </a:ext>
            </a:extLst>
          </p:cNvPr>
          <p:cNvSpPr>
            <a:spLocks noGrp="1"/>
          </p:cNvSpPr>
          <p:nvPr>
            <p:ph type="body" idx="1"/>
          </p:nvPr>
        </p:nvSpPr>
        <p:spPr>
          <a:xfrm>
            <a:off x="960665" y="1610518"/>
            <a:ext cx="5157787" cy="593840"/>
          </a:xfrm>
        </p:spPr>
        <p:txBody>
          <a:bodyPr anchor="b">
            <a:normAutofit/>
          </a:bodyPr>
          <a:lstStyle>
            <a:lvl1pPr marL="0" indent="0">
              <a:buNone/>
              <a:defRPr sz="2000" b="1">
                <a:latin typeface="Calibri" panose="020F0502020204030204" pitchFamily="34" charset="0"/>
                <a:cs typeface="Calibri" panose="020F05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5" name="Text Placeholder 3">
            <a:extLst>
              <a:ext uri="{FF2B5EF4-FFF2-40B4-BE49-F238E27FC236}">
                <a16:creationId xmlns:a16="http://schemas.microsoft.com/office/drawing/2014/main" id="{D2B210CD-96D1-D9FB-6DF0-62266CCB6FFD}"/>
              </a:ext>
            </a:extLst>
          </p:cNvPr>
          <p:cNvSpPr>
            <a:spLocks noGrp="1"/>
          </p:cNvSpPr>
          <p:nvPr>
            <p:ph type="body" sz="half" idx="2"/>
          </p:nvPr>
        </p:nvSpPr>
        <p:spPr>
          <a:xfrm>
            <a:off x="960665" y="2222065"/>
            <a:ext cx="5157786" cy="702959"/>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9" name="Text Placeholder 2">
            <a:extLst>
              <a:ext uri="{FF2B5EF4-FFF2-40B4-BE49-F238E27FC236}">
                <a16:creationId xmlns:a16="http://schemas.microsoft.com/office/drawing/2014/main" id="{D7745948-92EA-3E8A-1DBC-45422E918504}"/>
              </a:ext>
            </a:extLst>
          </p:cNvPr>
          <p:cNvSpPr>
            <a:spLocks noGrp="1"/>
          </p:cNvSpPr>
          <p:nvPr>
            <p:ph type="body" idx="13"/>
          </p:nvPr>
        </p:nvSpPr>
        <p:spPr>
          <a:xfrm>
            <a:off x="2209800" y="3262768"/>
            <a:ext cx="5157787" cy="593840"/>
          </a:xfrm>
        </p:spPr>
        <p:txBody>
          <a:bodyPr anchor="b">
            <a:normAutofit/>
          </a:bodyPr>
          <a:lstStyle>
            <a:lvl1pPr marL="0" indent="0">
              <a:buNone/>
              <a:defRPr sz="2000" b="1">
                <a:latin typeface="Calibri" panose="020F0502020204030204" pitchFamily="34" charset="0"/>
                <a:cs typeface="Calibri" panose="020F05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0" name="Text Placeholder 3">
            <a:extLst>
              <a:ext uri="{FF2B5EF4-FFF2-40B4-BE49-F238E27FC236}">
                <a16:creationId xmlns:a16="http://schemas.microsoft.com/office/drawing/2014/main" id="{87155554-9334-F8D5-FA7F-80CF2FB3BC78}"/>
              </a:ext>
            </a:extLst>
          </p:cNvPr>
          <p:cNvSpPr>
            <a:spLocks noGrp="1"/>
          </p:cNvSpPr>
          <p:nvPr>
            <p:ph type="body" sz="half" idx="14"/>
          </p:nvPr>
        </p:nvSpPr>
        <p:spPr>
          <a:xfrm>
            <a:off x="2209800" y="3874315"/>
            <a:ext cx="5157786" cy="702959"/>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21" name="Text Placeholder 2">
            <a:extLst>
              <a:ext uri="{FF2B5EF4-FFF2-40B4-BE49-F238E27FC236}">
                <a16:creationId xmlns:a16="http://schemas.microsoft.com/office/drawing/2014/main" id="{A44C718E-DBD5-B640-39D2-7860AFE27FFB}"/>
              </a:ext>
            </a:extLst>
          </p:cNvPr>
          <p:cNvSpPr>
            <a:spLocks noGrp="1"/>
          </p:cNvSpPr>
          <p:nvPr>
            <p:ph type="body" idx="15"/>
          </p:nvPr>
        </p:nvSpPr>
        <p:spPr>
          <a:xfrm>
            <a:off x="960666" y="4884397"/>
            <a:ext cx="5157787" cy="593840"/>
          </a:xfrm>
        </p:spPr>
        <p:txBody>
          <a:bodyPr anchor="b">
            <a:normAutofit/>
          </a:bodyPr>
          <a:lstStyle>
            <a:lvl1pPr marL="0" indent="0">
              <a:buNone/>
              <a:defRPr sz="2000" b="1">
                <a:latin typeface="Calibri" panose="020F0502020204030204" pitchFamily="34" charset="0"/>
                <a:cs typeface="Calibri" panose="020F05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2" name="Text Placeholder 3">
            <a:extLst>
              <a:ext uri="{FF2B5EF4-FFF2-40B4-BE49-F238E27FC236}">
                <a16:creationId xmlns:a16="http://schemas.microsoft.com/office/drawing/2014/main" id="{BB073C5F-2FFF-4B6A-E630-E112FB5B952B}"/>
              </a:ext>
            </a:extLst>
          </p:cNvPr>
          <p:cNvSpPr>
            <a:spLocks noGrp="1"/>
          </p:cNvSpPr>
          <p:nvPr>
            <p:ph type="body" sz="half" idx="16"/>
          </p:nvPr>
        </p:nvSpPr>
        <p:spPr>
          <a:xfrm>
            <a:off x="960666" y="5495944"/>
            <a:ext cx="5157786" cy="702959"/>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24" name="Picture Placeholder 23">
            <a:extLst>
              <a:ext uri="{FF2B5EF4-FFF2-40B4-BE49-F238E27FC236}">
                <a16:creationId xmlns:a16="http://schemas.microsoft.com/office/drawing/2014/main" id="{D9276F28-A527-C906-EE7C-5440E0C56B86}"/>
              </a:ext>
            </a:extLst>
          </p:cNvPr>
          <p:cNvSpPr>
            <a:spLocks noGrp="1"/>
          </p:cNvSpPr>
          <p:nvPr>
            <p:ph type="pic" sz="quarter" idx="17"/>
          </p:nvPr>
        </p:nvSpPr>
        <p:spPr>
          <a:xfrm>
            <a:off x="7931490" y="2031153"/>
            <a:ext cx="3650910" cy="3650910"/>
          </a:xfrm>
          <a:prstGeom prst="ellipse">
            <a:avLst/>
          </a:prstGeom>
        </p:spPr>
        <p:txBody>
          <a:bodyPr/>
          <a:lstStyle/>
          <a:p>
            <a:r>
              <a:rPr lang="en-US" dirty="0"/>
              <a:t>Click icon to add picture</a:t>
            </a:r>
          </a:p>
        </p:txBody>
      </p:sp>
      <p:sp>
        <p:nvSpPr>
          <p:cNvPr id="16" name="Date Placeholder 15">
            <a:extLst>
              <a:ext uri="{FF2B5EF4-FFF2-40B4-BE49-F238E27FC236}">
                <a16:creationId xmlns:a16="http://schemas.microsoft.com/office/drawing/2014/main" id="{30843267-C01A-455A-D8A3-E8A7C6CFB0F6}"/>
              </a:ext>
            </a:extLst>
          </p:cNvPr>
          <p:cNvSpPr>
            <a:spLocks noGrp="1"/>
          </p:cNvSpPr>
          <p:nvPr>
            <p:ph type="dt" sz="half" idx="18"/>
          </p:nvPr>
        </p:nvSpPr>
        <p:spPr/>
        <p:txBody>
          <a:bodyPr/>
          <a:lstStyle/>
          <a:p>
            <a:fld id="{AA8A0EC6-5648-844A-8827-911B00959032}" type="datetimeFigureOut">
              <a:rPr lang="en-US" smtClean="0"/>
              <a:t>3/19/2026</a:t>
            </a:fld>
            <a:endParaRPr lang="en-US"/>
          </a:p>
        </p:txBody>
      </p:sp>
      <p:sp>
        <p:nvSpPr>
          <p:cNvPr id="17" name="Footer Placeholder 16">
            <a:extLst>
              <a:ext uri="{FF2B5EF4-FFF2-40B4-BE49-F238E27FC236}">
                <a16:creationId xmlns:a16="http://schemas.microsoft.com/office/drawing/2014/main" id="{1DAE6A71-9FA2-20A0-D992-DEBF7FF3301E}"/>
              </a:ext>
            </a:extLst>
          </p:cNvPr>
          <p:cNvSpPr>
            <a:spLocks noGrp="1"/>
          </p:cNvSpPr>
          <p:nvPr>
            <p:ph type="ftr" sz="quarter" idx="19"/>
          </p:nvPr>
        </p:nvSpPr>
        <p:spPr>
          <a:xfrm>
            <a:off x="4038600" y="6356350"/>
            <a:ext cx="4114800" cy="365125"/>
          </a:xfrm>
          <a:prstGeom prst="rect">
            <a:avLst/>
          </a:prstGeom>
        </p:spPr>
        <p:txBody>
          <a:bodyPr/>
          <a:lstStyle/>
          <a:p>
            <a:endParaRPr lang="en-US"/>
          </a:p>
        </p:txBody>
      </p:sp>
    </p:spTree>
    <p:extLst>
      <p:ext uri="{BB962C8B-B14F-4D97-AF65-F5344CB8AC3E}">
        <p14:creationId xmlns:p14="http://schemas.microsoft.com/office/powerpoint/2010/main" val="39691855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DBA23-25B7-954B-D646-B91AE0381109}"/>
              </a:ext>
            </a:extLst>
          </p:cNvPr>
          <p:cNvSpPr>
            <a:spLocks noGrp="1"/>
          </p:cNvSpPr>
          <p:nvPr>
            <p:ph type="title"/>
          </p:nvPr>
        </p:nvSpPr>
        <p:spPr>
          <a:xfrm>
            <a:off x="609600" y="363537"/>
            <a:ext cx="10972800" cy="1230485"/>
          </a:xfrm>
          <a:prstGeom prst="rect">
            <a:avLst/>
          </a:prstGeom>
        </p:spPr>
        <p:txBody>
          <a:bodyPr/>
          <a:lstStyle/>
          <a:p>
            <a:r>
              <a:rPr lang="en-US" dirty="0"/>
              <a:t>Click to edit Master title style</a:t>
            </a:r>
          </a:p>
        </p:txBody>
      </p:sp>
      <p:sp>
        <p:nvSpPr>
          <p:cNvPr id="4" name="Date Placeholder 3">
            <a:extLst>
              <a:ext uri="{FF2B5EF4-FFF2-40B4-BE49-F238E27FC236}">
                <a16:creationId xmlns:a16="http://schemas.microsoft.com/office/drawing/2014/main" id="{1D8791D4-7662-2DFB-077F-25FC6921C81C}"/>
              </a:ext>
            </a:extLst>
          </p:cNvPr>
          <p:cNvSpPr>
            <a:spLocks noGrp="1"/>
          </p:cNvSpPr>
          <p:nvPr>
            <p:ph type="dt" sz="half" idx="10"/>
          </p:nvPr>
        </p:nvSpPr>
        <p:spPr/>
        <p:txBody>
          <a:bodyPr/>
          <a:lstStyle/>
          <a:p>
            <a:fld id="{AA8A0EC6-5648-844A-8827-911B00959032}" type="datetimeFigureOut">
              <a:rPr lang="en-US" smtClean="0"/>
              <a:t>3/19/2026</a:t>
            </a:fld>
            <a:endParaRPr lang="en-US"/>
          </a:p>
        </p:txBody>
      </p:sp>
      <p:sp>
        <p:nvSpPr>
          <p:cNvPr id="5" name="Footer Placeholder 4">
            <a:extLst>
              <a:ext uri="{FF2B5EF4-FFF2-40B4-BE49-F238E27FC236}">
                <a16:creationId xmlns:a16="http://schemas.microsoft.com/office/drawing/2014/main" id="{10B87723-B8F5-CDD2-6B9D-229B99F039D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24" name="Picture Placeholder 23">
            <a:extLst>
              <a:ext uri="{FF2B5EF4-FFF2-40B4-BE49-F238E27FC236}">
                <a16:creationId xmlns:a16="http://schemas.microsoft.com/office/drawing/2014/main" id="{D9276F28-A527-C906-EE7C-5440E0C56B86}"/>
              </a:ext>
            </a:extLst>
          </p:cNvPr>
          <p:cNvSpPr>
            <a:spLocks noGrp="1"/>
          </p:cNvSpPr>
          <p:nvPr>
            <p:ph type="pic" sz="quarter" idx="17"/>
          </p:nvPr>
        </p:nvSpPr>
        <p:spPr>
          <a:xfrm>
            <a:off x="4722823" y="2004053"/>
            <a:ext cx="2746354" cy="2746354"/>
          </a:xfrm>
          <a:prstGeom prst="ellipse">
            <a:avLst/>
          </a:prstGeom>
        </p:spPr>
        <p:txBody>
          <a:bodyPr/>
          <a:lstStyle/>
          <a:p>
            <a:r>
              <a:rPr lang="en-US" dirty="0"/>
              <a:t>Click icon to add picture</a:t>
            </a:r>
          </a:p>
        </p:txBody>
      </p:sp>
      <p:sp>
        <p:nvSpPr>
          <p:cNvPr id="3" name="Text Placeholder 2">
            <a:extLst>
              <a:ext uri="{FF2B5EF4-FFF2-40B4-BE49-F238E27FC236}">
                <a16:creationId xmlns:a16="http://schemas.microsoft.com/office/drawing/2014/main" id="{0ED2C780-6C1C-A81B-5B9E-735DFD6F43D1}"/>
              </a:ext>
            </a:extLst>
          </p:cNvPr>
          <p:cNvSpPr>
            <a:spLocks noGrp="1"/>
          </p:cNvSpPr>
          <p:nvPr>
            <p:ph type="body" idx="18"/>
          </p:nvPr>
        </p:nvSpPr>
        <p:spPr>
          <a:xfrm>
            <a:off x="4369902" y="4768114"/>
            <a:ext cx="3452196" cy="593840"/>
          </a:xfrm>
        </p:spPr>
        <p:txBody>
          <a:bodyPr anchor="b">
            <a:normAutofit/>
          </a:bodyPr>
          <a:lstStyle>
            <a:lvl1pPr marL="0" indent="0" algn="ctr">
              <a:buNone/>
              <a:defRPr sz="2000" b="1">
                <a:latin typeface="Calibri" panose="020F0502020204030204" pitchFamily="34" charset="0"/>
                <a:cs typeface="Calibri" panose="020F05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a:t>
            </a:r>
          </a:p>
        </p:txBody>
      </p:sp>
      <p:sp>
        <p:nvSpPr>
          <p:cNvPr id="7" name="Text Placeholder 3">
            <a:extLst>
              <a:ext uri="{FF2B5EF4-FFF2-40B4-BE49-F238E27FC236}">
                <a16:creationId xmlns:a16="http://schemas.microsoft.com/office/drawing/2014/main" id="{F29AB7CE-949B-41D7-A673-06B30968CD01}"/>
              </a:ext>
            </a:extLst>
          </p:cNvPr>
          <p:cNvSpPr>
            <a:spLocks noGrp="1"/>
          </p:cNvSpPr>
          <p:nvPr>
            <p:ph type="body" sz="half" idx="19"/>
          </p:nvPr>
        </p:nvSpPr>
        <p:spPr>
          <a:xfrm>
            <a:off x="4369902" y="5379661"/>
            <a:ext cx="3452194" cy="83063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a:t>
            </a:r>
          </a:p>
        </p:txBody>
      </p:sp>
      <p:sp>
        <p:nvSpPr>
          <p:cNvPr id="11" name="Picture Placeholder 23">
            <a:extLst>
              <a:ext uri="{FF2B5EF4-FFF2-40B4-BE49-F238E27FC236}">
                <a16:creationId xmlns:a16="http://schemas.microsoft.com/office/drawing/2014/main" id="{DF95759B-DFBD-52FF-4B1E-1EFF531D300E}"/>
              </a:ext>
            </a:extLst>
          </p:cNvPr>
          <p:cNvSpPr>
            <a:spLocks noGrp="1"/>
          </p:cNvSpPr>
          <p:nvPr>
            <p:ph type="pic" sz="quarter" idx="20"/>
          </p:nvPr>
        </p:nvSpPr>
        <p:spPr>
          <a:xfrm>
            <a:off x="8340666" y="2004053"/>
            <a:ext cx="2746354" cy="2746354"/>
          </a:xfrm>
          <a:prstGeom prst="ellipse">
            <a:avLst/>
          </a:prstGeom>
        </p:spPr>
        <p:txBody>
          <a:bodyPr/>
          <a:lstStyle/>
          <a:p>
            <a:r>
              <a:rPr lang="en-US" dirty="0"/>
              <a:t>Click icon to add picture</a:t>
            </a:r>
          </a:p>
        </p:txBody>
      </p:sp>
      <p:sp>
        <p:nvSpPr>
          <p:cNvPr id="12" name="Text Placeholder 2">
            <a:extLst>
              <a:ext uri="{FF2B5EF4-FFF2-40B4-BE49-F238E27FC236}">
                <a16:creationId xmlns:a16="http://schemas.microsoft.com/office/drawing/2014/main" id="{AC6C789A-7FB2-432A-6019-3F62E5386F29}"/>
              </a:ext>
            </a:extLst>
          </p:cNvPr>
          <p:cNvSpPr>
            <a:spLocks noGrp="1"/>
          </p:cNvSpPr>
          <p:nvPr>
            <p:ph type="body" idx="21"/>
          </p:nvPr>
        </p:nvSpPr>
        <p:spPr>
          <a:xfrm>
            <a:off x="7987745" y="4768114"/>
            <a:ext cx="3452196" cy="593840"/>
          </a:xfrm>
        </p:spPr>
        <p:txBody>
          <a:bodyPr anchor="b">
            <a:normAutofit/>
          </a:bodyPr>
          <a:lstStyle>
            <a:lvl1pPr marL="0" indent="0" algn="ctr">
              <a:buNone/>
              <a:defRPr sz="20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a:t>
            </a:r>
          </a:p>
        </p:txBody>
      </p:sp>
      <p:sp>
        <p:nvSpPr>
          <p:cNvPr id="13" name="Text Placeholder 3">
            <a:extLst>
              <a:ext uri="{FF2B5EF4-FFF2-40B4-BE49-F238E27FC236}">
                <a16:creationId xmlns:a16="http://schemas.microsoft.com/office/drawing/2014/main" id="{F672CBAF-4BDE-95E9-99A1-9EDDBDEF84DC}"/>
              </a:ext>
            </a:extLst>
          </p:cNvPr>
          <p:cNvSpPr>
            <a:spLocks noGrp="1"/>
          </p:cNvSpPr>
          <p:nvPr>
            <p:ph type="body" sz="half" idx="22"/>
          </p:nvPr>
        </p:nvSpPr>
        <p:spPr>
          <a:xfrm>
            <a:off x="7987745" y="5379661"/>
            <a:ext cx="3452194" cy="83063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a:t>
            </a:r>
          </a:p>
        </p:txBody>
      </p:sp>
      <p:sp>
        <p:nvSpPr>
          <p:cNvPr id="16" name="Picture Placeholder 23">
            <a:extLst>
              <a:ext uri="{FF2B5EF4-FFF2-40B4-BE49-F238E27FC236}">
                <a16:creationId xmlns:a16="http://schemas.microsoft.com/office/drawing/2014/main" id="{17E0D596-964B-B199-1020-9CA46C3669D9}"/>
              </a:ext>
            </a:extLst>
          </p:cNvPr>
          <p:cNvSpPr>
            <a:spLocks noGrp="1"/>
          </p:cNvSpPr>
          <p:nvPr>
            <p:ph type="pic" sz="quarter" idx="23"/>
          </p:nvPr>
        </p:nvSpPr>
        <p:spPr>
          <a:xfrm>
            <a:off x="1114918" y="2004052"/>
            <a:ext cx="2746354" cy="2746354"/>
          </a:xfrm>
          <a:prstGeom prst="ellipse">
            <a:avLst/>
          </a:prstGeom>
        </p:spPr>
        <p:txBody>
          <a:bodyPr/>
          <a:lstStyle/>
          <a:p>
            <a:r>
              <a:rPr lang="en-US" dirty="0"/>
              <a:t>Click icon to add picture</a:t>
            </a:r>
          </a:p>
        </p:txBody>
      </p:sp>
      <p:sp>
        <p:nvSpPr>
          <p:cNvPr id="17" name="Text Placeholder 2">
            <a:extLst>
              <a:ext uri="{FF2B5EF4-FFF2-40B4-BE49-F238E27FC236}">
                <a16:creationId xmlns:a16="http://schemas.microsoft.com/office/drawing/2014/main" id="{1F48CE7A-5E89-3480-B862-44BFAC429981}"/>
              </a:ext>
            </a:extLst>
          </p:cNvPr>
          <p:cNvSpPr>
            <a:spLocks noGrp="1"/>
          </p:cNvSpPr>
          <p:nvPr>
            <p:ph type="body" idx="24"/>
          </p:nvPr>
        </p:nvSpPr>
        <p:spPr>
          <a:xfrm>
            <a:off x="761997" y="4768113"/>
            <a:ext cx="3452196" cy="593840"/>
          </a:xfrm>
        </p:spPr>
        <p:txBody>
          <a:bodyPr anchor="b">
            <a:normAutofit/>
          </a:bodyPr>
          <a:lstStyle>
            <a:lvl1pPr marL="0" indent="0" algn="ctr">
              <a:buNone/>
              <a:defRPr sz="20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a:t>
            </a:r>
          </a:p>
        </p:txBody>
      </p:sp>
      <p:sp>
        <p:nvSpPr>
          <p:cNvPr id="18" name="Text Placeholder 3">
            <a:extLst>
              <a:ext uri="{FF2B5EF4-FFF2-40B4-BE49-F238E27FC236}">
                <a16:creationId xmlns:a16="http://schemas.microsoft.com/office/drawing/2014/main" id="{78CF0CF5-EF6E-47A1-80D2-088122A0E64F}"/>
              </a:ext>
            </a:extLst>
          </p:cNvPr>
          <p:cNvSpPr>
            <a:spLocks noGrp="1"/>
          </p:cNvSpPr>
          <p:nvPr>
            <p:ph type="body" sz="half" idx="25"/>
          </p:nvPr>
        </p:nvSpPr>
        <p:spPr>
          <a:xfrm>
            <a:off x="761997" y="5379660"/>
            <a:ext cx="3452194" cy="83063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a:t>
            </a:r>
          </a:p>
        </p:txBody>
      </p:sp>
    </p:spTree>
    <p:extLst>
      <p:ext uri="{BB962C8B-B14F-4D97-AF65-F5344CB8AC3E}">
        <p14:creationId xmlns:p14="http://schemas.microsoft.com/office/powerpoint/2010/main" val="5463355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DBA23-25B7-954B-D646-B91AE0381109}"/>
              </a:ext>
            </a:extLst>
          </p:cNvPr>
          <p:cNvSpPr>
            <a:spLocks noGrp="1"/>
          </p:cNvSpPr>
          <p:nvPr>
            <p:ph type="title"/>
          </p:nvPr>
        </p:nvSpPr>
        <p:spPr>
          <a:xfrm>
            <a:off x="609600" y="363537"/>
            <a:ext cx="10972800" cy="1230485"/>
          </a:xfrm>
          <a:prstGeom prst="rect">
            <a:avLst/>
          </a:prstGeom>
        </p:spPr>
        <p:txBody>
          <a:bodyPr/>
          <a:lstStyle/>
          <a:p>
            <a:r>
              <a:rPr lang="en-US"/>
              <a:t>Click to edit Master title style</a:t>
            </a:r>
          </a:p>
        </p:txBody>
      </p:sp>
      <p:sp>
        <p:nvSpPr>
          <p:cNvPr id="4" name="Date Placeholder 3">
            <a:extLst>
              <a:ext uri="{FF2B5EF4-FFF2-40B4-BE49-F238E27FC236}">
                <a16:creationId xmlns:a16="http://schemas.microsoft.com/office/drawing/2014/main" id="{1D8791D4-7662-2DFB-077F-25FC6921C81C}"/>
              </a:ext>
            </a:extLst>
          </p:cNvPr>
          <p:cNvSpPr>
            <a:spLocks noGrp="1"/>
          </p:cNvSpPr>
          <p:nvPr>
            <p:ph type="dt" sz="half" idx="10"/>
          </p:nvPr>
        </p:nvSpPr>
        <p:spPr/>
        <p:txBody>
          <a:bodyPr/>
          <a:lstStyle/>
          <a:p>
            <a:fld id="{AA8A0EC6-5648-844A-8827-911B00959032}" type="datetimeFigureOut">
              <a:rPr lang="en-US" smtClean="0"/>
              <a:t>3/19/2026</a:t>
            </a:fld>
            <a:endParaRPr lang="en-US"/>
          </a:p>
        </p:txBody>
      </p:sp>
      <p:sp>
        <p:nvSpPr>
          <p:cNvPr id="5" name="Footer Placeholder 4">
            <a:extLst>
              <a:ext uri="{FF2B5EF4-FFF2-40B4-BE49-F238E27FC236}">
                <a16:creationId xmlns:a16="http://schemas.microsoft.com/office/drawing/2014/main" id="{10B87723-B8F5-CDD2-6B9D-229B99F039D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3" name="Text Placeholder 2">
            <a:extLst>
              <a:ext uri="{FF2B5EF4-FFF2-40B4-BE49-F238E27FC236}">
                <a16:creationId xmlns:a16="http://schemas.microsoft.com/office/drawing/2014/main" id="{0ED2C780-6C1C-A81B-5B9E-735DFD6F43D1}"/>
              </a:ext>
            </a:extLst>
          </p:cNvPr>
          <p:cNvSpPr>
            <a:spLocks noGrp="1"/>
          </p:cNvSpPr>
          <p:nvPr>
            <p:ph type="body" idx="18"/>
          </p:nvPr>
        </p:nvSpPr>
        <p:spPr>
          <a:xfrm>
            <a:off x="4369902" y="2660252"/>
            <a:ext cx="3452196" cy="593840"/>
          </a:xfrm>
        </p:spPr>
        <p:txBody>
          <a:bodyPr anchor="b">
            <a:normAutofit/>
          </a:bodyPr>
          <a:lstStyle>
            <a:lvl1pPr marL="0" indent="0">
              <a:buNone/>
              <a:defRPr sz="20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a:t>
            </a:r>
          </a:p>
        </p:txBody>
      </p:sp>
      <p:sp>
        <p:nvSpPr>
          <p:cNvPr id="7" name="Text Placeholder 3">
            <a:extLst>
              <a:ext uri="{FF2B5EF4-FFF2-40B4-BE49-F238E27FC236}">
                <a16:creationId xmlns:a16="http://schemas.microsoft.com/office/drawing/2014/main" id="{F29AB7CE-949B-41D7-A673-06B30968CD01}"/>
              </a:ext>
            </a:extLst>
          </p:cNvPr>
          <p:cNvSpPr>
            <a:spLocks noGrp="1"/>
          </p:cNvSpPr>
          <p:nvPr>
            <p:ph type="body" sz="half" idx="19"/>
          </p:nvPr>
        </p:nvSpPr>
        <p:spPr>
          <a:xfrm>
            <a:off x="4369902" y="3271799"/>
            <a:ext cx="3452194" cy="83063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a:t>
            </a:r>
          </a:p>
        </p:txBody>
      </p:sp>
      <p:sp>
        <p:nvSpPr>
          <p:cNvPr id="12" name="Text Placeholder 2">
            <a:extLst>
              <a:ext uri="{FF2B5EF4-FFF2-40B4-BE49-F238E27FC236}">
                <a16:creationId xmlns:a16="http://schemas.microsoft.com/office/drawing/2014/main" id="{AC6C789A-7FB2-432A-6019-3F62E5386F29}"/>
              </a:ext>
            </a:extLst>
          </p:cNvPr>
          <p:cNvSpPr>
            <a:spLocks noGrp="1"/>
          </p:cNvSpPr>
          <p:nvPr>
            <p:ph type="body" idx="21"/>
          </p:nvPr>
        </p:nvSpPr>
        <p:spPr>
          <a:xfrm>
            <a:off x="7987745" y="2660252"/>
            <a:ext cx="3452196" cy="593840"/>
          </a:xfrm>
        </p:spPr>
        <p:txBody>
          <a:bodyPr anchor="b">
            <a:normAutofit/>
          </a:bodyPr>
          <a:lstStyle>
            <a:lvl1pPr marL="0" indent="0">
              <a:buNone/>
              <a:defRPr sz="20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a:t>
            </a:r>
          </a:p>
        </p:txBody>
      </p:sp>
      <p:sp>
        <p:nvSpPr>
          <p:cNvPr id="13" name="Text Placeholder 3">
            <a:extLst>
              <a:ext uri="{FF2B5EF4-FFF2-40B4-BE49-F238E27FC236}">
                <a16:creationId xmlns:a16="http://schemas.microsoft.com/office/drawing/2014/main" id="{F672CBAF-4BDE-95E9-99A1-9EDDBDEF84DC}"/>
              </a:ext>
            </a:extLst>
          </p:cNvPr>
          <p:cNvSpPr>
            <a:spLocks noGrp="1"/>
          </p:cNvSpPr>
          <p:nvPr>
            <p:ph type="body" sz="half" idx="22"/>
          </p:nvPr>
        </p:nvSpPr>
        <p:spPr>
          <a:xfrm>
            <a:off x="7987745" y="3271799"/>
            <a:ext cx="3452194" cy="83063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a:t>
            </a:r>
          </a:p>
        </p:txBody>
      </p:sp>
      <p:sp>
        <p:nvSpPr>
          <p:cNvPr id="17" name="Text Placeholder 2">
            <a:extLst>
              <a:ext uri="{FF2B5EF4-FFF2-40B4-BE49-F238E27FC236}">
                <a16:creationId xmlns:a16="http://schemas.microsoft.com/office/drawing/2014/main" id="{1F48CE7A-5E89-3480-B862-44BFAC429981}"/>
              </a:ext>
            </a:extLst>
          </p:cNvPr>
          <p:cNvSpPr>
            <a:spLocks noGrp="1"/>
          </p:cNvSpPr>
          <p:nvPr>
            <p:ph type="body" idx="24"/>
          </p:nvPr>
        </p:nvSpPr>
        <p:spPr>
          <a:xfrm>
            <a:off x="761997" y="2660251"/>
            <a:ext cx="3452196" cy="593840"/>
          </a:xfrm>
        </p:spPr>
        <p:txBody>
          <a:bodyPr anchor="b">
            <a:normAutofit/>
          </a:bodyPr>
          <a:lstStyle>
            <a:lvl1pPr marL="0" indent="0">
              <a:buNone/>
              <a:defRPr sz="20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a:t>
            </a:r>
          </a:p>
        </p:txBody>
      </p:sp>
      <p:sp>
        <p:nvSpPr>
          <p:cNvPr id="18" name="Text Placeholder 3">
            <a:extLst>
              <a:ext uri="{FF2B5EF4-FFF2-40B4-BE49-F238E27FC236}">
                <a16:creationId xmlns:a16="http://schemas.microsoft.com/office/drawing/2014/main" id="{78CF0CF5-EF6E-47A1-80D2-088122A0E64F}"/>
              </a:ext>
            </a:extLst>
          </p:cNvPr>
          <p:cNvSpPr>
            <a:spLocks noGrp="1"/>
          </p:cNvSpPr>
          <p:nvPr>
            <p:ph type="body" sz="half" idx="25"/>
          </p:nvPr>
        </p:nvSpPr>
        <p:spPr>
          <a:xfrm>
            <a:off x="761997" y="3271798"/>
            <a:ext cx="3452194" cy="83063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a:t>
            </a:r>
          </a:p>
        </p:txBody>
      </p:sp>
      <p:sp>
        <p:nvSpPr>
          <p:cNvPr id="15" name="Picture Placeholder 14">
            <a:extLst>
              <a:ext uri="{FF2B5EF4-FFF2-40B4-BE49-F238E27FC236}">
                <a16:creationId xmlns:a16="http://schemas.microsoft.com/office/drawing/2014/main" id="{9EA2C811-2433-C4B8-E818-972740C49603}"/>
              </a:ext>
            </a:extLst>
          </p:cNvPr>
          <p:cNvSpPr>
            <a:spLocks noGrp="1"/>
          </p:cNvSpPr>
          <p:nvPr>
            <p:ph type="pic" sz="quarter" idx="26"/>
          </p:nvPr>
        </p:nvSpPr>
        <p:spPr>
          <a:xfrm>
            <a:off x="609600" y="5692875"/>
            <a:ext cx="10972800" cy="539496"/>
          </a:xfrm>
        </p:spPr>
        <p:txBody>
          <a:bodyPr/>
          <a:lstStyle/>
          <a:p>
            <a:endParaRPr lang="en-US"/>
          </a:p>
        </p:txBody>
      </p:sp>
    </p:spTree>
    <p:extLst>
      <p:ext uri="{BB962C8B-B14F-4D97-AF65-F5344CB8AC3E}">
        <p14:creationId xmlns:p14="http://schemas.microsoft.com/office/powerpoint/2010/main" val="7331031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DBA23-25B7-954B-D646-B91AE0381109}"/>
              </a:ext>
            </a:extLst>
          </p:cNvPr>
          <p:cNvSpPr>
            <a:spLocks noGrp="1"/>
          </p:cNvSpPr>
          <p:nvPr>
            <p:ph type="title"/>
          </p:nvPr>
        </p:nvSpPr>
        <p:spPr>
          <a:xfrm>
            <a:off x="609600" y="363537"/>
            <a:ext cx="10972800" cy="1230485"/>
          </a:xfrm>
          <a:prstGeom prst="rect">
            <a:avLst/>
          </a:prstGeom>
        </p:spPr>
        <p:txBody>
          <a:bodyPr/>
          <a:lstStyle/>
          <a:p>
            <a:r>
              <a:rPr lang="en-US"/>
              <a:t>Click to edit Master title style</a:t>
            </a:r>
          </a:p>
        </p:txBody>
      </p:sp>
      <p:sp>
        <p:nvSpPr>
          <p:cNvPr id="4" name="Date Placeholder 3">
            <a:extLst>
              <a:ext uri="{FF2B5EF4-FFF2-40B4-BE49-F238E27FC236}">
                <a16:creationId xmlns:a16="http://schemas.microsoft.com/office/drawing/2014/main" id="{1D8791D4-7662-2DFB-077F-25FC6921C81C}"/>
              </a:ext>
            </a:extLst>
          </p:cNvPr>
          <p:cNvSpPr>
            <a:spLocks noGrp="1"/>
          </p:cNvSpPr>
          <p:nvPr>
            <p:ph type="dt" sz="half" idx="10"/>
          </p:nvPr>
        </p:nvSpPr>
        <p:spPr/>
        <p:txBody>
          <a:bodyPr/>
          <a:lstStyle/>
          <a:p>
            <a:fld id="{AA8A0EC6-5648-844A-8827-911B00959032}" type="datetimeFigureOut">
              <a:rPr lang="en-US" smtClean="0"/>
              <a:t>3/19/2026</a:t>
            </a:fld>
            <a:endParaRPr lang="en-US"/>
          </a:p>
        </p:txBody>
      </p:sp>
      <p:sp>
        <p:nvSpPr>
          <p:cNvPr id="5" name="Footer Placeholder 4">
            <a:extLst>
              <a:ext uri="{FF2B5EF4-FFF2-40B4-BE49-F238E27FC236}">
                <a16:creationId xmlns:a16="http://schemas.microsoft.com/office/drawing/2014/main" id="{10B87723-B8F5-CDD2-6B9D-229B99F039D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14" name="Text Placeholder 2">
            <a:extLst>
              <a:ext uri="{FF2B5EF4-FFF2-40B4-BE49-F238E27FC236}">
                <a16:creationId xmlns:a16="http://schemas.microsoft.com/office/drawing/2014/main" id="{121325FB-E0FE-AAA4-853C-618899B58156}"/>
              </a:ext>
            </a:extLst>
          </p:cNvPr>
          <p:cNvSpPr>
            <a:spLocks noGrp="1"/>
          </p:cNvSpPr>
          <p:nvPr>
            <p:ph type="body" idx="1"/>
          </p:nvPr>
        </p:nvSpPr>
        <p:spPr>
          <a:xfrm>
            <a:off x="960665" y="1610518"/>
            <a:ext cx="5157787" cy="593840"/>
          </a:xfrm>
        </p:spPr>
        <p:txBody>
          <a:bodyPr anchor="b">
            <a:normAutofit/>
          </a:bodyPr>
          <a:lstStyle>
            <a:lvl1pPr marL="0" indent="0">
              <a:buNone/>
              <a:defRPr sz="20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5" name="Text Placeholder 3">
            <a:extLst>
              <a:ext uri="{FF2B5EF4-FFF2-40B4-BE49-F238E27FC236}">
                <a16:creationId xmlns:a16="http://schemas.microsoft.com/office/drawing/2014/main" id="{D2B210CD-96D1-D9FB-6DF0-62266CCB6FFD}"/>
              </a:ext>
            </a:extLst>
          </p:cNvPr>
          <p:cNvSpPr>
            <a:spLocks noGrp="1"/>
          </p:cNvSpPr>
          <p:nvPr>
            <p:ph type="body" sz="half" idx="2"/>
          </p:nvPr>
        </p:nvSpPr>
        <p:spPr>
          <a:xfrm>
            <a:off x="960665" y="2222065"/>
            <a:ext cx="5157786" cy="88325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24" name="Picture Placeholder 23">
            <a:extLst>
              <a:ext uri="{FF2B5EF4-FFF2-40B4-BE49-F238E27FC236}">
                <a16:creationId xmlns:a16="http://schemas.microsoft.com/office/drawing/2014/main" id="{D9276F28-A527-C906-EE7C-5440E0C56B86}"/>
              </a:ext>
            </a:extLst>
          </p:cNvPr>
          <p:cNvSpPr>
            <a:spLocks noGrp="1"/>
          </p:cNvSpPr>
          <p:nvPr>
            <p:ph type="pic" sz="quarter" idx="17"/>
          </p:nvPr>
        </p:nvSpPr>
        <p:spPr>
          <a:xfrm>
            <a:off x="7931490" y="2031153"/>
            <a:ext cx="3650910" cy="3650910"/>
          </a:xfrm>
          <a:prstGeom prst="ellipse">
            <a:avLst/>
          </a:prstGeom>
        </p:spPr>
        <p:txBody>
          <a:bodyPr/>
          <a:lstStyle/>
          <a:p>
            <a:r>
              <a:rPr lang="en-US" dirty="0"/>
              <a:t>Click icon to add picture</a:t>
            </a:r>
          </a:p>
        </p:txBody>
      </p:sp>
      <p:sp>
        <p:nvSpPr>
          <p:cNvPr id="3" name="Text Placeholder 2">
            <a:extLst>
              <a:ext uri="{FF2B5EF4-FFF2-40B4-BE49-F238E27FC236}">
                <a16:creationId xmlns:a16="http://schemas.microsoft.com/office/drawing/2014/main" id="{0B92E382-FE6E-A17E-2B3A-9F3E4C7A7D21}"/>
              </a:ext>
            </a:extLst>
          </p:cNvPr>
          <p:cNvSpPr>
            <a:spLocks noGrp="1"/>
          </p:cNvSpPr>
          <p:nvPr>
            <p:ph type="body" idx="18"/>
          </p:nvPr>
        </p:nvSpPr>
        <p:spPr>
          <a:xfrm>
            <a:off x="1517256" y="3121266"/>
            <a:ext cx="5157787" cy="593840"/>
          </a:xfrm>
        </p:spPr>
        <p:txBody>
          <a:bodyPr anchor="b">
            <a:normAutofit/>
          </a:bodyPr>
          <a:lstStyle>
            <a:lvl1pPr marL="0" indent="0">
              <a:buNone/>
              <a:defRPr sz="2000" b="1">
                <a:latin typeface="Calibri" panose="020F0502020204030204" pitchFamily="34" charset="0"/>
                <a:cs typeface="Calibri" panose="020F05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7" name="Text Placeholder 3">
            <a:extLst>
              <a:ext uri="{FF2B5EF4-FFF2-40B4-BE49-F238E27FC236}">
                <a16:creationId xmlns:a16="http://schemas.microsoft.com/office/drawing/2014/main" id="{618A7E81-D817-3ABE-B656-52FF60EF0205}"/>
              </a:ext>
            </a:extLst>
          </p:cNvPr>
          <p:cNvSpPr>
            <a:spLocks noGrp="1"/>
          </p:cNvSpPr>
          <p:nvPr>
            <p:ph type="body" sz="half" idx="19"/>
          </p:nvPr>
        </p:nvSpPr>
        <p:spPr>
          <a:xfrm>
            <a:off x="1517256" y="3732813"/>
            <a:ext cx="5157786" cy="88325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8" name="Text Placeholder 2">
            <a:extLst>
              <a:ext uri="{FF2B5EF4-FFF2-40B4-BE49-F238E27FC236}">
                <a16:creationId xmlns:a16="http://schemas.microsoft.com/office/drawing/2014/main" id="{E8347DD8-16D7-B434-07E6-BD26F45B6DEE}"/>
              </a:ext>
            </a:extLst>
          </p:cNvPr>
          <p:cNvSpPr>
            <a:spLocks noGrp="1"/>
          </p:cNvSpPr>
          <p:nvPr>
            <p:ph type="body" idx="20"/>
          </p:nvPr>
        </p:nvSpPr>
        <p:spPr>
          <a:xfrm>
            <a:off x="2073847" y="4638571"/>
            <a:ext cx="5157787" cy="593840"/>
          </a:xfrm>
        </p:spPr>
        <p:txBody>
          <a:bodyPr anchor="b">
            <a:normAutofit/>
          </a:bodyPr>
          <a:lstStyle>
            <a:lvl1pPr marL="0" indent="0">
              <a:buNone/>
              <a:defRPr sz="20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Text Placeholder 3">
            <a:extLst>
              <a:ext uri="{FF2B5EF4-FFF2-40B4-BE49-F238E27FC236}">
                <a16:creationId xmlns:a16="http://schemas.microsoft.com/office/drawing/2014/main" id="{C7114E8C-EF4A-11ED-19FB-2D8B5FEC3A69}"/>
              </a:ext>
            </a:extLst>
          </p:cNvPr>
          <p:cNvSpPr>
            <a:spLocks noGrp="1"/>
          </p:cNvSpPr>
          <p:nvPr>
            <p:ph type="body" sz="half" idx="21"/>
          </p:nvPr>
        </p:nvSpPr>
        <p:spPr>
          <a:xfrm>
            <a:off x="2073847" y="5250118"/>
            <a:ext cx="5157786" cy="88325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40203077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DBA23-25B7-954B-D646-B91AE0381109}"/>
              </a:ext>
            </a:extLst>
          </p:cNvPr>
          <p:cNvSpPr>
            <a:spLocks noGrp="1"/>
          </p:cNvSpPr>
          <p:nvPr>
            <p:ph type="title"/>
          </p:nvPr>
        </p:nvSpPr>
        <p:spPr>
          <a:xfrm>
            <a:off x="609600" y="363537"/>
            <a:ext cx="10972800" cy="1230485"/>
          </a:xfrm>
          <a:prstGeom prst="rect">
            <a:avLst/>
          </a:prstGeom>
        </p:spPr>
        <p:txBody>
          <a:bodyPr/>
          <a:lstStyle/>
          <a:p>
            <a:r>
              <a:rPr lang="en-US"/>
              <a:t>Click to edit Master title style</a:t>
            </a:r>
          </a:p>
        </p:txBody>
      </p:sp>
      <p:sp>
        <p:nvSpPr>
          <p:cNvPr id="4" name="Date Placeholder 3">
            <a:extLst>
              <a:ext uri="{FF2B5EF4-FFF2-40B4-BE49-F238E27FC236}">
                <a16:creationId xmlns:a16="http://schemas.microsoft.com/office/drawing/2014/main" id="{1D8791D4-7662-2DFB-077F-25FC6921C81C}"/>
              </a:ext>
            </a:extLst>
          </p:cNvPr>
          <p:cNvSpPr>
            <a:spLocks noGrp="1"/>
          </p:cNvSpPr>
          <p:nvPr>
            <p:ph type="dt" sz="half" idx="10"/>
          </p:nvPr>
        </p:nvSpPr>
        <p:spPr/>
        <p:txBody>
          <a:bodyPr/>
          <a:lstStyle/>
          <a:p>
            <a:fld id="{AA8A0EC6-5648-844A-8827-911B00959032}" type="datetimeFigureOut">
              <a:rPr lang="en-US" smtClean="0"/>
              <a:t>3/19/2026</a:t>
            </a:fld>
            <a:endParaRPr lang="en-US"/>
          </a:p>
        </p:txBody>
      </p:sp>
      <p:sp>
        <p:nvSpPr>
          <p:cNvPr id="5" name="Footer Placeholder 4">
            <a:extLst>
              <a:ext uri="{FF2B5EF4-FFF2-40B4-BE49-F238E27FC236}">
                <a16:creationId xmlns:a16="http://schemas.microsoft.com/office/drawing/2014/main" id="{10B87723-B8F5-CDD2-6B9D-229B99F039D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14" name="Text Placeholder 2">
            <a:extLst>
              <a:ext uri="{FF2B5EF4-FFF2-40B4-BE49-F238E27FC236}">
                <a16:creationId xmlns:a16="http://schemas.microsoft.com/office/drawing/2014/main" id="{121325FB-E0FE-AAA4-853C-618899B58156}"/>
              </a:ext>
            </a:extLst>
          </p:cNvPr>
          <p:cNvSpPr>
            <a:spLocks noGrp="1"/>
          </p:cNvSpPr>
          <p:nvPr>
            <p:ph type="body" idx="1"/>
          </p:nvPr>
        </p:nvSpPr>
        <p:spPr>
          <a:xfrm>
            <a:off x="962439" y="1925949"/>
            <a:ext cx="5157787" cy="593840"/>
          </a:xfrm>
        </p:spPr>
        <p:txBody>
          <a:bodyPr anchor="b">
            <a:normAutofit/>
          </a:bodyPr>
          <a:lstStyle>
            <a:lvl1pPr marL="0" indent="0">
              <a:buNone/>
              <a:defRPr sz="20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5" name="Text Placeholder 3">
            <a:extLst>
              <a:ext uri="{FF2B5EF4-FFF2-40B4-BE49-F238E27FC236}">
                <a16:creationId xmlns:a16="http://schemas.microsoft.com/office/drawing/2014/main" id="{D2B210CD-96D1-D9FB-6DF0-62266CCB6FFD}"/>
              </a:ext>
            </a:extLst>
          </p:cNvPr>
          <p:cNvSpPr>
            <a:spLocks noGrp="1"/>
          </p:cNvSpPr>
          <p:nvPr>
            <p:ph type="body" sz="half" idx="2"/>
          </p:nvPr>
        </p:nvSpPr>
        <p:spPr>
          <a:xfrm>
            <a:off x="962439" y="2537496"/>
            <a:ext cx="5157786" cy="88325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Text Placeholder 2">
            <a:extLst>
              <a:ext uri="{FF2B5EF4-FFF2-40B4-BE49-F238E27FC236}">
                <a16:creationId xmlns:a16="http://schemas.microsoft.com/office/drawing/2014/main" id="{0B92E382-FE6E-A17E-2B3A-9F3E4C7A7D21}"/>
              </a:ext>
            </a:extLst>
          </p:cNvPr>
          <p:cNvSpPr>
            <a:spLocks noGrp="1"/>
          </p:cNvSpPr>
          <p:nvPr>
            <p:ph type="body" idx="18"/>
          </p:nvPr>
        </p:nvSpPr>
        <p:spPr>
          <a:xfrm>
            <a:off x="6426387" y="1925949"/>
            <a:ext cx="5157787" cy="593840"/>
          </a:xfrm>
        </p:spPr>
        <p:txBody>
          <a:bodyPr anchor="b">
            <a:normAutofit/>
          </a:bodyPr>
          <a:lstStyle>
            <a:lvl1pPr marL="0" indent="0">
              <a:buNone/>
              <a:defRPr sz="20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7" name="Text Placeholder 3">
            <a:extLst>
              <a:ext uri="{FF2B5EF4-FFF2-40B4-BE49-F238E27FC236}">
                <a16:creationId xmlns:a16="http://schemas.microsoft.com/office/drawing/2014/main" id="{618A7E81-D817-3ABE-B656-52FF60EF0205}"/>
              </a:ext>
            </a:extLst>
          </p:cNvPr>
          <p:cNvSpPr>
            <a:spLocks noGrp="1"/>
          </p:cNvSpPr>
          <p:nvPr>
            <p:ph type="body" sz="half" idx="19"/>
          </p:nvPr>
        </p:nvSpPr>
        <p:spPr>
          <a:xfrm>
            <a:off x="6426387" y="2537496"/>
            <a:ext cx="5157786" cy="88325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8" name="Text Placeholder 2">
            <a:extLst>
              <a:ext uri="{FF2B5EF4-FFF2-40B4-BE49-F238E27FC236}">
                <a16:creationId xmlns:a16="http://schemas.microsoft.com/office/drawing/2014/main" id="{E8347DD8-16D7-B434-07E6-BD26F45B6DEE}"/>
              </a:ext>
            </a:extLst>
          </p:cNvPr>
          <p:cNvSpPr>
            <a:spLocks noGrp="1"/>
          </p:cNvSpPr>
          <p:nvPr>
            <p:ph type="body" idx="20"/>
          </p:nvPr>
        </p:nvSpPr>
        <p:spPr>
          <a:xfrm>
            <a:off x="960665" y="3752680"/>
            <a:ext cx="5157787" cy="593840"/>
          </a:xfrm>
        </p:spPr>
        <p:txBody>
          <a:bodyPr anchor="b">
            <a:normAutofit/>
          </a:bodyPr>
          <a:lstStyle>
            <a:lvl1pPr marL="0" indent="0">
              <a:buNone/>
              <a:defRPr sz="20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Text Placeholder 3">
            <a:extLst>
              <a:ext uri="{FF2B5EF4-FFF2-40B4-BE49-F238E27FC236}">
                <a16:creationId xmlns:a16="http://schemas.microsoft.com/office/drawing/2014/main" id="{C7114E8C-EF4A-11ED-19FB-2D8B5FEC3A69}"/>
              </a:ext>
            </a:extLst>
          </p:cNvPr>
          <p:cNvSpPr>
            <a:spLocks noGrp="1"/>
          </p:cNvSpPr>
          <p:nvPr>
            <p:ph type="body" sz="half" idx="21"/>
          </p:nvPr>
        </p:nvSpPr>
        <p:spPr>
          <a:xfrm>
            <a:off x="960665" y="4364227"/>
            <a:ext cx="5157786" cy="88325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2" name="Picture Placeholder 11">
            <a:extLst>
              <a:ext uri="{FF2B5EF4-FFF2-40B4-BE49-F238E27FC236}">
                <a16:creationId xmlns:a16="http://schemas.microsoft.com/office/drawing/2014/main" id="{61C98F61-9164-7CDA-F0A4-B90327F23F7A}"/>
              </a:ext>
            </a:extLst>
          </p:cNvPr>
          <p:cNvSpPr>
            <a:spLocks noGrp="1"/>
          </p:cNvSpPr>
          <p:nvPr>
            <p:ph type="pic" sz="quarter" idx="22"/>
          </p:nvPr>
        </p:nvSpPr>
        <p:spPr>
          <a:xfrm>
            <a:off x="6426200" y="3752850"/>
            <a:ext cx="5156200" cy="2457450"/>
          </a:xfrm>
        </p:spPr>
        <p:txBody>
          <a:bodyPr/>
          <a:lstStyle/>
          <a:p>
            <a:endParaRPr lang="en-US"/>
          </a:p>
        </p:txBody>
      </p:sp>
    </p:spTree>
    <p:extLst>
      <p:ext uri="{BB962C8B-B14F-4D97-AF65-F5344CB8AC3E}">
        <p14:creationId xmlns:p14="http://schemas.microsoft.com/office/powerpoint/2010/main" val="25006903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_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DBA23-25B7-954B-D646-B91AE0381109}"/>
              </a:ext>
            </a:extLst>
          </p:cNvPr>
          <p:cNvSpPr>
            <a:spLocks noGrp="1"/>
          </p:cNvSpPr>
          <p:nvPr>
            <p:ph type="title"/>
          </p:nvPr>
        </p:nvSpPr>
        <p:spPr>
          <a:xfrm>
            <a:off x="609600" y="363537"/>
            <a:ext cx="10972800" cy="1230485"/>
          </a:xfrm>
          <a:prstGeom prst="rect">
            <a:avLst/>
          </a:prstGeom>
        </p:spPr>
        <p:txBody>
          <a:bodyPr/>
          <a:lstStyle/>
          <a:p>
            <a:r>
              <a:rPr lang="en-US"/>
              <a:t>Click to edit Master title style</a:t>
            </a:r>
          </a:p>
        </p:txBody>
      </p:sp>
      <p:sp>
        <p:nvSpPr>
          <p:cNvPr id="4" name="Date Placeholder 3">
            <a:extLst>
              <a:ext uri="{FF2B5EF4-FFF2-40B4-BE49-F238E27FC236}">
                <a16:creationId xmlns:a16="http://schemas.microsoft.com/office/drawing/2014/main" id="{1D8791D4-7662-2DFB-077F-25FC6921C81C}"/>
              </a:ext>
            </a:extLst>
          </p:cNvPr>
          <p:cNvSpPr>
            <a:spLocks noGrp="1"/>
          </p:cNvSpPr>
          <p:nvPr>
            <p:ph type="dt" sz="half" idx="10"/>
          </p:nvPr>
        </p:nvSpPr>
        <p:spPr/>
        <p:txBody>
          <a:bodyPr/>
          <a:lstStyle/>
          <a:p>
            <a:fld id="{AA8A0EC6-5648-844A-8827-911B00959032}" type="datetimeFigureOut">
              <a:rPr lang="en-US" smtClean="0"/>
              <a:t>3/19/2026</a:t>
            </a:fld>
            <a:endParaRPr lang="en-US"/>
          </a:p>
        </p:txBody>
      </p:sp>
      <p:sp>
        <p:nvSpPr>
          <p:cNvPr id="5" name="Footer Placeholder 4">
            <a:extLst>
              <a:ext uri="{FF2B5EF4-FFF2-40B4-BE49-F238E27FC236}">
                <a16:creationId xmlns:a16="http://schemas.microsoft.com/office/drawing/2014/main" id="{10B87723-B8F5-CDD2-6B9D-229B99F039D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14" name="Text Placeholder 2">
            <a:extLst>
              <a:ext uri="{FF2B5EF4-FFF2-40B4-BE49-F238E27FC236}">
                <a16:creationId xmlns:a16="http://schemas.microsoft.com/office/drawing/2014/main" id="{121325FB-E0FE-AAA4-853C-618899B58156}"/>
              </a:ext>
            </a:extLst>
          </p:cNvPr>
          <p:cNvSpPr>
            <a:spLocks noGrp="1"/>
          </p:cNvSpPr>
          <p:nvPr>
            <p:ph type="body" idx="1"/>
          </p:nvPr>
        </p:nvSpPr>
        <p:spPr>
          <a:xfrm>
            <a:off x="960665" y="1925949"/>
            <a:ext cx="3259182" cy="593840"/>
          </a:xfrm>
        </p:spPr>
        <p:txBody>
          <a:bodyPr anchor="b">
            <a:normAutofit/>
          </a:bodyPr>
          <a:lstStyle>
            <a:lvl1pPr marL="0" indent="0">
              <a:buNone/>
              <a:defRPr sz="20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5" name="Text Placeholder 3">
            <a:extLst>
              <a:ext uri="{FF2B5EF4-FFF2-40B4-BE49-F238E27FC236}">
                <a16:creationId xmlns:a16="http://schemas.microsoft.com/office/drawing/2014/main" id="{D2B210CD-96D1-D9FB-6DF0-62266CCB6FFD}"/>
              </a:ext>
            </a:extLst>
          </p:cNvPr>
          <p:cNvSpPr>
            <a:spLocks noGrp="1"/>
          </p:cNvSpPr>
          <p:nvPr>
            <p:ph type="body" sz="half" idx="2"/>
          </p:nvPr>
        </p:nvSpPr>
        <p:spPr>
          <a:xfrm>
            <a:off x="960665" y="2537496"/>
            <a:ext cx="3259180" cy="121518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Text Placeholder 2">
            <a:extLst>
              <a:ext uri="{FF2B5EF4-FFF2-40B4-BE49-F238E27FC236}">
                <a16:creationId xmlns:a16="http://schemas.microsoft.com/office/drawing/2014/main" id="{0B92E382-FE6E-A17E-2B3A-9F3E4C7A7D21}"/>
              </a:ext>
            </a:extLst>
          </p:cNvPr>
          <p:cNvSpPr>
            <a:spLocks noGrp="1"/>
          </p:cNvSpPr>
          <p:nvPr>
            <p:ph type="body" idx="18"/>
          </p:nvPr>
        </p:nvSpPr>
        <p:spPr>
          <a:xfrm>
            <a:off x="4712973" y="1925949"/>
            <a:ext cx="3259182" cy="593840"/>
          </a:xfrm>
        </p:spPr>
        <p:txBody>
          <a:bodyPr anchor="b">
            <a:normAutofit/>
          </a:bodyPr>
          <a:lstStyle>
            <a:lvl1pPr marL="0" indent="0">
              <a:buNone/>
              <a:defRPr sz="20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7" name="Text Placeholder 3">
            <a:extLst>
              <a:ext uri="{FF2B5EF4-FFF2-40B4-BE49-F238E27FC236}">
                <a16:creationId xmlns:a16="http://schemas.microsoft.com/office/drawing/2014/main" id="{618A7E81-D817-3ABE-B656-52FF60EF0205}"/>
              </a:ext>
            </a:extLst>
          </p:cNvPr>
          <p:cNvSpPr>
            <a:spLocks noGrp="1"/>
          </p:cNvSpPr>
          <p:nvPr>
            <p:ph type="body" sz="half" idx="19"/>
          </p:nvPr>
        </p:nvSpPr>
        <p:spPr>
          <a:xfrm>
            <a:off x="4712973" y="2537495"/>
            <a:ext cx="3259180" cy="119747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8" name="Text Placeholder 2">
            <a:extLst>
              <a:ext uri="{FF2B5EF4-FFF2-40B4-BE49-F238E27FC236}">
                <a16:creationId xmlns:a16="http://schemas.microsoft.com/office/drawing/2014/main" id="{E8347DD8-16D7-B434-07E6-BD26F45B6DEE}"/>
              </a:ext>
            </a:extLst>
          </p:cNvPr>
          <p:cNvSpPr>
            <a:spLocks noGrp="1"/>
          </p:cNvSpPr>
          <p:nvPr>
            <p:ph type="body" idx="20"/>
          </p:nvPr>
        </p:nvSpPr>
        <p:spPr>
          <a:xfrm>
            <a:off x="960665" y="3752680"/>
            <a:ext cx="7011488" cy="593840"/>
          </a:xfrm>
        </p:spPr>
        <p:txBody>
          <a:bodyPr anchor="b">
            <a:normAutofit/>
          </a:bodyPr>
          <a:lstStyle>
            <a:lvl1pPr marL="0" indent="0">
              <a:buNone/>
              <a:defRPr sz="20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Text Placeholder 3">
            <a:extLst>
              <a:ext uri="{FF2B5EF4-FFF2-40B4-BE49-F238E27FC236}">
                <a16:creationId xmlns:a16="http://schemas.microsoft.com/office/drawing/2014/main" id="{C7114E8C-EF4A-11ED-19FB-2D8B5FEC3A69}"/>
              </a:ext>
            </a:extLst>
          </p:cNvPr>
          <p:cNvSpPr>
            <a:spLocks noGrp="1"/>
          </p:cNvSpPr>
          <p:nvPr>
            <p:ph type="body" sz="half" idx="21"/>
          </p:nvPr>
        </p:nvSpPr>
        <p:spPr>
          <a:xfrm>
            <a:off x="960665" y="4364227"/>
            <a:ext cx="7011488" cy="88325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2" name="Picture Placeholder 11">
            <a:extLst>
              <a:ext uri="{FF2B5EF4-FFF2-40B4-BE49-F238E27FC236}">
                <a16:creationId xmlns:a16="http://schemas.microsoft.com/office/drawing/2014/main" id="{BBB6EDE2-F53E-7B97-FF80-7764EECA4CCF}"/>
              </a:ext>
            </a:extLst>
          </p:cNvPr>
          <p:cNvSpPr>
            <a:spLocks noGrp="1"/>
          </p:cNvSpPr>
          <p:nvPr>
            <p:ph type="pic" sz="quarter" idx="22"/>
          </p:nvPr>
        </p:nvSpPr>
        <p:spPr>
          <a:xfrm>
            <a:off x="8485188" y="1925638"/>
            <a:ext cx="3097212" cy="4284662"/>
          </a:xfrm>
        </p:spPr>
        <p:txBody>
          <a:bodyPr/>
          <a:lstStyle/>
          <a:p>
            <a:endParaRPr lang="en-US"/>
          </a:p>
        </p:txBody>
      </p:sp>
    </p:spTree>
    <p:extLst>
      <p:ext uri="{BB962C8B-B14F-4D97-AF65-F5344CB8AC3E}">
        <p14:creationId xmlns:p14="http://schemas.microsoft.com/office/powerpoint/2010/main" val="15000723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681E5-DE3E-1E52-3179-344AB5B2A570}"/>
              </a:ext>
            </a:extLst>
          </p:cNvPr>
          <p:cNvSpPr>
            <a:spLocks noGrp="1"/>
          </p:cNvSpPr>
          <p:nvPr>
            <p:ph type="title"/>
          </p:nvPr>
        </p:nvSpPr>
        <p:spPr>
          <a:xfrm>
            <a:off x="609600" y="363537"/>
            <a:ext cx="10972800" cy="1230485"/>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689A41B8-CF99-8A7C-E16D-CFEF1E099C4C}"/>
              </a:ext>
            </a:extLst>
          </p:cNvPr>
          <p:cNvSpPr>
            <a:spLocks noGrp="1"/>
          </p:cNvSpPr>
          <p:nvPr>
            <p:ph type="dt" sz="half" idx="10"/>
          </p:nvPr>
        </p:nvSpPr>
        <p:spPr/>
        <p:txBody>
          <a:bodyPr/>
          <a:lstStyle/>
          <a:p>
            <a:fld id="{AA8A0EC6-5648-844A-8827-911B00959032}" type="datetimeFigureOut">
              <a:rPr lang="en-US" smtClean="0"/>
              <a:t>3/19/2026</a:t>
            </a:fld>
            <a:endParaRPr lang="en-US"/>
          </a:p>
        </p:txBody>
      </p:sp>
      <p:sp>
        <p:nvSpPr>
          <p:cNvPr id="4" name="Footer Placeholder 3">
            <a:extLst>
              <a:ext uri="{FF2B5EF4-FFF2-40B4-BE49-F238E27FC236}">
                <a16:creationId xmlns:a16="http://schemas.microsoft.com/office/drawing/2014/main" id="{F9989524-6BA7-0F2E-1749-175C6928696B}"/>
              </a:ext>
            </a:extLst>
          </p:cNvPr>
          <p:cNvSpPr>
            <a:spLocks noGrp="1"/>
          </p:cNvSpPr>
          <p:nvPr>
            <p:ph type="ftr" sz="quarter" idx="11"/>
          </p:nvPr>
        </p:nvSpPr>
        <p:spPr>
          <a:xfrm>
            <a:off x="4038600" y="6356350"/>
            <a:ext cx="4114800" cy="365125"/>
          </a:xfrm>
          <a:prstGeom prst="rect">
            <a:avLst/>
          </a:prstGeom>
        </p:spPr>
        <p:txBody>
          <a:bodyPr/>
          <a:lstStyle/>
          <a:p>
            <a:endParaRPr lang="en-US"/>
          </a:p>
        </p:txBody>
      </p:sp>
    </p:spTree>
    <p:extLst>
      <p:ext uri="{BB962C8B-B14F-4D97-AF65-F5344CB8AC3E}">
        <p14:creationId xmlns:p14="http://schemas.microsoft.com/office/powerpoint/2010/main" val="35245937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BE6759F-66EA-8EE3-A2F4-F15BA2F9B5C8}"/>
              </a:ext>
            </a:extLst>
          </p:cNvPr>
          <p:cNvSpPr>
            <a:spLocks noGrp="1"/>
          </p:cNvSpPr>
          <p:nvPr>
            <p:ph type="dt" sz="half" idx="10"/>
          </p:nvPr>
        </p:nvSpPr>
        <p:spPr/>
        <p:txBody>
          <a:bodyPr/>
          <a:lstStyle/>
          <a:p>
            <a:fld id="{AA8A0EC6-5648-844A-8827-911B00959032}" type="datetimeFigureOut">
              <a:rPr lang="en-US" smtClean="0"/>
              <a:t>3/19/2026</a:t>
            </a:fld>
            <a:endParaRPr lang="en-US"/>
          </a:p>
        </p:txBody>
      </p:sp>
      <p:sp>
        <p:nvSpPr>
          <p:cNvPr id="3" name="Footer Placeholder 2">
            <a:extLst>
              <a:ext uri="{FF2B5EF4-FFF2-40B4-BE49-F238E27FC236}">
                <a16:creationId xmlns:a16="http://schemas.microsoft.com/office/drawing/2014/main" id="{46548357-3F2C-483C-C0FC-FD9FB673CEB7}"/>
              </a:ext>
            </a:extLst>
          </p:cNvPr>
          <p:cNvSpPr>
            <a:spLocks noGrp="1"/>
          </p:cNvSpPr>
          <p:nvPr>
            <p:ph type="ftr" sz="quarter" idx="11"/>
          </p:nvPr>
        </p:nvSpPr>
        <p:spPr>
          <a:xfrm>
            <a:off x="4038600" y="6356350"/>
            <a:ext cx="4114800" cy="365125"/>
          </a:xfrm>
          <a:prstGeom prst="rect">
            <a:avLst/>
          </a:prstGeom>
        </p:spPr>
        <p:txBody>
          <a:bodyPr/>
          <a:lstStyle/>
          <a:p>
            <a:endParaRPr lang="en-US"/>
          </a:p>
        </p:txBody>
      </p:sp>
    </p:spTree>
    <p:extLst>
      <p:ext uri="{BB962C8B-B14F-4D97-AF65-F5344CB8AC3E}">
        <p14:creationId xmlns:p14="http://schemas.microsoft.com/office/powerpoint/2010/main" val="1466452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A4A77-C0EC-E90C-087A-E71757299BE7}"/>
              </a:ext>
            </a:extLst>
          </p:cNvPr>
          <p:cNvSpPr>
            <a:spLocks noGrp="1"/>
          </p:cNvSpPr>
          <p:nvPr>
            <p:ph type="ctrTitle"/>
          </p:nvPr>
        </p:nvSpPr>
        <p:spPr>
          <a:xfrm>
            <a:off x="609600" y="3926541"/>
            <a:ext cx="10972800" cy="1663044"/>
          </a:xfrm>
          <a:prstGeom prst="rect">
            <a:avLst/>
          </a:prstGeom>
        </p:spPr>
        <p:txBody>
          <a:bodyPr anchor="b"/>
          <a:lstStyle>
            <a:lvl1pPr algn="l">
              <a:defRPr sz="6000"/>
            </a:lvl1pPr>
          </a:lstStyle>
          <a:p>
            <a:r>
              <a:rPr lang="en-US" dirty="0"/>
              <a:t>Click to edit Master title style</a:t>
            </a:r>
          </a:p>
        </p:txBody>
      </p:sp>
      <p:sp>
        <p:nvSpPr>
          <p:cNvPr id="3" name="Subtitle 2">
            <a:extLst>
              <a:ext uri="{FF2B5EF4-FFF2-40B4-BE49-F238E27FC236}">
                <a16:creationId xmlns:a16="http://schemas.microsoft.com/office/drawing/2014/main" id="{C65AB453-76B0-1DBA-9EE3-645CA98047EC}"/>
              </a:ext>
            </a:extLst>
          </p:cNvPr>
          <p:cNvSpPr>
            <a:spLocks noGrp="1"/>
          </p:cNvSpPr>
          <p:nvPr>
            <p:ph type="subTitle" idx="1"/>
          </p:nvPr>
        </p:nvSpPr>
        <p:spPr>
          <a:xfrm>
            <a:off x="609600" y="5735636"/>
            <a:ext cx="10972800" cy="474663"/>
          </a:xfrm>
        </p:spPr>
        <p:txBody>
          <a:bodyPr anchor="b"/>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ru-RU" dirty="0"/>
          </a:p>
        </p:txBody>
      </p:sp>
      <p:sp>
        <p:nvSpPr>
          <p:cNvPr id="4" name="Date Placeholder 3">
            <a:extLst>
              <a:ext uri="{FF2B5EF4-FFF2-40B4-BE49-F238E27FC236}">
                <a16:creationId xmlns:a16="http://schemas.microsoft.com/office/drawing/2014/main" id="{F6729D4B-20DA-C5A9-370C-5C556DC7C209}"/>
              </a:ext>
            </a:extLst>
          </p:cNvPr>
          <p:cNvSpPr>
            <a:spLocks noGrp="1"/>
          </p:cNvSpPr>
          <p:nvPr>
            <p:ph type="dt" sz="half" idx="10"/>
          </p:nvPr>
        </p:nvSpPr>
        <p:spPr/>
        <p:txBody>
          <a:bodyPr/>
          <a:lstStyle/>
          <a:p>
            <a:fld id="{AA8A0EC6-5648-844A-8827-911B00959032}" type="datetimeFigureOut">
              <a:rPr lang="en-US" smtClean="0"/>
              <a:t>3/19/2026</a:t>
            </a:fld>
            <a:endParaRPr lang="en-US"/>
          </a:p>
        </p:txBody>
      </p:sp>
      <p:sp>
        <p:nvSpPr>
          <p:cNvPr id="5" name="Footer Placeholder 4">
            <a:extLst>
              <a:ext uri="{FF2B5EF4-FFF2-40B4-BE49-F238E27FC236}">
                <a16:creationId xmlns:a16="http://schemas.microsoft.com/office/drawing/2014/main" id="{ACC23F1A-779F-4295-3160-E943DBC0453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Picture Placeholder 8">
            <a:extLst>
              <a:ext uri="{FF2B5EF4-FFF2-40B4-BE49-F238E27FC236}">
                <a16:creationId xmlns:a16="http://schemas.microsoft.com/office/drawing/2014/main" id="{0849934F-55C5-A548-E041-1CB8C42DF0E6}"/>
              </a:ext>
            </a:extLst>
          </p:cNvPr>
          <p:cNvSpPr>
            <a:spLocks noGrp="1"/>
          </p:cNvSpPr>
          <p:nvPr>
            <p:ph type="pic" sz="quarter" idx="13"/>
          </p:nvPr>
        </p:nvSpPr>
        <p:spPr>
          <a:xfrm>
            <a:off x="0" y="0"/>
            <a:ext cx="12192000" cy="3926541"/>
          </a:xfrm>
        </p:spPr>
        <p:txBody>
          <a:bodyPr/>
          <a:lstStyle/>
          <a:p>
            <a:r>
              <a:rPr lang="en-US" dirty="0"/>
              <a:t>Click icon to add picture</a:t>
            </a:r>
          </a:p>
        </p:txBody>
      </p:sp>
    </p:spTree>
    <p:extLst>
      <p:ext uri="{BB962C8B-B14F-4D97-AF65-F5344CB8AC3E}">
        <p14:creationId xmlns:p14="http://schemas.microsoft.com/office/powerpoint/2010/main" val="30715029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E3951B7-5837-40D7-A284-C287FC16DA88}" type="datetimeFigureOut">
              <a:rPr lang="en-IN" smtClean="0"/>
              <a:t>19-03-2026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EFB1823-63EE-423F-9C0B-A09E9E56188F}" type="slidenum">
              <a:rPr lang="en-IN" smtClean="0"/>
              <a:t>‹#›</a:t>
            </a:fld>
            <a:endParaRPr lang="en-IN"/>
          </a:p>
        </p:txBody>
      </p:sp>
    </p:spTree>
    <p:extLst>
      <p:ext uri="{BB962C8B-B14F-4D97-AF65-F5344CB8AC3E}">
        <p14:creationId xmlns:p14="http://schemas.microsoft.com/office/powerpoint/2010/main" val="32736896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E3951B7-5837-40D7-A284-C287FC16DA88}" type="datetimeFigureOut">
              <a:rPr lang="en-IN" smtClean="0"/>
              <a:t>19-03-2026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EFB1823-63EE-423F-9C0B-A09E9E56188F}" type="slidenum">
              <a:rPr lang="en-IN" smtClean="0"/>
              <a:t>‹#›</a:t>
            </a:fld>
            <a:endParaRPr lang="en-IN"/>
          </a:p>
        </p:txBody>
      </p:sp>
    </p:spTree>
    <p:extLst>
      <p:ext uri="{BB962C8B-B14F-4D97-AF65-F5344CB8AC3E}">
        <p14:creationId xmlns:p14="http://schemas.microsoft.com/office/powerpoint/2010/main" val="32327243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E3951B7-5837-40D7-A284-C287FC16DA88}" type="datetimeFigureOut">
              <a:rPr lang="en-IN" smtClean="0"/>
              <a:t>19-03-2026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EFB1823-63EE-423F-9C0B-A09E9E56188F}" type="slidenum">
              <a:rPr lang="en-IN" smtClean="0"/>
              <a:t>‹#›</a:t>
            </a:fld>
            <a:endParaRPr lang="en-IN"/>
          </a:p>
        </p:txBody>
      </p:sp>
    </p:spTree>
    <p:extLst>
      <p:ext uri="{BB962C8B-B14F-4D97-AF65-F5344CB8AC3E}">
        <p14:creationId xmlns:p14="http://schemas.microsoft.com/office/powerpoint/2010/main" val="42711762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E3951B7-5837-40D7-A284-C287FC16DA88}" type="datetimeFigureOut">
              <a:rPr lang="en-IN" smtClean="0"/>
              <a:t>19-03-2026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EFB1823-63EE-423F-9C0B-A09E9E56188F}" type="slidenum">
              <a:rPr lang="en-IN" smtClean="0"/>
              <a:t>‹#›</a:t>
            </a:fld>
            <a:endParaRPr lang="en-IN"/>
          </a:p>
        </p:txBody>
      </p:sp>
    </p:spTree>
    <p:extLst>
      <p:ext uri="{BB962C8B-B14F-4D97-AF65-F5344CB8AC3E}">
        <p14:creationId xmlns:p14="http://schemas.microsoft.com/office/powerpoint/2010/main" val="13533027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E3951B7-5837-40D7-A284-C287FC16DA88}" type="datetimeFigureOut">
              <a:rPr lang="en-IN" smtClean="0"/>
              <a:t>19-03-2026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EFB1823-63EE-423F-9C0B-A09E9E56188F}" type="slidenum">
              <a:rPr lang="en-IN" smtClean="0"/>
              <a:t>‹#›</a:t>
            </a:fld>
            <a:endParaRPr lang="en-IN"/>
          </a:p>
        </p:txBody>
      </p:sp>
    </p:spTree>
    <p:extLst>
      <p:ext uri="{BB962C8B-B14F-4D97-AF65-F5344CB8AC3E}">
        <p14:creationId xmlns:p14="http://schemas.microsoft.com/office/powerpoint/2010/main" val="28037571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E3951B7-5837-40D7-A284-C287FC16DA88}" type="datetimeFigureOut">
              <a:rPr lang="en-IN" smtClean="0"/>
              <a:t>19-03-2026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EFB1823-63EE-423F-9C0B-A09E9E56188F}" type="slidenum">
              <a:rPr lang="en-IN" smtClean="0"/>
              <a:t>‹#›</a:t>
            </a:fld>
            <a:endParaRPr lang="en-IN"/>
          </a:p>
        </p:txBody>
      </p:sp>
    </p:spTree>
    <p:extLst>
      <p:ext uri="{BB962C8B-B14F-4D97-AF65-F5344CB8AC3E}">
        <p14:creationId xmlns:p14="http://schemas.microsoft.com/office/powerpoint/2010/main" val="4539988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E3951B7-5837-40D7-A284-C287FC16DA88}" type="datetimeFigureOut">
              <a:rPr lang="en-IN" smtClean="0"/>
              <a:t>19-03-2026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EFB1823-63EE-423F-9C0B-A09E9E56188F}" type="slidenum">
              <a:rPr lang="en-IN" smtClean="0"/>
              <a:t>‹#›</a:t>
            </a:fld>
            <a:endParaRPr lang="en-IN"/>
          </a:p>
        </p:txBody>
      </p:sp>
    </p:spTree>
    <p:extLst>
      <p:ext uri="{BB962C8B-B14F-4D97-AF65-F5344CB8AC3E}">
        <p14:creationId xmlns:p14="http://schemas.microsoft.com/office/powerpoint/2010/main" val="77089941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E3951B7-5837-40D7-A284-C287FC16DA88}" type="datetimeFigureOut">
              <a:rPr lang="en-IN" smtClean="0"/>
              <a:t>19-03-2026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EFB1823-63EE-423F-9C0B-A09E9E56188F}" type="slidenum">
              <a:rPr lang="en-IN" smtClean="0"/>
              <a:t>‹#›</a:t>
            </a:fld>
            <a:endParaRPr lang="en-IN"/>
          </a:p>
        </p:txBody>
      </p:sp>
    </p:spTree>
    <p:extLst>
      <p:ext uri="{BB962C8B-B14F-4D97-AF65-F5344CB8AC3E}">
        <p14:creationId xmlns:p14="http://schemas.microsoft.com/office/powerpoint/2010/main" val="241047990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E3951B7-5837-40D7-A284-C287FC16DA88}" type="datetimeFigureOut">
              <a:rPr lang="en-IN" smtClean="0"/>
              <a:t>19-03-2026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EFB1823-63EE-423F-9C0B-A09E9E56188F}" type="slidenum">
              <a:rPr lang="en-IN" smtClean="0"/>
              <a:t>‹#›</a:t>
            </a:fld>
            <a:endParaRPr lang="en-IN"/>
          </a:p>
        </p:txBody>
      </p:sp>
    </p:spTree>
    <p:extLst>
      <p:ext uri="{BB962C8B-B14F-4D97-AF65-F5344CB8AC3E}">
        <p14:creationId xmlns:p14="http://schemas.microsoft.com/office/powerpoint/2010/main" val="425787022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E3951B7-5837-40D7-A284-C287FC16DA88}" type="datetimeFigureOut">
              <a:rPr lang="en-IN" smtClean="0"/>
              <a:t>19-03-2026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EFB1823-63EE-423F-9C0B-A09E9E56188F}" type="slidenum">
              <a:rPr lang="en-IN" smtClean="0"/>
              <a:t>‹#›</a:t>
            </a:fld>
            <a:endParaRPr lang="en-IN"/>
          </a:p>
        </p:txBody>
      </p:sp>
    </p:spTree>
    <p:extLst>
      <p:ext uri="{BB962C8B-B14F-4D97-AF65-F5344CB8AC3E}">
        <p14:creationId xmlns:p14="http://schemas.microsoft.com/office/powerpoint/2010/main" val="218605522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E3951B7-5837-40D7-A284-C287FC16DA88}" type="datetimeFigureOut">
              <a:rPr lang="en-IN" smtClean="0"/>
              <a:t>19-03-2026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EFB1823-63EE-423F-9C0B-A09E9E56188F}" type="slidenum">
              <a:rPr lang="en-IN" smtClean="0"/>
              <a:t>‹#›</a:t>
            </a:fld>
            <a:endParaRPr lang="en-IN"/>
          </a:p>
        </p:txBody>
      </p:sp>
    </p:spTree>
    <p:extLst>
      <p:ext uri="{BB962C8B-B14F-4D97-AF65-F5344CB8AC3E}">
        <p14:creationId xmlns:p14="http://schemas.microsoft.com/office/powerpoint/2010/main" val="5613758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theme" Target="../theme/theme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8357E25-C674-3745-6594-912F15B9826E}"/>
              </a:ext>
            </a:extLst>
          </p:cNvPr>
          <p:cNvSpPr>
            <a:spLocks noGrp="1"/>
          </p:cNvSpPr>
          <p:nvPr>
            <p:ph type="body" idx="1"/>
          </p:nvPr>
        </p:nvSpPr>
        <p:spPr>
          <a:xfrm>
            <a:off x="952500" y="1847056"/>
            <a:ext cx="106299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FF64DF9-DAEC-F283-848F-16438F855A8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8A0EC6-5648-844A-8827-911B00959032}" type="datetimeFigureOut">
              <a:rPr lang="en-US" smtClean="0"/>
              <a:t>3/19/2026</a:t>
            </a:fld>
            <a:endParaRPr lang="en-US"/>
          </a:p>
        </p:txBody>
      </p:sp>
      <p:sp>
        <p:nvSpPr>
          <p:cNvPr id="10" name="Title Placeholder 9">
            <a:extLst>
              <a:ext uri="{FF2B5EF4-FFF2-40B4-BE49-F238E27FC236}">
                <a16:creationId xmlns:a16="http://schemas.microsoft.com/office/drawing/2014/main" id="{2390A06B-2D1F-A145-446B-BF268052479A}"/>
              </a:ext>
            </a:extLst>
          </p:cNvPr>
          <p:cNvSpPr>
            <a:spLocks noGrp="1"/>
          </p:cNvSpPr>
          <p:nvPr>
            <p:ph type="title"/>
          </p:nvPr>
        </p:nvSpPr>
        <p:spPr>
          <a:xfrm>
            <a:off x="952500" y="363537"/>
            <a:ext cx="10629900" cy="1236663"/>
          </a:xfrm>
          <a:prstGeom prst="rect">
            <a:avLst/>
          </a:prstGeom>
        </p:spPr>
        <p:txBody>
          <a:bodyPr vert="horz" lIns="91440" tIns="45720" rIns="91440" bIns="45720" rtlCol="0" anchor="ctr">
            <a:normAutofit/>
          </a:bodyPr>
          <a:lstStyle/>
          <a:p>
            <a:r>
              <a:rPr lang="en-US" dirty="0"/>
              <a:t>Click to edit Master title style</a:t>
            </a:r>
          </a:p>
        </p:txBody>
      </p:sp>
      <p:sp>
        <p:nvSpPr>
          <p:cNvPr id="13" name="Footer Placeholder 12">
            <a:extLst>
              <a:ext uri="{FF2B5EF4-FFF2-40B4-BE49-F238E27FC236}">
                <a16:creationId xmlns:a16="http://schemas.microsoft.com/office/drawing/2014/main" id="{2D227A9A-BF27-C878-C29C-004A9358CE3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14" name="TextBox 13">
            <a:extLst>
              <a:ext uri="{FF2B5EF4-FFF2-40B4-BE49-F238E27FC236}">
                <a16:creationId xmlns:a16="http://schemas.microsoft.com/office/drawing/2014/main" id="{7269396F-CFCA-FDCB-4DCE-DD40BD52D5F3}"/>
              </a:ext>
            </a:extLst>
          </p:cNvPr>
          <p:cNvSpPr txBox="1"/>
          <p:nvPr userDrawn="1"/>
        </p:nvSpPr>
        <p:spPr>
          <a:xfrm>
            <a:off x="8444753" y="6505221"/>
            <a:ext cx="3137647" cy="246221"/>
          </a:xfrm>
          <a:prstGeom prst="rect">
            <a:avLst/>
          </a:prstGeom>
          <a:noFill/>
        </p:spPr>
        <p:txBody>
          <a:bodyPr wrap="square" rtlCol="0">
            <a:spAutoFit/>
          </a:bodyPr>
          <a:lstStyle/>
          <a:p>
            <a:pPr algn="r"/>
            <a:r>
              <a:rPr lang="en-US" sz="1000" dirty="0">
                <a:solidFill>
                  <a:schemeClr val="bg1">
                    <a:lumMod val="65000"/>
                  </a:schemeClr>
                </a:solidFill>
              </a:rPr>
              <a:t>Photos provided by </a:t>
            </a:r>
            <a:r>
              <a:rPr lang="en-US" sz="1000" dirty="0" err="1">
                <a:solidFill>
                  <a:schemeClr val="bg1">
                    <a:lumMod val="65000"/>
                  </a:schemeClr>
                </a:solidFill>
              </a:rPr>
              <a:t>Pexels</a:t>
            </a:r>
            <a:endParaRPr lang="en-US" sz="1000" dirty="0">
              <a:solidFill>
                <a:schemeClr val="bg1">
                  <a:lumMod val="65000"/>
                </a:schemeClr>
              </a:solidFill>
            </a:endParaRPr>
          </a:p>
        </p:txBody>
      </p:sp>
    </p:spTree>
    <p:extLst>
      <p:ext uri="{BB962C8B-B14F-4D97-AF65-F5344CB8AC3E}">
        <p14:creationId xmlns:p14="http://schemas.microsoft.com/office/powerpoint/2010/main" val="3695551797"/>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20" r:id="rId10"/>
  </p:sldLayoutIdLst>
  <p:txStyles>
    <p:titleStyle>
      <a:lvl1pPr algn="l" defTabSz="914400" rtl="0" eaLnBrk="1" latinLnBrk="0" hangingPunct="1">
        <a:lnSpc>
          <a:spcPct val="90000"/>
        </a:lnSpc>
        <a:spcBef>
          <a:spcPct val="0"/>
        </a:spcBef>
        <a:buNone/>
        <a:defRPr sz="4400" kern="1200">
          <a:solidFill>
            <a:schemeClr val="tx1">
              <a:lumMod val="75000"/>
              <a:lumOff val="25000"/>
            </a:schemeClr>
          </a:solidFill>
          <a:latin typeface="+mn-lt"/>
          <a:ea typeface="+mj-ea"/>
          <a:cs typeface="MV Boli" panose="0200050003020009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
          <p15:clr>
            <a:srgbClr val="F26B43"/>
          </p15:clr>
        </p15:guide>
        <p15:guide id="2" pos="384">
          <p15:clr>
            <a:srgbClr val="F26B43"/>
          </p15:clr>
        </p15:guide>
        <p15:guide id="3" pos="600">
          <p15:clr>
            <a:srgbClr val="F26B43"/>
          </p15:clr>
        </p15:guide>
        <p15:guide id="4" pos="7296">
          <p15:clr>
            <a:srgbClr val="F26B43"/>
          </p15:clr>
        </p15:guide>
        <p15:guide id="5" orient="horz" pos="3912">
          <p15:clr>
            <a:srgbClr val="F26B43"/>
          </p15:clr>
        </p15:guide>
        <p15:guide id="6" orient="horz" pos="100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8A0EC6-5648-844A-8827-911B00959032}" type="datetimeFigureOut">
              <a:rPr lang="en-US" smtClean="0"/>
              <a:t>3/19/2026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3574523694"/>
      </p:ext>
    </p:extLst>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7.xml"/><Relationship Id="rId5" Type="http://schemas.openxmlformats.org/officeDocument/2006/relationships/image" Target="../media/image5.sv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12.svg"/><Relationship Id="rId13" Type="http://schemas.openxmlformats.org/officeDocument/2006/relationships/image" Target="../media/image17.png"/><Relationship Id="rId3" Type="http://schemas.openxmlformats.org/officeDocument/2006/relationships/image" Target="../media/image7.svg"/><Relationship Id="rId7" Type="http://schemas.openxmlformats.org/officeDocument/2006/relationships/image" Target="../media/image11.png"/><Relationship Id="rId12" Type="http://schemas.openxmlformats.org/officeDocument/2006/relationships/image" Target="../media/image16.svg"/><Relationship Id="rId2" Type="http://schemas.openxmlformats.org/officeDocument/2006/relationships/image" Target="../media/image6.png"/><Relationship Id="rId1" Type="http://schemas.openxmlformats.org/officeDocument/2006/relationships/slideLayout" Target="../slideLayouts/slideLayout17.xml"/><Relationship Id="rId6" Type="http://schemas.openxmlformats.org/officeDocument/2006/relationships/image" Target="../media/image10.svg"/><Relationship Id="rId11" Type="http://schemas.openxmlformats.org/officeDocument/2006/relationships/image" Target="../media/image15.png"/><Relationship Id="rId5" Type="http://schemas.openxmlformats.org/officeDocument/2006/relationships/image" Target="../media/image9.png"/><Relationship Id="rId15" Type="http://schemas.openxmlformats.org/officeDocument/2006/relationships/image" Target="../media/image3.png"/><Relationship Id="rId10" Type="http://schemas.openxmlformats.org/officeDocument/2006/relationships/image" Target="../media/image14.svg"/><Relationship Id="rId4" Type="http://schemas.openxmlformats.org/officeDocument/2006/relationships/image" Target="../media/image8.jpg"/><Relationship Id="rId9" Type="http://schemas.openxmlformats.org/officeDocument/2006/relationships/image" Target="../media/image13.png"/><Relationship Id="rId14" Type="http://schemas.openxmlformats.org/officeDocument/2006/relationships/image" Target="../media/image18.svg"/></Relationships>
</file>

<file path=ppt/slides/_rels/slide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png"/><Relationship Id="rId1" Type="http://schemas.openxmlformats.org/officeDocument/2006/relationships/slideLayout" Target="../slideLayouts/slideLayout17.xml"/><Relationship Id="rId4" Type="http://schemas.openxmlformats.org/officeDocument/2006/relationships/image" Target="../media/image20.svg"/></Relationships>
</file>

<file path=ppt/slides/_rels/slide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22.svg"/><Relationship Id="rId7" Type="http://schemas.openxmlformats.org/officeDocument/2006/relationships/image" Target="../media/image26.svg"/><Relationship Id="rId2" Type="http://schemas.openxmlformats.org/officeDocument/2006/relationships/image" Target="../media/image21.png"/><Relationship Id="rId1" Type="http://schemas.openxmlformats.org/officeDocument/2006/relationships/slideLayout" Target="../slideLayouts/slideLayout17.xml"/><Relationship Id="rId6" Type="http://schemas.openxmlformats.org/officeDocument/2006/relationships/image" Target="../media/image25.png"/><Relationship Id="rId5" Type="http://schemas.openxmlformats.org/officeDocument/2006/relationships/image" Target="../media/image24.svg"/><Relationship Id="rId4" Type="http://schemas.openxmlformats.org/officeDocument/2006/relationships/image" Target="../media/image23.png"/></Relationships>
</file>

<file path=ppt/slides/_rels/slide6.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17.xml"/><Relationship Id="rId6" Type="http://schemas.openxmlformats.org/officeDocument/2006/relationships/image" Target="../media/image3.png"/><Relationship Id="rId5" Type="http://schemas.openxmlformats.org/officeDocument/2006/relationships/image" Target="../media/image30.svg"/><Relationship Id="rId4" Type="http://schemas.openxmlformats.org/officeDocument/2006/relationships/image" Target="../media/image29.png"/></Relationships>
</file>

<file path=ppt/slides/_rels/slide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png"/><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png"/><Relationship Id="rId1" Type="http://schemas.openxmlformats.org/officeDocument/2006/relationships/slideLayout" Target="../slideLayouts/slideLayout17.xml"/><Relationship Id="rId5" Type="http://schemas.openxmlformats.org/officeDocument/2006/relationships/image" Target="../media/image3.png"/><Relationship Id="rId4" Type="http://schemas.openxmlformats.org/officeDocument/2006/relationships/image" Target="../media/image34.png"/></Relationships>
</file>

<file path=ppt/slides/_rels/slide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7.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7.png"/><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8.png"/><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9.png"/><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png"/><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image" Target="../media/image41.png"/><Relationship Id="rId1" Type="http://schemas.openxmlformats.org/officeDocument/2006/relationships/slideLayout" Target="../slideLayouts/slideLayout17.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png"/><Relationship Id="rId1" Type="http://schemas.openxmlformats.org/officeDocument/2006/relationships/slideLayout" Target="../slideLayouts/slideLayout17.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png"/><Relationship Id="rId1" Type="http://schemas.openxmlformats.org/officeDocument/2006/relationships/slideLayout" Target="../slideLayouts/slideLayout17.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7.png"/><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3" Type="http://schemas.openxmlformats.org/officeDocument/2006/relationships/image" Target="../media/image49.svg"/><Relationship Id="rId2" Type="http://schemas.openxmlformats.org/officeDocument/2006/relationships/image" Target="../media/image48.png"/><Relationship Id="rId1" Type="http://schemas.openxmlformats.org/officeDocument/2006/relationships/slideLayout" Target="../slideLayouts/slideLayout17.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85AB3DA-940A-D577-FA37-54817ADD156C}"/>
              </a:ext>
            </a:extLst>
          </p:cNvPr>
          <p:cNvSpPr txBox="1"/>
          <p:nvPr/>
        </p:nvSpPr>
        <p:spPr>
          <a:xfrm>
            <a:off x="3514045" y="1531573"/>
            <a:ext cx="4255633"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4400">
              <a:solidFill>
                <a:srgbClr val="ED7D31"/>
              </a:solidFill>
              <a:latin typeface="Calibri"/>
              <a:ea typeface="Calibri"/>
              <a:cs typeface="Calibri"/>
            </a:endParaRPr>
          </a:p>
        </p:txBody>
      </p:sp>
      <p:pic>
        <p:nvPicPr>
          <p:cNvPr id="4" name="Picture 3">
            <a:extLst>
              <a:ext uri="{FF2B5EF4-FFF2-40B4-BE49-F238E27FC236}">
                <a16:creationId xmlns:a16="http://schemas.microsoft.com/office/drawing/2014/main" id="{BFF68DA0-6578-3121-3E07-BEE299C40907}"/>
              </a:ext>
            </a:extLst>
          </p:cNvPr>
          <p:cNvPicPr>
            <a:picLocks noChangeAspect="1"/>
          </p:cNvPicPr>
          <p:nvPr/>
        </p:nvPicPr>
        <p:blipFill>
          <a:blip r:embed="rId2"/>
          <a:stretch>
            <a:fillRect/>
          </a:stretch>
        </p:blipFill>
        <p:spPr>
          <a:xfrm>
            <a:off x="0" y="-71120"/>
            <a:ext cx="12190476" cy="6929120"/>
          </a:xfrm>
          <a:prstGeom prst="rect">
            <a:avLst/>
          </a:prstGeom>
        </p:spPr>
      </p:pic>
    </p:spTree>
    <p:extLst>
      <p:ext uri="{BB962C8B-B14F-4D97-AF65-F5344CB8AC3E}">
        <p14:creationId xmlns:p14="http://schemas.microsoft.com/office/powerpoint/2010/main" val="5033243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E3969B6D-17FB-43C7-1B43-438D945CE062}"/>
              </a:ext>
            </a:extLst>
          </p:cNvPr>
          <p:cNvSpPr txBox="1"/>
          <p:nvPr/>
        </p:nvSpPr>
        <p:spPr>
          <a:xfrm>
            <a:off x="0" y="925175"/>
            <a:ext cx="6471920" cy="3139321"/>
          </a:xfrm>
          <a:prstGeom prst="rect">
            <a:avLst/>
          </a:prstGeom>
          <a:noFill/>
        </p:spPr>
        <p:txBody>
          <a:bodyPr wrap="square">
            <a:spAutoFit/>
          </a:bodyPr>
          <a:lstStyle/>
          <a:p>
            <a:r>
              <a:rPr lang="en-US" sz="5400" dirty="0">
                <a:solidFill>
                  <a:srgbClr val="1C1A55"/>
                </a:solidFill>
                <a:latin typeface="Rockwell" panose="02060603020205020403" pitchFamily="18" charset="0"/>
              </a:rPr>
              <a:t>Employee Retention</a:t>
            </a:r>
            <a:endParaRPr lang="en-US" sz="5400" dirty="0"/>
          </a:p>
          <a:p>
            <a:r>
              <a:rPr lang="en-US" sz="5400" dirty="0">
                <a:solidFill>
                  <a:srgbClr val="1C1A55"/>
                </a:solidFill>
                <a:latin typeface="Rockwell" panose="02060603020205020403" pitchFamily="18" charset="0"/>
              </a:rPr>
              <a:t>Prediction Analysis</a:t>
            </a:r>
            <a:endParaRPr lang="en-IN" sz="5400" dirty="0">
              <a:solidFill>
                <a:srgbClr val="1C1A55"/>
              </a:solidFill>
              <a:latin typeface="Rockwell" panose="02060603020205020403" pitchFamily="18" charset="0"/>
            </a:endParaRPr>
          </a:p>
          <a:p>
            <a:endParaRPr lang="en-IN" sz="3600" dirty="0"/>
          </a:p>
        </p:txBody>
      </p:sp>
      <p:pic>
        <p:nvPicPr>
          <p:cNvPr id="11" name="Picture 10">
            <a:extLst>
              <a:ext uri="{FF2B5EF4-FFF2-40B4-BE49-F238E27FC236}">
                <a16:creationId xmlns:a16="http://schemas.microsoft.com/office/drawing/2014/main" id="{6AF83F5C-05DB-717E-1B7E-E3100F50460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616960" y="1036320"/>
            <a:ext cx="1876697" cy="1597297"/>
          </a:xfrm>
          <a:prstGeom prst="rect">
            <a:avLst/>
          </a:prstGeom>
        </p:spPr>
      </p:pic>
      <p:sp>
        <p:nvSpPr>
          <p:cNvPr id="13" name="Title 1">
            <a:extLst>
              <a:ext uri="{FF2B5EF4-FFF2-40B4-BE49-F238E27FC236}">
                <a16:creationId xmlns:a16="http://schemas.microsoft.com/office/drawing/2014/main" id="{3B96573A-F041-A424-3055-796BAAE9DE07}"/>
              </a:ext>
            </a:extLst>
          </p:cNvPr>
          <p:cNvSpPr txBox="1">
            <a:spLocks/>
          </p:cNvSpPr>
          <p:nvPr/>
        </p:nvSpPr>
        <p:spPr>
          <a:xfrm>
            <a:off x="7706361" y="5072892"/>
            <a:ext cx="4150360" cy="83108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2800" dirty="0"/>
              <a:t>   </a:t>
            </a:r>
            <a:r>
              <a:rPr lang="en-IN" sz="3600" b="1" dirty="0">
                <a:latin typeface="ADLaM Display" panose="02010000000000000000" pitchFamily="2" charset="0"/>
                <a:ea typeface="ADLaM Display" panose="02010000000000000000" pitchFamily="2" charset="0"/>
                <a:cs typeface="ADLaM Display" panose="02010000000000000000" pitchFamily="2" charset="0"/>
              </a:rPr>
              <a:t>Presented By: </a:t>
            </a:r>
            <a:r>
              <a:rPr lang="en-IN" sz="3600" b="1" dirty="0">
                <a:solidFill>
                  <a:srgbClr val="203864"/>
                </a:solidFill>
                <a:latin typeface="ADLaM Display" panose="02010000000000000000" pitchFamily="2" charset="0"/>
                <a:ea typeface="ADLaM Display" panose="02010000000000000000" pitchFamily="2" charset="0"/>
                <a:cs typeface="ADLaM Display" panose="02010000000000000000" pitchFamily="2" charset="0"/>
              </a:rPr>
              <a:t>Priyanshu Sahoo</a:t>
            </a:r>
          </a:p>
        </p:txBody>
      </p:sp>
      <p:sp>
        <p:nvSpPr>
          <p:cNvPr id="17" name="TextBox 16">
            <a:extLst>
              <a:ext uri="{FF2B5EF4-FFF2-40B4-BE49-F238E27FC236}">
                <a16:creationId xmlns:a16="http://schemas.microsoft.com/office/drawing/2014/main" id="{77AA7CA5-797C-22C7-4D75-625882C637E8}"/>
              </a:ext>
            </a:extLst>
          </p:cNvPr>
          <p:cNvSpPr txBox="1"/>
          <p:nvPr/>
        </p:nvSpPr>
        <p:spPr>
          <a:xfrm>
            <a:off x="162560" y="4472773"/>
            <a:ext cx="6065520" cy="2031325"/>
          </a:xfrm>
          <a:prstGeom prst="rect">
            <a:avLst/>
          </a:prstGeom>
          <a:noFill/>
        </p:spPr>
        <p:txBody>
          <a:bodyPr wrap="square">
            <a:spAutoFit/>
          </a:bodyPr>
          <a:lstStyle/>
          <a:p>
            <a:r>
              <a:rPr lang="en-US" dirty="0">
                <a:latin typeface="ADLaM Display" panose="02010000000000000000" pitchFamily="2" charset="0"/>
                <a:ea typeface="ADLaM Display" panose="02010000000000000000" pitchFamily="2" charset="0"/>
                <a:cs typeface="ADLaM Display" panose="02010000000000000000" pitchFamily="2" charset="0"/>
              </a:rPr>
              <a:t>“In the era of data-driven workforce management, this project focuses on developing machine learning models to predict employee job change behavior. By analyzing various employee-related factors, the model helps organizations identify potential attrition risks and implement effective strategies to improve employee retention and workforce stability.”</a:t>
            </a:r>
            <a:endParaRPr lang="en-IN" dirty="0">
              <a:latin typeface="ADLaM Display" panose="02010000000000000000" pitchFamily="2" charset="0"/>
              <a:ea typeface="ADLaM Display" panose="02010000000000000000" pitchFamily="2" charset="0"/>
              <a:cs typeface="ADLaM Display" panose="02010000000000000000" pitchFamily="2" charset="0"/>
            </a:endParaRPr>
          </a:p>
        </p:txBody>
      </p:sp>
      <p:pic>
        <p:nvPicPr>
          <p:cNvPr id="2" name="Picture 1">
            <a:extLst>
              <a:ext uri="{FF2B5EF4-FFF2-40B4-BE49-F238E27FC236}">
                <a16:creationId xmlns:a16="http://schemas.microsoft.com/office/drawing/2014/main" id="{16A43D59-CF15-F5A3-B379-7C3E5CCF536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10070745" y="6348022"/>
            <a:ext cx="1785976" cy="462949"/>
          </a:xfrm>
          <a:prstGeom prst="rect">
            <a:avLst/>
          </a:prstGeom>
        </p:spPr>
      </p:pic>
      <p:sp>
        <p:nvSpPr>
          <p:cNvPr id="6" name="Freeform 3">
            <a:extLst>
              <a:ext uri="{FF2B5EF4-FFF2-40B4-BE49-F238E27FC236}">
                <a16:creationId xmlns:a16="http://schemas.microsoft.com/office/drawing/2014/main" id="{A89199E8-E156-21CE-58DA-CCBAA401F66A}"/>
              </a:ext>
            </a:extLst>
          </p:cNvPr>
          <p:cNvSpPr/>
          <p:nvPr/>
        </p:nvSpPr>
        <p:spPr>
          <a:xfrm>
            <a:off x="7325361" y="278503"/>
            <a:ext cx="4531360" cy="4626401"/>
          </a:xfrm>
          <a:custGeom>
            <a:avLst/>
            <a:gdLst/>
            <a:ahLst/>
            <a:cxnLst/>
            <a:rect l="l" t="t" r="r" b="b"/>
            <a:pathLst>
              <a:path w="7198334" h="6847415">
                <a:moveTo>
                  <a:pt x="0" y="0"/>
                </a:moveTo>
                <a:lnTo>
                  <a:pt x="7198333" y="0"/>
                </a:lnTo>
                <a:lnTo>
                  <a:pt x="7198333" y="6847415"/>
                </a:lnTo>
                <a:lnTo>
                  <a:pt x="0" y="684741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Tree>
    <p:extLst>
      <p:ext uri="{BB962C8B-B14F-4D97-AF65-F5344CB8AC3E}">
        <p14:creationId xmlns:p14="http://schemas.microsoft.com/office/powerpoint/2010/main" val="21460526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reeform 2">
            <a:extLst>
              <a:ext uri="{FF2B5EF4-FFF2-40B4-BE49-F238E27FC236}">
                <a16:creationId xmlns:a16="http://schemas.microsoft.com/office/drawing/2014/main" id="{B25B458A-F281-0221-FD35-C264DF4941C9}"/>
              </a:ext>
            </a:extLst>
          </p:cNvPr>
          <p:cNvSpPr/>
          <p:nvPr/>
        </p:nvSpPr>
        <p:spPr>
          <a:xfrm rot="5400000" flipH="1" flipV="1">
            <a:off x="8279190" y="2550929"/>
            <a:ext cx="4326214" cy="3336782"/>
          </a:xfrm>
          <a:custGeom>
            <a:avLst/>
            <a:gdLst/>
            <a:ahLst/>
            <a:cxnLst/>
            <a:rect l="l" t="t" r="r" b="b"/>
            <a:pathLst>
              <a:path w="9048932" h="4919328">
                <a:moveTo>
                  <a:pt x="9048932" y="4919328"/>
                </a:moveTo>
                <a:lnTo>
                  <a:pt x="0" y="4919328"/>
                </a:lnTo>
                <a:lnTo>
                  <a:pt x="0" y="0"/>
                </a:lnTo>
                <a:lnTo>
                  <a:pt x="9048932" y="0"/>
                </a:lnTo>
                <a:lnTo>
                  <a:pt x="9048932" y="4919328"/>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7" name="Group 3">
            <a:extLst>
              <a:ext uri="{FF2B5EF4-FFF2-40B4-BE49-F238E27FC236}">
                <a16:creationId xmlns:a16="http://schemas.microsoft.com/office/drawing/2014/main" id="{4A35671C-CD72-D175-05D6-565DF976C64F}"/>
              </a:ext>
            </a:extLst>
          </p:cNvPr>
          <p:cNvGrpSpPr/>
          <p:nvPr/>
        </p:nvGrpSpPr>
        <p:grpSpPr>
          <a:xfrm>
            <a:off x="55177" y="2366506"/>
            <a:ext cx="753381" cy="793267"/>
            <a:chOff x="0" y="0"/>
            <a:chExt cx="812800" cy="945684"/>
          </a:xfrm>
        </p:grpSpPr>
        <p:sp>
          <p:nvSpPr>
            <p:cNvPr id="8" name="Freeform 4">
              <a:extLst>
                <a:ext uri="{FF2B5EF4-FFF2-40B4-BE49-F238E27FC236}">
                  <a16:creationId xmlns:a16="http://schemas.microsoft.com/office/drawing/2014/main" id="{3E547732-E8A3-1A71-1E2B-037ABDAC7A82}"/>
                </a:ext>
              </a:extLst>
            </p:cNvPr>
            <p:cNvSpPr/>
            <p:nvPr/>
          </p:nvSpPr>
          <p:spPr>
            <a:xfrm>
              <a:off x="0" y="0"/>
              <a:ext cx="812800" cy="945684"/>
            </a:xfrm>
            <a:custGeom>
              <a:avLst/>
              <a:gdLst/>
              <a:ahLst/>
              <a:cxnLst/>
              <a:rect l="l" t="t" r="r" b="b"/>
              <a:pathLst>
                <a:path w="812800" h="945684">
                  <a:moveTo>
                    <a:pt x="812800" y="0"/>
                  </a:moveTo>
                  <a:lnTo>
                    <a:pt x="0" y="0"/>
                  </a:lnTo>
                  <a:lnTo>
                    <a:pt x="0" y="757724"/>
                  </a:lnTo>
                  <a:lnTo>
                    <a:pt x="157480" y="757724"/>
                  </a:lnTo>
                  <a:lnTo>
                    <a:pt x="157480" y="945684"/>
                  </a:lnTo>
                  <a:lnTo>
                    <a:pt x="463550" y="757724"/>
                  </a:lnTo>
                  <a:lnTo>
                    <a:pt x="812800" y="757724"/>
                  </a:lnTo>
                  <a:lnTo>
                    <a:pt x="812800" y="0"/>
                  </a:lnTo>
                  <a:close/>
                </a:path>
              </a:pathLst>
            </a:custGeom>
            <a:solidFill>
              <a:srgbClr val="292F56"/>
            </a:solidFill>
          </p:spPr>
          <p:txBody>
            <a:bodyPr/>
            <a:lstStyle/>
            <a:p>
              <a:endParaRPr lang="en-US"/>
            </a:p>
          </p:txBody>
        </p:sp>
        <p:sp>
          <p:nvSpPr>
            <p:cNvPr id="12" name="TextBox 5">
              <a:extLst>
                <a:ext uri="{FF2B5EF4-FFF2-40B4-BE49-F238E27FC236}">
                  <a16:creationId xmlns:a16="http://schemas.microsoft.com/office/drawing/2014/main" id="{52C82032-95C3-CCCD-839E-73E8FAB9D320}"/>
                </a:ext>
              </a:extLst>
            </p:cNvPr>
            <p:cNvSpPr txBox="1"/>
            <p:nvPr/>
          </p:nvSpPr>
          <p:spPr>
            <a:xfrm>
              <a:off x="0" y="-47625"/>
              <a:ext cx="812800" cy="802809"/>
            </a:xfrm>
            <a:prstGeom prst="rect">
              <a:avLst/>
            </a:prstGeom>
          </p:spPr>
          <p:txBody>
            <a:bodyPr lIns="50800" tIns="50800" rIns="50800" bIns="50800" rtlCol="0" anchor="ctr"/>
            <a:lstStyle/>
            <a:p>
              <a:pPr marL="0" lvl="0" indent="0" algn="ctr">
                <a:lnSpc>
                  <a:spcPts val="2800"/>
                </a:lnSpc>
                <a:spcBef>
                  <a:spcPct val="0"/>
                </a:spcBef>
              </a:pPr>
              <a:r>
                <a:rPr lang="en-US" sz="2000" b="1" u="none" strike="noStrike" dirty="0">
                  <a:solidFill>
                    <a:schemeClr val="bg1"/>
                  </a:solidFill>
                  <a:latin typeface="TT Hoves Bold"/>
                  <a:ea typeface="TT Hoves Bold"/>
                  <a:cs typeface="TT Hoves Bold"/>
                  <a:sym typeface="TT Hoves Bold"/>
                </a:rPr>
                <a:t>01</a:t>
              </a:r>
            </a:p>
          </p:txBody>
        </p:sp>
      </p:grpSp>
      <p:grpSp>
        <p:nvGrpSpPr>
          <p:cNvPr id="22" name="Group 6">
            <a:extLst>
              <a:ext uri="{FF2B5EF4-FFF2-40B4-BE49-F238E27FC236}">
                <a16:creationId xmlns:a16="http://schemas.microsoft.com/office/drawing/2014/main" id="{1B090EE7-777C-E9D2-145E-C39306FBA146}"/>
              </a:ext>
            </a:extLst>
          </p:cNvPr>
          <p:cNvGrpSpPr/>
          <p:nvPr/>
        </p:nvGrpSpPr>
        <p:grpSpPr>
          <a:xfrm>
            <a:off x="24933" y="3342535"/>
            <a:ext cx="773701" cy="793266"/>
            <a:chOff x="0" y="0"/>
            <a:chExt cx="812800" cy="945684"/>
          </a:xfrm>
        </p:grpSpPr>
        <p:sp>
          <p:nvSpPr>
            <p:cNvPr id="23" name="Freeform 7">
              <a:extLst>
                <a:ext uri="{FF2B5EF4-FFF2-40B4-BE49-F238E27FC236}">
                  <a16:creationId xmlns:a16="http://schemas.microsoft.com/office/drawing/2014/main" id="{78243E98-2E2A-8C41-6856-0DF00899CBB6}"/>
                </a:ext>
              </a:extLst>
            </p:cNvPr>
            <p:cNvSpPr/>
            <p:nvPr/>
          </p:nvSpPr>
          <p:spPr>
            <a:xfrm>
              <a:off x="0" y="0"/>
              <a:ext cx="812800" cy="945684"/>
            </a:xfrm>
            <a:custGeom>
              <a:avLst/>
              <a:gdLst/>
              <a:ahLst/>
              <a:cxnLst/>
              <a:rect l="l" t="t" r="r" b="b"/>
              <a:pathLst>
                <a:path w="812800" h="945684">
                  <a:moveTo>
                    <a:pt x="812800" y="0"/>
                  </a:moveTo>
                  <a:lnTo>
                    <a:pt x="0" y="0"/>
                  </a:lnTo>
                  <a:lnTo>
                    <a:pt x="0" y="757724"/>
                  </a:lnTo>
                  <a:lnTo>
                    <a:pt x="157480" y="757724"/>
                  </a:lnTo>
                  <a:lnTo>
                    <a:pt x="157480" y="945684"/>
                  </a:lnTo>
                  <a:lnTo>
                    <a:pt x="463550" y="757724"/>
                  </a:lnTo>
                  <a:lnTo>
                    <a:pt x="812800" y="757724"/>
                  </a:lnTo>
                  <a:lnTo>
                    <a:pt x="812800" y="0"/>
                  </a:lnTo>
                  <a:close/>
                </a:path>
              </a:pathLst>
            </a:custGeom>
            <a:solidFill>
              <a:srgbClr val="016A95"/>
            </a:solidFill>
          </p:spPr>
          <p:txBody>
            <a:bodyPr/>
            <a:lstStyle/>
            <a:p>
              <a:endParaRPr lang="en-US"/>
            </a:p>
          </p:txBody>
        </p:sp>
        <p:sp>
          <p:nvSpPr>
            <p:cNvPr id="24" name="TextBox 8">
              <a:extLst>
                <a:ext uri="{FF2B5EF4-FFF2-40B4-BE49-F238E27FC236}">
                  <a16:creationId xmlns:a16="http://schemas.microsoft.com/office/drawing/2014/main" id="{908AE0F6-D5C9-D4AB-CCF6-B1D5C451AD9A}"/>
                </a:ext>
              </a:extLst>
            </p:cNvPr>
            <p:cNvSpPr txBox="1"/>
            <p:nvPr/>
          </p:nvSpPr>
          <p:spPr>
            <a:xfrm>
              <a:off x="0" y="-47625"/>
              <a:ext cx="812800" cy="802809"/>
            </a:xfrm>
            <a:prstGeom prst="rect">
              <a:avLst/>
            </a:prstGeom>
          </p:spPr>
          <p:txBody>
            <a:bodyPr lIns="50800" tIns="50800" rIns="50800" bIns="50800" rtlCol="0" anchor="ctr"/>
            <a:lstStyle/>
            <a:p>
              <a:pPr marL="0" lvl="0" indent="0" algn="ctr">
                <a:lnSpc>
                  <a:spcPts val="2800"/>
                </a:lnSpc>
                <a:spcBef>
                  <a:spcPct val="0"/>
                </a:spcBef>
              </a:pPr>
              <a:r>
                <a:rPr lang="en-US" sz="2000" b="1" dirty="0">
                  <a:solidFill>
                    <a:schemeClr val="bg1"/>
                  </a:solidFill>
                  <a:latin typeface="TT Hoves Bold"/>
                  <a:ea typeface="TT Hoves Bold"/>
                  <a:cs typeface="TT Hoves Bold"/>
                  <a:sym typeface="TT Hoves Bold"/>
                </a:rPr>
                <a:t>02</a:t>
              </a:r>
            </a:p>
          </p:txBody>
        </p:sp>
      </p:grpSp>
      <p:grpSp>
        <p:nvGrpSpPr>
          <p:cNvPr id="40" name="Group 12">
            <a:extLst>
              <a:ext uri="{FF2B5EF4-FFF2-40B4-BE49-F238E27FC236}">
                <a16:creationId xmlns:a16="http://schemas.microsoft.com/office/drawing/2014/main" id="{9EE54FE5-CA28-E262-8AAD-5C98AC4901C8}"/>
              </a:ext>
            </a:extLst>
          </p:cNvPr>
          <p:cNvGrpSpPr/>
          <p:nvPr/>
        </p:nvGrpSpPr>
        <p:grpSpPr>
          <a:xfrm>
            <a:off x="0" y="4252547"/>
            <a:ext cx="773701" cy="833215"/>
            <a:chOff x="0" y="-47625"/>
            <a:chExt cx="812800" cy="993309"/>
          </a:xfrm>
        </p:grpSpPr>
        <p:sp>
          <p:nvSpPr>
            <p:cNvPr id="41" name="Freeform 13">
              <a:extLst>
                <a:ext uri="{FF2B5EF4-FFF2-40B4-BE49-F238E27FC236}">
                  <a16:creationId xmlns:a16="http://schemas.microsoft.com/office/drawing/2014/main" id="{BB2A0194-2239-EE23-E8F9-E7BA923B963C}"/>
                </a:ext>
              </a:extLst>
            </p:cNvPr>
            <p:cNvSpPr/>
            <p:nvPr/>
          </p:nvSpPr>
          <p:spPr>
            <a:xfrm>
              <a:off x="0" y="0"/>
              <a:ext cx="812800" cy="945684"/>
            </a:xfrm>
            <a:custGeom>
              <a:avLst/>
              <a:gdLst/>
              <a:ahLst/>
              <a:cxnLst/>
              <a:rect l="l" t="t" r="r" b="b"/>
              <a:pathLst>
                <a:path w="812800" h="945684">
                  <a:moveTo>
                    <a:pt x="812800" y="0"/>
                  </a:moveTo>
                  <a:lnTo>
                    <a:pt x="0" y="0"/>
                  </a:lnTo>
                  <a:lnTo>
                    <a:pt x="0" y="757724"/>
                  </a:lnTo>
                  <a:lnTo>
                    <a:pt x="157480" y="757724"/>
                  </a:lnTo>
                  <a:lnTo>
                    <a:pt x="157480" y="945684"/>
                  </a:lnTo>
                  <a:lnTo>
                    <a:pt x="463550" y="757724"/>
                  </a:lnTo>
                  <a:lnTo>
                    <a:pt x="812800" y="757724"/>
                  </a:lnTo>
                  <a:lnTo>
                    <a:pt x="812800" y="0"/>
                  </a:lnTo>
                  <a:close/>
                </a:path>
              </a:pathLst>
            </a:custGeom>
            <a:solidFill>
              <a:srgbClr val="00889F"/>
            </a:solidFill>
          </p:spPr>
          <p:txBody>
            <a:bodyPr/>
            <a:lstStyle/>
            <a:p>
              <a:endParaRPr lang="en-US"/>
            </a:p>
          </p:txBody>
        </p:sp>
        <p:sp>
          <p:nvSpPr>
            <p:cNvPr id="42" name="TextBox 14">
              <a:extLst>
                <a:ext uri="{FF2B5EF4-FFF2-40B4-BE49-F238E27FC236}">
                  <a16:creationId xmlns:a16="http://schemas.microsoft.com/office/drawing/2014/main" id="{E37619B9-3445-6E2F-2DA5-17310E34A9FD}"/>
                </a:ext>
              </a:extLst>
            </p:cNvPr>
            <p:cNvSpPr txBox="1"/>
            <p:nvPr/>
          </p:nvSpPr>
          <p:spPr>
            <a:xfrm>
              <a:off x="0" y="-47625"/>
              <a:ext cx="812800" cy="802808"/>
            </a:xfrm>
            <a:prstGeom prst="rect">
              <a:avLst/>
            </a:prstGeom>
          </p:spPr>
          <p:txBody>
            <a:bodyPr lIns="50800" tIns="50800" rIns="50800" bIns="50800" rtlCol="0" anchor="ctr"/>
            <a:lstStyle/>
            <a:p>
              <a:pPr marL="0" lvl="0" indent="0" algn="ctr">
                <a:lnSpc>
                  <a:spcPts val="2800"/>
                </a:lnSpc>
                <a:spcBef>
                  <a:spcPct val="0"/>
                </a:spcBef>
              </a:pPr>
              <a:r>
                <a:rPr lang="en-US" sz="2000" b="1" dirty="0">
                  <a:solidFill>
                    <a:schemeClr val="bg1"/>
                  </a:solidFill>
                  <a:latin typeface="TT Hoves Bold"/>
                  <a:ea typeface="TT Hoves Bold"/>
                  <a:cs typeface="TT Hoves Bold"/>
                  <a:sym typeface="TT Hoves Bold"/>
                </a:rPr>
                <a:t>03</a:t>
              </a:r>
            </a:p>
          </p:txBody>
        </p:sp>
      </p:grpSp>
      <p:grpSp>
        <p:nvGrpSpPr>
          <p:cNvPr id="45" name="Group 9">
            <a:extLst>
              <a:ext uri="{FF2B5EF4-FFF2-40B4-BE49-F238E27FC236}">
                <a16:creationId xmlns:a16="http://schemas.microsoft.com/office/drawing/2014/main" id="{CB329C08-D6DE-FBF4-1B9A-82514FB57512}"/>
              </a:ext>
            </a:extLst>
          </p:cNvPr>
          <p:cNvGrpSpPr/>
          <p:nvPr/>
        </p:nvGrpSpPr>
        <p:grpSpPr>
          <a:xfrm>
            <a:off x="-30184" y="5404516"/>
            <a:ext cx="789717" cy="793267"/>
            <a:chOff x="0" y="0"/>
            <a:chExt cx="812800" cy="945684"/>
          </a:xfrm>
        </p:grpSpPr>
        <p:sp>
          <p:nvSpPr>
            <p:cNvPr id="46" name="Freeform 10">
              <a:extLst>
                <a:ext uri="{FF2B5EF4-FFF2-40B4-BE49-F238E27FC236}">
                  <a16:creationId xmlns:a16="http://schemas.microsoft.com/office/drawing/2014/main" id="{C5481492-9B6F-9B72-6FBD-D7340BCAC669}"/>
                </a:ext>
              </a:extLst>
            </p:cNvPr>
            <p:cNvSpPr/>
            <p:nvPr/>
          </p:nvSpPr>
          <p:spPr>
            <a:xfrm>
              <a:off x="0" y="0"/>
              <a:ext cx="812800" cy="945684"/>
            </a:xfrm>
            <a:custGeom>
              <a:avLst/>
              <a:gdLst/>
              <a:ahLst/>
              <a:cxnLst/>
              <a:rect l="l" t="t" r="r" b="b"/>
              <a:pathLst>
                <a:path w="812800" h="945684">
                  <a:moveTo>
                    <a:pt x="812800" y="0"/>
                  </a:moveTo>
                  <a:lnTo>
                    <a:pt x="0" y="0"/>
                  </a:lnTo>
                  <a:lnTo>
                    <a:pt x="0" y="757724"/>
                  </a:lnTo>
                  <a:lnTo>
                    <a:pt x="157480" y="757724"/>
                  </a:lnTo>
                  <a:lnTo>
                    <a:pt x="157480" y="945684"/>
                  </a:lnTo>
                  <a:lnTo>
                    <a:pt x="463550" y="757724"/>
                  </a:lnTo>
                  <a:lnTo>
                    <a:pt x="812800" y="757724"/>
                  </a:lnTo>
                  <a:lnTo>
                    <a:pt x="812800" y="0"/>
                  </a:lnTo>
                  <a:close/>
                </a:path>
              </a:pathLst>
            </a:custGeom>
            <a:solidFill>
              <a:srgbClr val="02C79D"/>
            </a:solidFill>
          </p:spPr>
          <p:txBody>
            <a:bodyPr/>
            <a:lstStyle/>
            <a:p>
              <a:endParaRPr lang="en-US"/>
            </a:p>
          </p:txBody>
        </p:sp>
        <p:sp>
          <p:nvSpPr>
            <p:cNvPr id="47" name="TextBox 11">
              <a:extLst>
                <a:ext uri="{FF2B5EF4-FFF2-40B4-BE49-F238E27FC236}">
                  <a16:creationId xmlns:a16="http://schemas.microsoft.com/office/drawing/2014/main" id="{713DE45B-DCB1-8BD8-F70A-CAC1DB06EDD1}"/>
                </a:ext>
              </a:extLst>
            </p:cNvPr>
            <p:cNvSpPr txBox="1"/>
            <p:nvPr/>
          </p:nvSpPr>
          <p:spPr>
            <a:xfrm>
              <a:off x="0" y="-47625"/>
              <a:ext cx="812800" cy="802809"/>
            </a:xfrm>
            <a:prstGeom prst="rect">
              <a:avLst/>
            </a:prstGeom>
          </p:spPr>
          <p:txBody>
            <a:bodyPr lIns="50800" tIns="50800" rIns="50800" bIns="50800" rtlCol="0" anchor="ctr"/>
            <a:lstStyle/>
            <a:p>
              <a:pPr marL="0" lvl="0" indent="0" algn="ctr">
                <a:lnSpc>
                  <a:spcPts val="2800"/>
                </a:lnSpc>
                <a:spcBef>
                  <a:spcPct val="0"/>
                </a:spcBef>
              </a:pPr>
              <a:r>
                <a:rPr lang="en-US" sz="2000" b="1" dirty="0">
                  <a:solidFill>
                    <a:schemeClr val="bg1"/>
                  </a:solidFill>
                  <a:latin typeface="TT Hoves Bold"/>
                  <a:ea typeface="TT Hoves Bold"/>
                  <a:cs typeface="TT Hoves Bold"/>
                  <a:sym typeface="TT Hoves Bold"/>
                </a:rPr>
                <a:t>04</a:t>
              </a:r>
            </a:p>
          </p:txBody>
        </p:sp>
      </p:grpSp>
      <p:grpSp>
        <p:nvGrpSpPr>
          <p:cNvPr id="57" name="Group 15">
            <a:extLst>
              <a:ext uri="{FF2B5EF4-FFF2-40B4-BE49-F238E27FC236}">
                <a16:creationId xmlns:a16="http://schemas.microsoft.com/office/drawing/2014/main" id="{9C63F0F1-07EA-2816-499B-83D6BA2CB9C5}"/>
              </a:ext>
            </a:extLst>
          </p:cNvPr>
          <p:cNvGrpSpPr/>
          <p:nvPr/>
        </p:nvGrpSpPr>
        <p:grpSpPr>
          <a:xfrm>
            <a:off x="4276747" y="2223021"/>
            <a:ext cx="785247" cy="894962"/>
            <a:chOff x="0" y="0"/>
            <a:chExt cx="812800" cy="945684"/>
          </a:xfrm>
          <a:solidFill>
            <a:schemeClr val="tx2">
              <a:lumMod val="60000"/>
              <a:lumOff val="40000"/>
            </a:schemeClr>
          </a:solidFill>
        </p:grpSpPr>
        <p:sp>
          <p:nvSpPr>
            <p:cNvPr id="58" name="Freeform 16">
              <a:extLst>
                <a:ext uri="{FF2B5EF4-FFF2-40B4-BE49-F238E27FC236}">
                  <a16:creationId xmlns:a16="http://schemas.microsoft.com/office/drawing/2014/main" id="{7FF2A345-AF6B-684F-E5DB-8AD7B2E90FED}"/>
                </a:ext>
              </a:extLst>
            </p:cNvPr>
            <p:cNvSpPr/>
            <p:nvPr/>
          </p:nvSpPr>
          <p:spPr>
            <a:xfrm>
              <a:off x="0" y="0"/>
              <a:ext cx="812800" cy="945684"/>
            </a:xfrm>
            <a:custGeom>
              <a:avLst/>
              <a:gdLst/>
              <a:ahLst/>
              <a:cxnLst/>
              <a:rect l="l" t="t" r="r" b="b"/>
              <a:pathLst>
                <a:path w="812800" h="945684">
                  <a:moveTo>
                    <a:pt x="812800" y="0"/>
                  </a:moveTo>
                  <a:lnTo>
                    <a:pt x="0" y="0"/>
                  </a:lnTo>
                  <a:lnTo>
                    <a:pt x="0" y="757724"/>
                  </a:lnTo>
                  <a:lnTo>
                    <a:pt x="157480" y="757724"/>
                  </a:lnTo>
                  <a:lnTo>
                    <a:pt x="157480" y="945684"/>
                  </a:lnTo>
                  <a:lnTo>
                    <a:pt x="463550" y="757724"/>
                  </a:lnTo>
                  <a:lnTo>
                    <a:pt x="812800" y="757724"/>
                  </a:lnTo>
                  <a:lnTo>
                    <a:pt x="812800" y="0"/>
                  </a:lnTo>
                  <a:close/>
                </a:path>
              </a:pathLst>
            </a:custGeom>
            <a:grpFill/>
          </p:spPr>
          <p:txBody>
            <a:bodyPr/>
            <a:lstStyle/>
            <a:p>
              <a:endParaRPr lang="en-US"/>
            </a:p>
          </p:txBody>
        </p:sp>
        <p:sp>
          <p:nvSpPr>
            <p:cNvPr id="59" name="TextBox 17">
              <a:extLst>
                <a:ext uri="{FF2B5EF4-FFF2-40B4-BE49-F238E27FC236}">
                  <a16:creationId xmlns:a16="http://schemas.microsoft.com/office/drawing/2014/main" id="{A292446E-20C8-07B2-0655-7F41DB9FC079}"/>
                </a:ext>
              </a:extLst>
            </p:cNvPr>
            <p:cNvSpPr txBox="1"/>
            <p:nvPr/>
          </p:nvSpPr>
          <p:spPr>
            <a:xfrm>
              <a:off x="0" y="-47625"/>
              <a:ext cx="812800" cy="802809"/>
            </a:xfrm>
            <a:prstGeom prst="rect">
              <a:avLst/>
            </a:prstGeom>
            <a:grpFill/>
          </p:spPr>
          <p:txBody>
            <a:bodyPr lIns="50800" tIns="50800" rIns="50800" bIns="50800" rtlCol="0" anchor="ctr"/>
            <a:lstStyle/>
            <a:p>
              <a:pPr marL="0" lvl="0" indent="0" algn="ctr">
                <a:lnSpc>
                  <a:spcPts val="2800"/>
                </a:lnSpc>
                <a:spcBef>
                  <a:spcPct val="0"/>
                </a:spcBef>
              </a:pPr>
              <a:r>
                <a:rPr lang="en-US" sz="2000" b="1" dirty="0">
                  <a:solidFill>
                    <a:schemeClr val="bg1"/>
                  </a:solidFill>
                  <a:latin typeface="TT Hoves Bold"/>
                  <a:ea typeface="TT Hoves Bold"/>
                  <a:cs typeface="TT Hoves Bold"/>
                  <a:sym typeface="TT Hoves Bold"/>
                </a:rPr>
                <a:t>05</a:t>
              </a:r>
            </a:p>
          </p:txBody>
        </p:sp>
      </p:grpSp>
      <p:grpSp>
        <p:nvGrpSpPr>
          <p:cNvPr id="60" name="Group 15">
            <a:extLst>
              <a:ext uri="{FF2B5EF4-FFF2-40B4-BE49-F238E27FC236}">
                <a16:creationId xmlns:a16="http://schemas.microsoft.com/office/drawing/2014/main" id="{F0B6C470-ECE7-43FB-02E1-E548EC71CF8D}"/>
              </a:ext>
            </a:extLst>
          </p:cNvPr>
          <p:cNvGrpSpPr/>
          <p:nvPr/>
        </p:nvGrpSpPr>
        <p:grpSpPr>
          <a:xfrm>
            <a:off x="4261387" y="3417560"/>
            <a:ext cx="773701" cy="847011"/>
            <a:chOff x="0" y="-47625"/>
            <a:chExt cx="812800" cy="993309"/>
          </a:xfrm>
          <a:solidFill>
            <a:srgbClr val="FF0000"/>
          </a:solidFill>
        </p:grpSpPr>
        <p:sp>
          <p:nvSpPr>
            <p:cNvPr id="61" name="Freeform 16">
              <a:extLst>
                <a:ext uri="{FF2B5EF4-FFF2-40B4-BE49-F238E27FC236}">
                  <a16:creationId xmlns:a16="http://schemas.microsoft.com/office/drawing/2014/main" id="{E4A77125-7592-AE7A-C6D8-73292AB2498A}"/>
                </a:ext>
              </a:extLst>
            </p:cNvPr>
            <p:cNvSpPr/>
            <p:nvPr/>
          </p:nvSpPr>
          <p:spPr>
            <a:xfrm>
              <a:off x="0" y="0"/>
              <a:ext cx="812800" cy="945684"/>
            </a:xfrm>
            <a:custGeom>
              <a:avLst/>
              <a:gdLst/>
              <a:ahLst/>
              <a:cxnLst/>
              <a:rect l="l" t="t" r="r" b="b"/>
              <a:pathLst>
                <a:path w="812800" h="945684">
                  <a:moveTo>
                    <a:pt x="812800" y="0"/>
                  </a:moveTo>
                  <a:lnTo>
                    <a:pt x="0" y="0"/>
                  </a:lnTo>
                  <a:lnTo>
                    <a:pt x="0" y="757724"/>
                  </a:lnTo>
                  <a:lnTo>
                    <a:pt x="157480" y="757724"/>
                  </a:lnTo>
                  <a:lnTo>
                    <a:pt x="157480" y="945684"/>
                  </a:lnTo>
                  <a:lnTo>
                    <a:pt x="463550" y="757724"/>
                  </a:lnTo>
                  <a:lnTo>
                    <a:pt x="812800" y="757724"/>
                  </a:lnTo>
                  <a:lnTo>
                    <a:pt x="812800" y="0"/>
                  </a:lnTo>
                  <a:close/>
                </a:path>
              </a:pathLst>
            </a:custGeom>
            <a:grpFill/>
          </p:spPr>
          <p:txBody>
            <a:bodyPr/>
            <a:lstStyle/>
            <a:p>
              <a:endParaRPr lang="en-US"/>
            </a:p>
          </p:txBody>
        </p:sp>
        <p:sp>
          <p:nvSpPr>
            <p:cNvPr id="62" name="TextBox 17">
              <a:extLst>
                <a:ext uri="{FF2B5EF4-FFF2-40B4-BE49-F238E27FC236}">
                  <a16:creationId xmlns:a16="http://schemas.microsoft.com/office/drawing/2014/main" id="{A0861C22-1CDF-4DAE-3D80-265A6C4B11C1}"/>
                </a:ext>
              </a:extLst>
            </p:cNvPr>
            <p:cNvSpPr txBox="1"/>
            <p:nvPr/>
          </p:nvSpPr>
          <p:spPr>
            <a:xfrm>
              <a:off x="0" y="-47625"/>
              <a:ext cx="812800" cy="802809"/>
            </a:xfrm>
            <a:prstGeom prst="rect">
              <a:avLst/>
            </a:prstGeom>
            <a:grpFill/>
          </p:spPr>
          <p:txBody>
            <a:bodyPr lIns="50800" tIns="50800" rIns="50800" bIns="50800" rtlCol="0" anchor="ctr"/>
            <a:lstStyle/>
            <a:p>
              <a:pPr marL="0" lvl="0" indent="0" algn="ctr">
                <a:lnSpc>
                  <a:spcPts val="2800"/>
                </a:lnSpc>
                <a:spcBef>
                  <a:spcPct val="0"/>
                </a:spcBef>
              </a:pPr>
              <a:r>
                <a:rPr lang="en-US" sz="2000" b="1" dirty="0">
                  <a:solidFill>
                    <a:schemeClr val="bg1"/>
                  </a:solidFill>
                  <a:latin typeface="TT Hoves Bold"/>
                  <a:ea typeface="TT Hoves Bold"/>
                  <a:cs typeface="TT Hoves Bold"/>
                  <a:sym typeface="TT Hoves Bold"/>
                </a:rPr>
                <a:t>06</a:t>
              </a:r>
            </a:p>
          </p:txBody>
        </p:sp>
      </p:grpSp>
      <p:grpSp>
        <p:nvGrpSpPr>
          <p:cNvPr id="63" name="Group 15">
            <a:extLst>
              <a:ext uri="{FF2B5EF4-FFF2-40B4-BE49-F238E27FC236}">
                <a16:creationId xmlns:a16="http://schemas.microsoft.com/office/drawing/2014/main" id="{18BA74AE-F3BA-46D4-1CD2-2CAD1B96CDB1}"/>
              </a:ext>
            </a:extLst>
          </p:cNvPr>
          <p:cNvGrpSpPr/>
          <p:nvPr/>
        </p:nvGrpSpPr>
        <p:grpSpPr>
          <a:xfrm>
            <a:off x="4220998" y="4789339"/>
            <a:ext cx="773701" cy="806400"/>
            <a:chOff x="0" y="0"/>
            <a:chExt cx="812800" cy="945684"/>
          </a:xfrm>
          <a:solidFill>
            <a:schemeClr val="accent5"/>
          </a:solidFill>
        </p:grpSpPr>
        <p:sp>
          <p:nvSpPr>
            <p:cNvPr id="64" name="Freeform 16">
              <a:extLst>
                <a:ext uri="{FF2B5EF4-FFF2-40B4-BE49-F238E27FC236}">
                  <a16:creationId xmlns:a16="http://schemas.microsoft.com/office/drawing/2014/main" id="{2CE25151-3C99-B4E6-70E6-7C3E6A5A7D4A}"/>
                </a:ext>
              </a:extLst>
            </p:cNvPr>
            <p:cNvSpPr/>
            <p:nvPr/>
          </p:nvSpPr>
          <p:spPr>
            <a:xfrm>
              <a:off x="0" y="0"/>
              <a:ext cx="812800" cy="945684"/>
            </a:xfrm>
            <a:custGeom>
              <a:avLst/>
              <a:gdLst/>
              <a:ahLst/>
              <a:cxnLst/>
              <a:rect l="l" t="t" r="r" b="b"/>
              <a:pathLst>
                <a:path w="812800" h="945684">
                  <a:moveTo>
                    <a:pt x="812800" y="0"/>
                  </a:moveTo>
                  <a:lnTo>
                    <a:pt x="0" y="0"/>
                  </a:lnTo>
                  <a:lnTo>
                    <a:pt x="0" y="757724"/>
                  </a:lnTo>
                  <a:lnTo>
                    <a:pt x="157480" y="757724"/>
                  </a:lnTo>
                  <a:lnTo>
                    <a:pt x="157480" y="945684"/>
                  </a:lnTo>
                  <a:lnTo>
                    <a:pt x="463550" y="757724"/>
                  </a:lnTo>
                  <a:lnTo>
                    <a:pt x="812800" y="757724"/>
                  </a:lnTo>
                  <a:lnTo>
                    <a:pt x="812800" y="0"/>
                  </a:lnTo>
                  <a:close/>
                </a:path>
              </a:pathLst>
            </a:custGeom>
            <a:grpFill/>
          </p:spPr>
          <p:txBody>
            <a:bodyPr/>
            <a:lstStyle/>
            <a:p>
              <a:endParaRPr lang="en-US"/>
            </a:p>
          </p:txBody>
        </p:sp>
        <p:sp>
          <p:nvSpPr>
            <p:cNvPr id="65" name="TextBox 17">
              <a:extLst>
                <a:ext uri="{FF2B5EF4-FFF2-40B4-BE49-F238E27FC236}">
                  <a16:creationId xmlns:a16="http://schemas.microsoft.com/office/drawing/2014/main" id="{5D961A3D-2E49-2D18-6EC0-E503244C18CD}"/>
                </a:ext>
              </a:extLst>
            </p:cNvPr>
            <p:cNvSpPr txBox="1"/>
            <p:nvPr/>
          </p:nvSpPr>
          <p:spPr>
            <a:xfrm>
              <a:off x="0" y="-47625"/>
              <a:ext cx="812800" cy="802809"/>
            </a:xfrm>
            <a:prstGeom prst="rect">
              <a:avLst/>
            </a:prstGeom>
            <a:grpFill/>
          </p:spPr>
          <p:txBody>
            <a:bodyPr lIns="50800" tIns="50800" rIns="50800" bIns="50800" rtlCol="0" anchor="ctr"/>
            <a:lstStyle/>
            <a:p>
              <a:pPr marL="0" lvl="0" indent="0" algn="ctr">
                <a:lnSpc>
                  <a:spcPts val="2800"/>
                </a:lnSpc>
                <a:spcBef>
                  <a:spcPct val="0"/>
                </a:spcBef>
              </a:pPr>
              <a:r>
                <a:rPr lang="en-US" sz="2000" b="1" dirty="0">
                  <a:solidFill>
                    <a:schemeClr val="bg1"/>
                  </a:solidFill>
                  <a:latin typeface="TT Hoves Bold"/>
                  <a:ea typeface="TT Hoves Bold"/>
                  <a:cs typeface="TT Hoves Bold"/>
                  <a:sym typeface="TT Hoves Bold"/>
                </a:rPr>
                <a:t>07</a:t>
              </a:r>
            </a:p>
          </p:txBody>
        </p:sp>
      </p:grpSp>
      <p:pic>
        <p:nvPicPr>
          <p:cNvPr id="72" name="Picture 71">
            <a:extLst>
              <a:ext uri="{FF2B5EF4-FFF2-40B4-BE49-F238E27FC236}">
                <a16:creationId xmlns:a16="http://schemas.microsoft.com/office/drawing/2014/main" id="{AD593852-AA65-F9FA-6A98-E33C227F49F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232045"/>
            <a:ext cx="12192000" cy="2234317"/>
          </a:xfrm>
          <a:prstGeom prst="rect">
            <a:avLst/>
          </a:prstGeom>
        </p:spPr>
      </p:pic>
      <p:sp>
        <p:nvSpPr>
          <p:cNvPr id="81" name="Freeform 18">
            <a:extLst>
              <a:ext uri="{FF2B5EF4-FFF2-40B4-BE49-F238E27FC236}">
                <a16:creationId xmlns:a16="http://schemas.microsoft.com/office/drawing/2014/main" id="{1EAF510C-B54A-C5BB-A398-AA30AEB1112F}"/>
              </a:ext>
            </a:extLst>
          </p:cNvPr>
          <p:cNvSpPr/>
          <p:nvPr/>
        </p:nvSpPr>
        <p:spPr>
          <a:xfrm>
            <a:off x="10836573" y="2223021"/>
            <a:ext cx="428226" cy="400480"/>
          </a:xfrm>
          <a:custGeom>
            <a:avLst/>
            <a:gdLst/>
            <a:ahLst/>
            <a:cxnLst/>
            <a:rect l="l" t="t" r="r" b="b"/>
            <a:pathLst>
              <a:path w="493332" h="692175">
                <a:moveTo>
                  <a:pt x="0" y="0"/>
                </a:moveTo>
                <a:lnTo>
                  <a:pt x="493333" y="0"/>
                </a:lnTo>
                <a:lnTo>
                  <a:pt x="493333" y="692175"/>
                </a:lnTo>
                <a:lnTo>
                  <a:pt x="0" y="69217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dirty="0"/>
          </a:p>
        </p:txBody>
      </p:sp>
      <p:sp>
        <p:nvSpPr>
          <p:cNvPr id="82" name="Freeform 20">
            <a:extLst>
              <a:ext uri="{FF2B5EF4-FFF2-40B4-BE49-F238E27FC236}">
                <a16:creationId xmlns:a16="http://schemas.microsoft.com/office/drawing/2014/main" id="{BA17CA47-DC44-0EFA-629B-3ECA9D68775D}"/>
              </a:ext>
            </a:extLst>
          </p:cNvPr>
          <p:cNvSpPr/>
          <p:nvPr/>
        </p:nvSpPr>
        <p:spPr>
          <a:xfrm>
            <a:off x="9677839" y="2785110"/>
            <a:ext cx="381975" cy="429731"/>
          </a:xfrm>
          <a:custGeom>
            <a:avLst/>
            <a:gdLst/>
            <a:ahLst/>
            <a:cxnLst/>
            <a:rect l="l" t="t" r="r" b="b"/>
            <a:pathLst>
              <a:path w="585833" h="583816">
                <a:moveTo>
                  <a:pt x="0" y="0"/>
                </a:moveTo>
                <a:lnTo>
                  <a:pt x="585833" y="0"/>
                </a:lnTo>
                <a:lnTo>
                  <a:pt x="585833" y="583816"/>
                </a:lnTo>
                <a:lnTo>
                  <a:pt x="0" y="58381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dirty="0"/>
          </a:p>
        </p:txBody>
      </p:sp>
      <p:sp>
        <p:nvSpPr>
          <p:cNvPr id="84" name="Freeform 19">
            <a:extLst>
              <a:ext uri="{FF2B5EF4-FFF2-40B4-BE49-F238E27FC236}">
                <a16:creationId xmlns:a16="http://schemas.microsoft.com/office/drawing/2014/main" id="{BB5593B6-F4A9-C249-4245-78438AC5A93F}"/>
              </a:ext>
            </a:extLst>
          </p:cNvPr>
          <p:cNvSpPr/>
          <p:nvPr/>
        </p:nvSpPr>
        <p:spPr>
          <a:xfrm>
            <a:off x="9222795" y="3998642"/>
            <a:ext cx="319380" cy="310102"/>
          </a:xfrm>
          <a:custGeom>
            <a:avLst/>
            <a:gdLst/>
            <a:ahLst/>
            <a:cxnLst/>
            <a:rect l="l" t="t" r="r" b="b"/>
            <a:pathLst>
              <a:path w="446559" h="511683">
                <a:moveTo>
                  <a:pt x="0" y="0"/>
                </a:moveTo>
                <a:lnTo>
                  <a:pt x="446560" y="0"/>
                </a:lnTo>
                <a:lnTo>
                  <a:pt x="446560" y="511682"/>
                </a:lnTo>
                <a:lnTo>
                  <a:pt x="0" y="511682"/>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85" name="Freeform 21">
            <a:extLst>
              <a:ext uri="{FF2B5EF4-FFF2-40B4-BE49-F238E27FC236}">
                <a16:creationId xmlns:a16="http://schemas.microsoft.com/office/drawing/2014/main" id="{260DBE38-9CCA-F05E-2AE5-5D0F9C99674F}"/>
              </a:ext>
            </a:extLst>
          </p:cNvPr>
          <p:cNvSpPr/>
          <p:nvPr/>
        </p:nvSpPr>
        <p:spPr>
          <a:xfrm>
            <a:off x="9677839" y="5216632"/>
            <a:ext cx="483780" cy="321760"/>
          </a:xfrm>
          <a:custGeom>
            <a:avLst/>
            <a:gdLst/>
            <a:ahLst/>
            <a:cxnLst/>
            <a:rect l="l" t="t" r="r" b="b"/>
            <a:pathLst>
              <a:path w="585833" h="697420">
                <a:moveTo>
                  <a:pt x="0" y="0"/>
                </a:moveTo>
                <a:lnTo>
                  <a:pt x="585833" y="0"/>
                </a:lnTo>
                <a:lnTo>
                  <a:pt x="585833" y="697420"/>
                </a:lnTo>
                <a:lnTo>
                  <a:pt x="0" y="69742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86" name="Freeform 22">
            <a:extLst>
              <a:ext uri="{FF2B5EF4-FFF2-40B4-BE49-F238E27FC236}">
                <a16:creationId xmlns:a16="http://schemas.microsoft.com/office/drawing/2014/main" id="{455BDAC3-FB44-F163-5185-0D9FDF78F197}"/>
              </a:ext>
            </a:extLst>
          </p:cNvPr>
          <p:cNvSpPr/>
          <p:nvPr/>
        </p:nvSpPr>
        <p:spPr>
          <a:xfrm>
            <a:off x="10774380" y="5744916"/>
            <a:ext cx="494764" cy="467348"/>
          </a:xfrm>
          <a:custGeom>
            <a:avLst/>
            <a:gdLst/>
            <a:ahLst/>
            <a:cxnLst/>
            <a:rect l="l" t="t" r="r" b="b"/>
            <a:pathLst>
              <a:path w="673485" h="673485">
                <a:moveTo>
                  <a:pt x="0" y="0"/>
                </a:moveTo>
                <a:lnTo>
                  <a:pt x="673484" y="0"/>
                </a:lnTo>
                <a:lnTo>
                  <a:pt x="673484" y="673485"/>
                </a:lnTo>
                <a:lnTo>
                  <a:pt x="0" y="673485"/>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US" dirty="0"/>
          </a:p>
        </p:txBody>
      </p:sp>
      <p:sp>
        <p:nvSpPr>
          <p:cNvPr id="88" name="TextBox 87">
            <a:extLst>
              <a:ext uri="{FF2B5EF4-FFF2-40B4-BE49-F238E27FC236}">
                <a16:creationId xmlns:a16="http://schemas.microsoft.com/office/drawing/2014/main" id="{C16E91FE-29C6-607C-D7D2-6CDECB6667AB}"/>
              </a:ext>
            </a:extLst>
          </p:cNvPr>
          <p:cNvSpPr txBox="1"/>
          <p:nvPr/>
        </p:nvSpPr>
        <p:spPr>
          <a:xfrm>
            <a:off x="938592" y="2514116"/>
            <a:ext cx="1932633" cy="400110"/>
          </a:xfrm>
          <a:prstGeom prst="rect">
            <a:avLst/>
          </a:prstGeom>
          <a:noFill/>
        </p:spPr>
        <p:txBody>
          <a:bodyPr wrap="square">
            <a:spAutoFit/>
          </a:bodyPr>
          <a:lstStyle/>
          <a:p>
            <a:r>
              <a:rPr lang="en-US" sz="2000" b="1" dirty="0">
                <a:ln w="0"/>
                <a:effectLst>
                  <a:outerShdw blurRad="38100" dist="19050" dir="2700000" algn="tl" rotWithShape="0">
                    <a:schemeClr val="dk1">
                      <a:alpha val="40000"/>
                    </a:schemeClr>
                  </a:outerShdw>
                </a:effectLst>
              </a:rPr>
              <a:t>Introduction</a:t>
            </a:r>
          </a:p>
        </p:txBody>
      </p:sp>
      <p:sp>
        <p:nvSpPr>
          <p:cNvPr id="92" name="TextBox 91">
            <a:extLst>
              <a:ext uri="{FF2B5EF4-FFF2-40B4-BE49-F238E27FC236}">
                <a16:creationId xmlns:a16="http://schemas.microsoft.com/office/drawing/2014/main" id="{6889AAE2-CC83-FD0D-AD66-CF2AA758D332}"/>
              </a:ext>
            </a:extLst>
          </p:cNvPr>
          <p:cNvSpPr txBox="1"/>
          <p:nvPr/>
        </p:nvSpPr>
        <p:spPr>
          <a:xfrm>
            <a:off x="770935" y="3472523"/>
            <a:ext cx="2615362" cy="430887"/>
          </a:xfrm>
          <a:prstGeom prst="rect">
            <a:avLst/>
          </a:prstGeom>
          <a:noFill/>
        </p:spPr>
        <p:txBody>
          <a:bodyPr wrap="square">
            <a:spAutoFit/>
          </a:bodyPr>
          <a:lstStyle/>
          <a:p>
            <a:br>
              <a:rPr lang="en-US" sz="1100" b="1" dirty="0">
                <a:solidFill>
                  <a:srgbClr val="67BF31"/>
                </a:solidFill>
              </a:rPr>
            </a:br>
            <a:endParaRPr lang="en-US" sz="1100" b="1" dirty="0">
              <a:solidFill>
                <a:srgbClr val="67BF31"/>
              </a:solidFill>
            </a:endParaRPr>
          </a:p>
        </p:txBody>
      </p:sp>
      <p:sp>
        <p:nvSpPr>
          <p:cNvPr id="94" name="TextBox 93">
            <a:extLst>
              <a:ext uri="{FF2B5EF4-FFF2-40B4-BE49-F238E27FC236}">
                <a16:creationId xmlns:a16="http://schemas.microsoft.com/office/drawing/2014/main" id="{02ACCC3A-AF68-39D7-5A41-67DF248920A3}"/>
              </a:ext>
            </a:extLst>
          </p:cNvPr>
          <p:cNvSpPr txBox="1"/>
          <p:nvPr/>
        </p:nvSpPr>
        <p:spPr>
          <a:xfrm>
            <a:off x="770935" y="4305738"/>
            <a:ext cx="3452829" cy="707886"/>
          </a:xfrm>
          <a:prstGeom prst="rect">
            <a:avLst/>
          </a:prstGeom>
          <a:noFill/>
        </p:spPr>
        <p:txBody>
          <a:bodyPr wrap="square">
            <a:spAutoFit/>
          </a:bodyPr>
          <a:lstStyle/>
          <a:p>
            <a:r>
              <a:rPr lang="en-US" sz="2000" b="1" dirty="0">
                <a:ln w="0"/>
                <a:effectLst>
                  <a:outerShdw blurRad="38100" dist="19050" dir="2700000" algn="tl" rotWithShape="0">
                    <a:schemeClr val="dk1">
                      <a:alpha val="40000"/>
                    </a:schemeClr>
                  </a:outerShdw>
                </a:effectLst>
              </a:rPr>
              <a:t>Exploratory Data Analysis (EDA)</a:t>
            </a:r>
          </a:p>
        </p:txBody>
      </p:sp>
      <p:pic>
        <p:nvPicPr>
          <p:cNvPr id="2" name="Picture 1">
            <a:extLst>
              <a:ext uri="{FF2B5EF4-FFF2-40B4-BE49-F238E27FC236}">
                <a16:creationId xmlns:a16="http://schemas.microsoft.com/office/drawing/2014/main" id="{F04B1BB1-6B1F-0C20-9271-C6B07F540558}"/>
              </a:ext>
            </a:extLst>
          </p:cNvPr>
          <p:cNvPicPr>
            <a:picLocks noChangeAspect="1"/>
          </p:cNvPicPr>
          <p:nvPr/>
        </p:nvPicPr>
        <p:blipFill>
          <a:blip r:embed="rId15">
            <a:extLst>
              <a:ext uri="{28A0092B-C50C-407E-A947-70E740481C1C}">
                <a14:useLocalDpi xmlns:a14="http://schemas.microsoft.com/office/drawing/2010/main" val="0"/>
              </a:ext>
            </a:extLst>
          </a:blip>
          <a:srcRect/>
          <a:stretch>
            <a:fillRect/>
          </a:stretch>
        </p:blipFill>
        <p:spPr>
          <a:xfrm>
            <a:off x="10324712" y="6410690"/>
            <a:ext cx="1785976" cy="462949"/>
          </a:xfrm>
          <a:prstGeom prst="rect">
            <a:avLst/>
          </a:prstGeom>
        </p:spPr>
      </p:pic>
      <p:sp>
        <p:nvSpPr>
          <p:cNvPr id="9" name="TextBox 8">
            <a:extLst>
              <a:ext uri="{FF2B5EF4-FFF2-40B4-BE49-F238E27FC236}">
                <a16:creationId xmlns:a16="http://schemas.microsoft.com/office/drawing/2014/main" id="{AA8786BC-C393-7D1F-2EDC-937EFCE91D02}"/>
              </a:ext>
            </a:extLst>
          </p:cNvPr>
          <p:cNvSpPr txBox="1"/>
          <p:nvPr/>
        </p:nvSpPr>
        <p:spPr>
          <a:xfrm>
            <a:off x="808558" y="3432876"/>
            <a:ext cx="3452829" cy="400110"/>
          </a:xfrm>
          <a:prstGeom prst="rect">
            <a:avLst/>
          </a:prstGeom>
          <a:noFill/>
        </p:spPr>
        <p:txBody>
          <a:bodyPr wrap="square">
            <a:spAutoFit/>
          </a:bodyPr>
          <a:lstStyle/>
          <a:p>
            <a:r>
              <a:rPr lang="en-US" sz="1800" b="1" dirty="0">
                <a:ln w="0"/>
                <a:solidFill>
                  <a:schemeClr val="tx1"/>
                </a:solidFill>
                <a:effectLst>
                  <a:outerShdw blurRad="38100" dist="19050" dir="2700000" algn="tl" rotWithShape="0">
                    <a:schemeClr val="dk1">
                      <a:alpha val="40000"/>
                    </a:schemeClr>
                  </a:outerShdw>
                </a:effectLst>
                <a:ea typeface="ADLaM Display" panose="02010000000000000000" pitchFamily="2" charset="0"/>
                <a:cs typeface="ADLaM Display" panose="02010000000000000000" pitchFamily="2" charset="0"/>
              </a:rPr>
              <a:t>Data </a:t>
            </a:r>
            <a:r>
              <a:rPr lang="en-US" sz="2000" b="1" dirty="0">
                <a:ln w="0"/>
                <a:solidFill>
                  <a:schemeClr val="tx1"/>
                </a:solidFill>
                <a:effectLst>
                  <a:outerShdw blurRad="38100" dist="19050" dir="2700000" algn="tl" rotWithShape="0">
                    <a:schemeClr val="dk1">
                      <a:alpha val="40000"/>
                    </a:schemeClr>
                  </a:outerShdw>
                </a:effectLst>
                <a:ea typeface="ADLaM Display" panose="02010000000000000000" pitchFamily="2" charset="0"/>
                <a:cs typeface="ADLaM Display" panose="02010000000000000000" pitchFamily="2" charset="0"/>
              </a:rPr>
              <a:t>Collection</a:t>
            </a:r>
            <a:r>
              <a:rPr lang="en-US" sz="1800" b="1" dirty="0">
                <a:ln w="0"/>
                <a:solidFill>
                  <a:schemeClr val="tx1"/>
                </a:solidFill>
                <a:effectLst>
                  <a:outerShdw blurRad="38100" dist="19050" dir="2700000" algn="tl" rotWithShape="0">
                    <a:schemeClr val="dk1">
                      <a:alpha val="40000"/>
                    </a:schemeClr>
                  </a:outerShdw>
                </a:effectLst>
                <a:ea typeface="ADLaM Display" panose="02010000000000000000" pitchFamily="2" charset="0"/>
                <a:cs typeface="ADLaM Display" panose="02010000000000000000" pitchFamily="2" charset="0"/>
              </a:rPr>
              <a:t> &amp; Refinement</a:t>
            </a:r>
          </a:p>
        </p:txBody>
      </p:sp>
      <p:sp>
        <p:nvSpPr>
          <p:cNvPr id="11" name="TextBox 10">
            <a:extLst>
              <a:ext uri="{FF2B5EF4-FFF2-40B4-BE49-F238E27FC236}">
                <a16:creationId xmlns:a16="http://schemas.microsoft.com/office/drawing/2014/main" id="{4A9BF6BC-64B9-0771-B466-FEA0C533E75A}"/>
              </a:ext>
            </a:extLst>
          </p:cNvPr>
          <p:cNvSpPr txBox="1"/>
          <p:nvPr/>
        </p:nvSpPr>
        <p:spPr>
          <a:xfrm>
            <a:off x="864520" y="5538392"/>
            <a:ext cx="6111240" cy="400110"/>
          </a:xfrm>
          <a:prstGeom prst="rect">
            <a:avLst/>
          </a:prstGeom>
          <a:noFill/>
        </p:spPr>
        <p:txBody>
          <a:bodyPr wrap="square">
            <a:spAutoFit/>
          </a:bodyPr>
          <a:lstStyle/>
          <a:p>
            <a:r>
              <a:rPr lang="en-US" sz="2000" b="1" dirty="0">
                <a:ln w="0"/>
                <a:effectLst>
                  <a:outerShdw blurRad="38100" dist="19050" dir="2700000" algn="tl" rotWithShape="0">
                    <a:schemeClr val="dk1">
                      <a:alpha val="40000"/>
                    </a:schemeClr>
                  </a:outerShdw>
                </a:effectLst>
                <a:ea typeface="ADLaM Display" panose="02010000000000000000" pitchFamily="2" charset="0"/>
                <a:cs typeface="ADLaM Display" panose="02010000000000000000" pitchFamily="2" charset="0"/>
              </a:rPr>
              <a:t>PREPROCESSING</a:t>
            </a:r>
          </a:p>
        </p:txBody>
      </p:sp>
      <p:sp>
        <p:nvSpPr>
          <p:cNvPr id="14" name="TextBox 13">
            <a:extLst>
              <a:ext uri="{FF2B5EF4-FFF2-40B4-BE49-F238E27FC236}">
                <a16:creationId xmlns:a16="http://schemas.microsoft.com/office/drawing/2014/main" id="{A46FB314-FF8E-1E06-6CA4-538C8C4369BD}"/>
              </a:ext>
            </a:extLst>
          </p:cNvPr>
          <p:cNvSpPr txBox="1"/>
          <p:nvPr/>
        </p:nvSpPr>
        <p:spPr>
          <a:xfrm>
            <a:off x="5106460" y="2194758"/>
            <a:ext cx="6111240" cy="400110"/>
          </a:xfrm>
          <a:prstGeom prst="rect">
            <a:avLst/>
          </a:prstGeom>
          <a:noFill/>
        </p:spPr>
        <p:txBody>
          <a:bodyPr wrap="square">
            <a:spAutoFit/>
          </a:bodyPr>
          <a:lstStyle/>
          <a:p>
            <a:r>
              <a:rPr lang="en-US" sz="2000" b="1" dirty="0">
                <a:ln w="0"/>
                <a:effectLst>
                  <a:outerShdw blurRad="38100" dist="19050" dir="2700000" algn="tl" rotWithShape="0">
                    <a:schemeClr val="dk1">
                      <a:alpha val="40000"/>
                    </a:schemeClr>
                  </a:outerShdw>
                </a:effectLst>
                <a:ea typeface="ADLaM Display" panose="02010000000000000000" pitchFamily="2" charset="0"/>
                <a:cs typeface="ADLaM Display" panose="02010000000000000000" pitchFamily="2" charset="0"/>
              </a:rPr>
              <a:t>FEATURE ENGINEERING</a:t>
            </a:r>
          </a:p>
        </p:txBody>
      </p:sp>
      <p:sp>
        <p:nvSpPr>
          <p:cNvPr id="16" name="TextBox 15">
            <a:extLst>
              <a:ext uri="{FF2B5EF4-FFF2-40B4-BE49-F238E27FC236}">
                <a16:creationId xmlns:a16="http://schemas.microsoft.com/office/drawing/2014/main" id="{414EA2BC-FFA8-2B2F-87F9-3696FC9550F8}"/>
              </a:ext>
            </a:extLst>
          </p:cNvPr>
          <p:cNvSpPr txBox="1"/>
          <p:nvPr/>
        </p:nvSpPr>
        <p:spPr>
          <a:xfrm>
            <a:off x="5061994" y="3377634"/>
            <a:ext cx="6111240" cy="400110"/>
          </a:xfrm>
          <a:prstGeom prst="rect">
            <a:avLst/>
          </a:prstGeom>
          <a:noFill/>
        </p:spPr>
        <p:txBody>
          <a:bodyPr wrap="square">
            <a:spAutoFit/>
          </a:bodyPr>
          <a:lstStyle/>
          <a:p>
            <a:r>
              <a:rPr lang="en-US" sz="2000" b="1" dirty="0">
                <a:ln w="0"/>
                <a:effectLst>
                  <a:outerShdw blurRad="38100" dist="19050" dir="2700000" algn="tl" rotWithShape="0">
                    <a:schemeClr val="dk1">
                      <a:alpha val="40000"/>
                    </a:schemeClr>
                  </a:outerShdw>
                </a:effectLst>
                <a:ea typeface="ADLaM Display" panose="02010000000000000000" pitchFamily="2" charset="0"/>
                <a:cs typeface="ADLaM Display" panose="02010000000000000000" pitchFamily="2" charset="0"/>
              </a:rPr>
              <a:t>TRAIN TEST SPLIT</a:t>
            </a:r>
          </a:p>
        </p:txBody>
      </p:sp>
      <p:sp>
        <p:nvSpPr>
          <p:cNvPr id="18" name="TextBox 17">
            <a:extLst>
              <a:ext uri="{FF2B5EF4-FFF2-40B4-BE49-F238E27FC236}">
                <a16:creationId xmlns:a16="http://schemas.microsoft.com/office/drawing/2014/main" id="{AA108796-45A4-1ED1-4F28-F634D967DD3C}"/>
              </a:ext>
            </a:extLst>
          </p:cNvPr>
          <p:cNvSpPr txBox="1"/>
          <p:nvPr/>
        </p:nvSpPr>
        <p:spPr>
          <a:xfrm>
            <a:off x="4994699" y="4731838"/>
            <a:ext cx="3905461" cy="646331"/>
          </a:xfrm>
          <a:prstGeom prst="rect">
            <a:avLst/>
          </a:prstGeom>
          <a:noFill/>
        </p:spPr>
        <p:txBody>
          <a:bodyPr wrap="square">
            <a:spAutoFit/>
          </a:bodyPr>
          <a:lstStyle/>
          <a:p>
            <a:r>
              <a:rPr lang="en-US" sz="1800" b="1" dirty="0">
                <a:ln w="0"/>
                <a:effectLst>
                  <a:outerShdw blurRad="38100" dist="19050" dir="2700000" algn="tl" rotWithShape="0">
                    <a:schemeClr val="dk1">
                      <a:alpha val="40000"/>
                    </a:schemeClr>
                  </a:outerShdw>
                </a:effectLst>
                <a:ea typeface="ADLaM Display" panose="02010000000000000000" pitchFamily="2" charset="0"/>
                <a:cs typeface="ADLaM Display" panose="02010000000000000000" pitchFamily="2" charset="0"/>
              </a:rPr>
              <a:t>HANDLING IMBALANCED DATA (SMOTE)</a:t>
            </a:r>
          </a:p>
        </p:txBody>
      </p:sp>
      <p:grpSp>
        <p:nvGrpSpPr>
          <p:cNvPr id="19" name="Group 15">
            <a:extLst>
              <a:ext uri="{FF2B5EF4-FFF2-40B4-BE49-F238E27FC236}">
                <a16:creationId xmlns:a16="http://schemas.microsoft.com/office/drawing/2014/main" id="{FA847023-C418-9C2D-F2C9-0A149228E595}"/>
              </a:ext>
            </a:extLst>
          </p:cNvPr>
          <p:cNvGrpSpPr/>
          <p:nvPr/>
        </p:nvGrpSpPr>
        <p:grpSpPr>
          <a:xfrm>
            <a:off x="4132314" y="5932148"/>
            <a:ext cx="773701" cy="806400"/>
            <a:chOff x="0" y="0"/>
            <a:chExt cx="812800" cy="945684"/>
          </a:xfrm>
          <a:solidFill>
            <a:srgbClr val="C00000"/>
          </a:solidFill>
        </p:grpSpPr>
        <p:sp>
          <p:nvSpPr>
            <p:cNvPr id="20" name="Freeform 16">
              <a:extLst>
                <a:ext uri="{FF2B5EF4-FFF2-40B4-BE49-F238E27FC236}">
                  <a16:creationId xmlns:a16="http://schemas.microsoft.com/office/drawing/2014/main" id="{314DB8BA-36C8-7E35-95C5-CDEB92DE17F6}"/>
                </a:ext>
              </a:extLst>
            </p:cNvPr>
            <p:cNvSpPr/>
            <p:nvPr/>
          </p:nvSpPr>
          <p:spPr>
            <a:xfrm>
              <a:off x="0" y="0"/>
              <a:ext cx="812800" cy="945684"/>
            </a:xfrm>
            <a:custGeom>
              <a:avLst/>
              <a:gdLst/>
              <a:ahLst/>
              <a:cxnLst/>
              <a:rect l="l" t="t" r="r" b="b"/>
              <a:pathLst>
                <a:path w="812800" h="945684">
                  <a:moveTo>
                    <a:pt x="812800" y="0"/>
                  </a:moveTo>
                  <a:lnTo>
                    <a:pt x="0" y="0"/>
                  </a:lnTo>
                  <a:lnTo>
                    <a:pt x="0" y="757724"/>
                  </a:lnTo>
                  <a:lnTo>
                    <a:pt x="157480" y="757724"/>
                  </a:lnTo>
                  <a:lnTo>
                    <a:pt x="157480" y="945684"/>
                  </a:lnTo>
                  <a:lnTo>
                    <a:pt x="463550" y="757724"/>
                  </a:lnTo>
                  <a:lnTo>
                    <a:pt x="812800" y="757724"/>
                  </a:lnTo>
                  <a:lnTo>
                    <a:pt x="812800" y="0"/>
                  </a:lnTo>
                  <a:close/>
                </a:path>
              </a:pathLst>
            </a:custGeom>
            <a:grpFill/>
          </p:spPr>
          <p:txBody>
            <a:bodyPr/>
            <a:lstStyle/>
            <a:p>
              <a:endParaRPr lang="en-US"/>
            </a:p>
          </p:txBody>
        </p:sp>
        <p:sp>
          <p:nvSpPr>
            <p:cNvPr id="21" name="TextBox 17">
              <a:extLst>
                <a:ext uri="{FF2B5EF4-FFF2-40B4-BE49-F238E27FC236}">
                  <a16:creationId xmlns:a16="http://schemas.microsoft.com/office/drawing/2014/main" id="{064658B0-34E4-1BDC-5389-E5EB212E62FC}"/>
                </a:ext>
              </a:extLst>
            </p:cNvPr>
            <p:cNvSpPr txBox="1"/>
            <p:nvPr/>
          </p:nvSpPr>
          <p:spPr>
            <a:xfrm>
              <a:off x="0" y="-47625"/>
              <a:ext cx="812800" cy="802809"/>
            </a:xfrm>
            <a:prstGeom prst="rect">
              <a:avLst/>
            </a:prstGeom>
            <a:grpFill/>
          </p:spPr>
          <p:txBody>
            <a:bodyPr lIns="50800" tIns="50800" rIns="50800" bIns="50800" rtlCol="0" anchor="ctr"/>
            <a:lstStyle/>
            <a:p>
              <a:pPr marL="0" lvl="0" indent="0" algn="ctr">
                <a:lnSpc>
                  <a:spcPts val="2800"/>
                </a:lnSpc>
                <a:spcBef>
                  <a:spcPct val="0"/>
                </a:spcBef>
              </a:pPr>
              <a:r>
                <a:rPr lang="en-US" sz="2000" b="1" dirty="0">
                  <a:solidFill>
                    <a:schemeClr val="bg1"/>
                  </a:solidFill>
                  <a:latin typeface="TT Hoves Bold"/>
                  <a:ea typeface="TT Hoves Bold"/>
                  <a:cs typeface="TT Hoves Bold"/>
                  <a:sym typeface="TT Hoves Bold"/>
                </a:rPr>
                <a:t>08</a:t>
              </a:r>
            </a:p>
          </p:txBody>
        </p:sp>
      </p:grpSp>
      <p:sp>
        <p:nvSpPr>
          <p:cNvPr id="26" name="TextBox 25">
            <a:extLst>
              <a:ext uri="{FF2B5EF4-FFF2-40B4-BE49-F238E27FC236}">
                <a16:creationId xmlns:a16="http://schemas.microsoft.com/office/drawing/2014/main" id="{E8EF7EB2-D8E6-4CD8-32FA-3D6AAEF6F1F2}"/>
              </a:ext>
            </a:extLst>
          </p:cNvPr>
          <p:cNvSpPr txBox="1"/>
          <p:nvPr/>
        </p:nvSpPr>
        <p:spPr>
          <a:xfrm>
            <a:off x="4994699" y="5882347"/>
            <a:ext cx="3746601" cy="646331"/>
          </a:xfrm>
          <a:prstGeom prst="rect">
            <a:avLst/>
          </a:prstGeom>
          <a:noFill/>
        </p:spPr>
        <p:txBody>
          <a:bodyPr wrap="square">
            <a:spAutoFit/>
          </a:bodyPr>
          <a:lstStyle/>
          <a:p>
            <a:r>
              <a:rPr lang="en-US" sz="1800" b="1" dirty="0">
                <a:ln w="0"/>
                <a:effectLst>
                  <a:outerShdw blurRad="38100" dist="19050" dir="2700000" algn="tl" rotWithShape="0">
                    <a:schemeClr val="dk1">
                      <a:alpha val="40000"/>
                    </a:schemeClr>
                  </a:outerShdw>
                </a:effectLst>
                <a:ea typeface="ADLaM Display" panose="02010000000000000000" pitchFamily="2" charset="0"/>
                <a:cs typeface="ADLaM Display" panose="02010000000000000000" pitchFamily="2" charset="0"/>
              </a:rPr>
              <a:t>PREDICTION, CONCLUSION &amp; FUTURE RESEARCH</a:t>
            </a:r>
          </a:p>
        </p:txBody>
      </p:sp>
    </p:spTree>
    <p:extLst>
      <p:ext uri="{BB962C8B-B14F-4D97-AF65-F5344CB8AC3E}">
        <p14:creationId xmlns:p14="http://schemas.microsoft.com/office/powerpoint/2010/main" val="1273612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3653C-828F-DF30-7E3F-C5C6ECEAC7B6}"/>
            </a:ext>
          </a:extLst>
        </p:cNvPr>
        <p:cNvGrpSpPr/>
        <p:nvPr/>
      </p:nvGrpSpPr>
      <p:grpSpPr>
        <a:xfrm>
          <a:off x="0" y="0"/>
          <a:ext cx="0" cy="0"/>
          <a:chOff x="0" y="0"/>
          <a:chExt cx="0" cy="0"/>
        </a:xfrm>
      </p:grpSpPr>
      <p:sp>
        <p:nvSpPr>
          <p:cNvPr id="54" name="TextBox 53">
            <a:extLst>
              <a:ext uri="{FF2B5EF4-FFF2-40B4-BE49-F238E27FC236}">
                <a16:creationId xmlns:a16="http://schemas.microsoft.com/office/drawing/2014/main" id="{76672B09-861E-C661-A7CA-BC38970506EC}"/>
              </a:ext>
            </a:extLst>
          </p:cNvPr>
          <p:cNvSpPr txBox="1"/>
          <p:nvPr/>
        </p:nvSpPr>
        <p:spPr>
          <a:xfrm>
            <a:off x="2700020" y="-29001"/>
            <a:ext cx="5775961" cy="707886"/>
          </a:xfrm>
          <a:prstGeom prst="rect">
            <a:avLst/>
          </a:prstGeom>
          <a:noFill/>
        </p:spPr>
        <p:txBody>
          <a:bodyPr wrap="square">
            <a:spAutoFit/>
          </a:bodyPr>
          <a:lstStyle/>
          <a:p>
            <a:r>
              <a:rPr lang="en-US" sz="2800" b="1" dirty="0">
                <a:solidFill>
                  <a:schemeClr val="accent1"/>
                </a:solidFill>
              </a:rPr>
              <a:t>                </a:t>
            </a:r>
            <a:r>
              <a:rPr lang="en-US" sz="4000" dirty="0">
                <a:ln w="0"/>
                <a:effectLst>
                  <a:outerShdw blurRad="38100" dist="19050" dir="2700000" algn="tl" rotWithShape="0">
                    <a:schemeClr val="dk1">
                      <a:alpha val="40000"/>
                    </a:schemeClr>
                  </a:outerShdw>
                </a:effectLst>
                <a:latin typeface="ADLaM Display" panose="02010000000000000000" pitchFamily="2" charset="0"/>
                <a:ea typeface="ADLaM Display" panose="02010000000000000000" pitchFamily="2" charset="0"/>
                <a:cs typeface="ADLaM Display" panose="02010000000000000000" pitchFamily="2" charset="0"/>
              </a:rPr>
              <a:t>INTRODUCTION</a:t>
            </a:r>
            <a:endParaRPr lang="en-US" sz="4000" b="1" dirty="0">
              <a:solidFill>
                <a:schemeClr val="bg2">
                  <a:lumMod val="10000"/>
                </a:schemeClr>
              </a:solidFill>
              <a:latin typeface="ADLaM Display" panose="02010000000000000000" pitchFamily="2" charset="0"/>
              <a:ea typeface="ADLaM Display" panose="02010000000000000000" pitchFamily="2" charset="0"/>
              <a:cs typeface="ADLaM Display" panose="02010000000000000000" pitchFamily="2" charset="0"/>
            </a:endParaRPr>
          </a:p>
        </p:txBody>
      </p:sp>
      <p:pic>
        <p:nvPicPr>
          <p:cNvPr id="4" name="Picture 3">
            <a:extLst>
              <a:ext uri="{FF2B5EF4-FFF2-40B4-BE49-F238E27FC236}">
                <a16:creationId xmlns:a16="http://schemas.microsoft.com/office/drawing/2014/main" id="{60AD13B8-4A11-B9F7-1847-D5CFD2CB67F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10223144" y="6334780"/>
            <a:ext cx="1785976" cy="462949"/>
          </a:xfrm>
          <a:prstGeom prst="rect">
            <a:avLst/>
          </a:prstGeom>
        </p:spPr>
      </p:pic>
      <p:sp>
        <p:nvSpPr>
          <p:cNvPr id="8" name="Freeform 3">
            <a:extLst>
              <a:ext uri="{FF2B5EF4-FFF2-40B4-BE49-F238E27FC236}">
                <a16:creationId xmlns:a16="http://schemas.microsoft.com/office/drawing/2014/main" id="{7F719517-C344-DC8E-D47E-AB08D470D351}"/>
              </a:ext>
            </a:extLst>
          </p:cNvPr>
          <p:cNvSpPr/>
          <p:nvPr/>
        </p:nvSpPr>
        <p:spPr>
          <a:xfrm>
            <a:off x="7040880" y="793609"/>
            <a:ext cx="5069840" cy="5081387"/>
          </a:xfrm>
          <a:custGeom>
            <a:avLst/>
            <a:gdLst/>
            <a:ahLst/>
            <a:cxnLst/>
            <a:rect l="l" t="t" r="r" b="b"/>
            <a:pathLst>
              <a:path w="7775855" h="5919369">
                <a:moveTo>
                  <a:pt x="0" y="0"/>
                </a:moveTo>
                <a:lnTo>
                  <a:pt x="7775855" y="0"/>
                </a:lnTo>
                <a:lnTo>
                  <a:pt x="7775855" y="5919369"/>
                </a:lnTo>
                <a:lnTo>
                  <a:pt x="0" y="5919369"/>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txBody>
          <a:bodyPr/>
          <a:lstStyle/>
          <a:p>
            <a:endParaRPr lang="en-US" dirty="0"/>
          </a:p>
        </p:txBody>
      </p:sp>
      <p:sp>
        <p:nvSpPr>
          <p:cNvPr id="7" name="TextBox 6">
            <a:extLst>
              <a:ext uri="{FF2B5EF4-FFF2-40B4-BE49-F238E27FC236}">
                <a16:creationId xmlns:a16="http://schemas.microsoft.com/office/drawing/2014/main" id="{616C69E1-DD1D-EB5D-4238-8DD326E6F524}"/>
              </a:ext>
            </a:extLst>
          </p:cNvPr>
          <p:cNvSpPr txBox="1"/>
          <p:nvPr/>
        </p:nvSpPr>
        <p:spPr>
          <a:xfrm>
            <a:off x="314960" y="1121708"/>
            <a:ext cx="6532880" cy="5355312"/>
          </a:xfrm>
          <a:prstGeom prst="rect">
            <a:avLst/>
          </a:prstGeom>
          <a:noFill/>
        </p:spPr>
        <p:txBody>
          <a:bodyPr wrap="square">
            <a:spAutoFit/>
          </a:bodyPr>
          <a:lstStyle/>
          <a:p>
            <a:pPr>
              <a:buNone/>
            </a:pPr>
            <a:r>
              <a:rPr lang="en-US" b="1" dirty="0">
                <a:solidFill>
                  <a:srgbClr val="FF0000"/>
                </a:solidFill>
              </a:rPr>
              <a:t>• Employee Retention Prediction uses machine learning techniques to identify whether employees are likely to stay or leave an organization. High turnover leads to increased costs, loss of talent, and reduced productivity.</a:t>
            </a:r>
          </a:p>
          <a:p>
            <a:pPr>
              <a:buNone/>
            </a:pPr>
            <a:br>
              <a:rPr lang="en-US" dirty="0"/>
            </a:br>
            <a:endParaRPr lang="en-US" dirty="0"/>
          </a:p>
          <a:p>
            <a:pPr>
              <a:buNone/>
            </a:pPr>
            <a:r>
              <a:rPr lang="en-US" b="1" dirty="0">
                <a:solidFill>
                  <a:srgbClr val="00B050"/>
                </a:solidFill>
              </a:rPr>
              <a:t>• The dataset includes key factors such as employee demographics, job role, salary, performance, and training history, with retention (attrition status) as the target variable.</a:t>
            </a:r>
          </a:p>
          <a:p>
            <a:pPr>
              <a:buNone/>
            </a:pPr>
            <a:br>
              <a:rPr lang="en-US" dirty="0"/>
            </a:br>
            <a:endParaRPr lang="en-US" dirty="0"/>
          </a:p>
          <a:p>
            <a:pPr>
              <a:buNone/>
            </a:pPr>
            <a:r>
              <a:rPr lang="en-US" b="1" dirty="0">
                <a:solidFill>
                  <a:srgbClr val="0070C0"/>
                </a:solidFill>
              </a:rPr>
              <a:t>• This project aims to build a predictive model using techniques like data preprocessing, feature engineering, and algorithms such as Logistic Regression, Random Forest, XGBoost, and LightGBM.</a:t>
            </a:r>
          </a:p>
          <a:p>
            <a:pPr>
              <a:buNone/>
            </a:pPr>
            <a:br>
              <a:rPr lang="en-US" b="1" dirty="0">
                <a:solidFill>
                  <a:srgbClr val="0070C0"/>
                </a:solidFill>
              </a:rPr>
            </a:br>
            <a:endParaRPr lang="en-US" b="1" dirty="0">
              <a:solidFill>
                <a:srgbClr val="0070C0"/>
              </a:solidFill>
            </a:endParaRPr>
          </a:p>
          <a:p>
            <a:pPr>
              <a:buNone/>
            </a:pPr>
            <a:r>
              <a:rPr lang="en-US" b="1" dirty="0">
                <a:solidFill>
                  <a:schemeClr val="tx1">
                    <a:lumMod val="95000"/>
                    <a:lumOff val="5000"/>
                  </a:schemeClr>
                </a:solidFill>
              </a:rPr>
              <a:t>• The model helps organizations improve retention strategies, plan recruitment effectively, and make data-driven decisions, supported by visualizations and performance evaluation metrics.</a:t>
            </a:r>
          </a:p>
        </p:txBody>
      </p:sp>
    </p:spTree>
    <p:extLst>
      <p:ext uri="{BB962C8B-B14F-4D97-AF65-F5344CB8AC3E}">
        <p14:creationId xmlns:p14="http://schemas.microsoft.com/office/powerpoint/2010/main" val="9775322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954D14-0D16-84C6-F96B-6A02ED968D42}"/>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4AC332D3-6FA9-2DEB-24CB-E1B4FFC17DA0}"/>
              </a:ext>
            </a:extLst>
          </p:cNvPr>
          <p:cNvSpPr txBox="1"/>
          <p:nvPr/>
        </p:nvSpPr>
        <p:spPr>
          <a:xfrm>
            <a:off x="-12700" y="1281211"/>
            <a:ext cx="7122160" cy="307777"/>
          </a:xfrm>
          <a:prstGeom prst="rect">
            <a:avLst/>
          </a:prstGeom>
          <a:noFill/>
        </p:spPr>
        <p:txBody>
          <a:bodyPr wrap="square">
            <a:spAutoFit/>
          </a:bodyPr>
          <a:lstStyle/>
          <a:p>
            <a:endParaRPr lang="en-US" sz="1400" dirty="0"/>
          </a:p>
        </p:txBody>
      </p:sp>
      <p:sp>
        <p:nvSpPr>
          <p:cNvPr id="2" name="Rectangle 1">
            <a:extLst>
              <a:ext uri="{FF2B5EF4-FFF2-40B4-BE49-F238E27FC236}">
                <a16:creationId xmlns:a16="http://schemas.microsoft.com/office/drawing/2014/main" id="{BE31A604-120B-8E26-370B-C19777D784CD}"/>
              </a:ext>
            </a:extLst>
          </p:cNvPr>
          <p:cNvSpPr>
            <a:spLocks noChangeArrowheads="1"/>
          </p:cNvSpPr>
          <p:nvPr/>
        </p:nvSpPr>
        <p:spPr bwMode="auto">
          <a:xfrm flipV="1">
            <a:off x="9347200" y="0"/>
            <a:ext cx="2844800" cy="172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4" name="Rectangle 3">
            <a:extLst>
              <a:ext uri="{FF2B5EF4-FFF2-40B4-BE49-F238E27FC236}">
                <a16:creationId xmlns:a16="http://schemas.microsoft.com/office/drawing/2014/main" id="{5CCAB1AC-D122-01FD-ACFF-A4E219EA4D7D}"/>
              </a:ext>
            </a:extLst>
          </p:cNvPr>
          <p:cNvSpPr>
            <a:spLocks noChangeArrowheads="1"/>
          </p:cNvSpPr>
          <p:nvPr/>
        </p:nvSpPr>
        <p:spPr bwMode="auto">
          <a:xfrm flipV="1">
            <a:off x="8839200" y="0"/>
            <a:ext cx="3352800" cy="2072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6" name="Rectangle 5">
            <a:extLst>
              <a:ext uri="{FF2B5EF4-FFF2-40B4-BE49-F238E27FC236}">
                <a16:creationId xmlns:a16="http://schemas.microsoft.com/office/drawing/2014/main" id="{C05FD514-3FC1-242C-A039-A0E1191C9D6C}"/>
              </a:ext>
            </a:extLst>
          </p:cNvPr>
          <p:cNvSpPr>
            <a:spLocks noChangeArrowheads="1"/>
          </p:cNvSpPr>
          <p:nvPr/>
        </p:nvSpPr>
        <p:spPr bwMode="auto">
          <a:xfrm flipV="1">
            <a:off x="5405120" y="0"/>
            <a:ext cx="6786880" cy="2702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11" name="Freeform 2">
            <a:extLst>
              <a:ext uri="{FF2B5EF4-FFF2-40B4-BE49-F238E27FC236}">
                <a16:creationId xmlns:a16="http://schemas.microsoft.com/office/drawing/2014/main" id="{FAA07D9A-A69E-5E91-1A9A-F77C72B5573B}"/>
              </a:ext>
            </a:extLst>
          </p:cNvPr>
          <p:cNvSpPr/>
          <p:nvPr/>
        </p:nvSpPr>
        <p:spPr>
          <a:xfrm>
            <a:off x="263118" y="217353"/>
            <a:ext cx="5495985" cy="3894425"/>
          </a:xfrm>
          <a:custGeom>
            <a:avLst/>
            <a:gdLst/>
            <a:ahLst/>
            <a:cxnLst/>
            <a:rect l="l" t="t" r="r" b="b"/>
            <a:pathLst>
              <a:path w="6785710" h="3206248">
                <a:moveTo>
                  <a:pt x="0" y="0"/>
                </a:moveTo>
                <a:lnTo>
                  <a:pt x="6785710" y="0"/>
                </a:lnTo>
                <a:lnTo>
                  <a:pt x="6785710" y="3206248"/>
                </a:lnTo>
                <a:lnTo>
                  <a:pt x="0" y="320624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2" name="Freeform 16">
            <a:extLst>
              <a:ext uri="{FF2B5EF4-FFF2-40B4-BE49-F238E27FC236}">
                <a16:creationId xmlns:a16="http://schemas.microsoft.com/office/drawing/2014/main" id="{55F1F647-E420-9E92-57EE-457E61CE1D6F}"/>
              </a:ext>
            </a:extLst>
          </p:cNvPr>
          <p:cNvSpPr/>
          <p:nvPr/>
        </p:nvSpPr>
        <p:spPr>
          <a:xfrm>
            <a:off x="1153446" y="3254678"/>
            <a:ext cx="2794349" cy="3097374"/>
          </a:xfrm>
          <a:custGeom>
            <a:avLst/>
            <a:gdLst/>
            <a:ahLst/>
            <a:cxnLst/>
            <a:rect l="l" t="t" r="r" b="b"/>
            <a:pathLst>
              <a:path w="3447129" h="3835471">
                <a:moveTo>
                  <a:pt x="0" y="0"/>
                </a:moveTo>
                <a:lnTo>
                  <a:pt x="3447129" y="0"/>
                </a:lnTo>
                <a:lnTo>
                  <a:pt x="3447129" y="3835471"/>
                </a:lnTo>
                <a:lnTo>
                  <a:pt x="0" y="383547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6" name="Freeform 11">
            <a:extLst>
              <a:ext uri="{FF2B5EF4-FFF2-40B4-BE49-F238E27FC236}">
                <a16:creationId xmlns:a16="http://schemas.microsoft.com/office/drawing/2014/main" id="{E611003C-225A-9BBF-447E-93534F4FF33C}"/>
              </a:ext>
            </a:extLst>
          </p:cNvPr>
          <p:cNvSpPr/>
          <p:nvPr/>
        </p:nvSpPr>
        <p:spPr>
          <a:xfrm>
            <a:off x="7790818" y="3152202"/>
            <a:ext cx="2794349" cy="3302327"/>
          </a:xfrm>
          <a:custGeom>
            <a:avLst/>
            <a:gdLst/>
            <a:ahLst/>
            <a:cxnLst/>
            <a:rect l="l" t="t" r="r" b="b"/>
            <a:pathLst>
              <a:path w="3248193" h="4028767">
                <a:moveTo>
                  <a:pt x="0" y="0"/>
                </a:moveTo>
                <a:lnTo>
                  <a:pt x="3248193" y="0"/>
                </a:lnTo>
                <a:lnTo>
                  <a:pt x="3248193" y="4028767"/>
                </a:lnTo>
                <a:lnTo>
                  <a:pt x="0" y="402876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9" name="Freeform 6">
            <a:extLst>
              <a:ext uri="{FF2B5EF4-FFF2-40B4-BE49-F238E27FC236}">
                <a16:creationId xmlns:a16="http://schemas.microsoft.com/office/drawing/2014/main" id="{623D220F-B2FC-9D62-990D-85DC4850302B}"/>
              </a:ext>
            </a:extLst>
          </p:cNvPr>
          <p:cNvSpPr/>
          <p:nvPr/>
        </p:nvSpPr>
        <p:spPr>
          <a:xfrm flipH="1">
            <a:off x="6602726" y="261016"/>
            <a:ext cx="5495544" cy="3895344"/>
          </a:xfrm>
          <a:custGeom>
            <a:avLst/>
            <a:gdLst/>
            <a:ahLst/>
            <a:cxnLst/>
            <a:rect l="l" t="t" r="r" b="b"/>
            <a:pathLst>
              <a:path w="6598325" h="3117708">
                <a:moveTo>
                  <a:pt x="6598324" y="0"/>
                </a:moveTo>
                <a:lnTo>
                  <a:pt x="0" y="0"/>
                </a:lnTo>
                <a:lnTo>
                  <a:pt x="0" y="3117708"/>
                </a:lnTo>
                <a:lnTo>
                  <a:pt x="6598324" y="3117708"/>
                </a:lnTo>
                <a:lnTo>
                  <a:pt x="6598324"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pic>
        <p:nvPicPr>
          <p:cNvPr id="22" name="Picture 21">
            <a:extLst>
              <a:ext uri="{FF2B5EF4-FFF2-40B4-BE49-F238E27FC236}">
                <a16:creationId xmlns:a16="http://schemas.microsoft.com/office/drawing/2014/main" id="{695E4209-112C-F712-CD0A-519EAF91C0B3}"/>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a:xfrm>
            <a:off x="10304424" y="6370102"/>
            <a:ext cx="1785976" cy="462949"/>
          </a:xfrm>
          <a:prstGeom prst="rect">
            <a:avLst/>
          </a:prstGeom>
        </p:spPr>
      </p:pic>
      <p:sp>
        <p:nvSpPr>
          <p:cNvPr id="23" name="Rectangle 6">
            <a:extLst>
              <a:ext uri="{FF2B5EF4-FFF2-40B4-BE49-F238E27FC236}">
                <a16:creationId xmlns:a16="http://schemas.microsoft.com/office/drawing/2014/main" id="{E2D81E01-0A0F-CB07-BF00-5E9A9741404C}"/>
              </a:ext>
            </a:extLst>
          </p:cNvPr>
          <p:cNvSpPr>
            <a:spLocks noChangeArrowheads="1"/>
          </p:cNvSpPr>
          <p:nvPr/>
        </p:nvSpPr>
        <p:spPr bwMode="auto">
          <a:xfrm rot="10800000" flipV="1">
            <a:off x="377473" y="996011"/>
            <a:ext cx="5180047"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accent2">
                    <a:lumMod val="50000"/>
                  </a:schemeClr>
                </a:solidFill>
                <a:effectLst/>
                <a:latin typeface="Times New Roman" panose="02020603050405020304" pitchFamily="18" charset="0"/>
                <a:cs typeface="Times New Roman" panose="02020603050405020304" pitchFamily="18" charset="0"/>
              </a:rPr>
              <a:t>Employee Risk Stratification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1" i="1" u="none" strike="noStrike" cap="none" normalizeH="0" baseline="0" dirty="0">
                <a:ln>
                  <a:noFill/>
                </a:ln>
                <a:solidFill>
                  <a:schemeClr val="accent1"/>
                </a:solidFill>
                <a:effectLst/>
                <a:latin typeface="Times New Roman" panose="02020603050405020304" pitchFamily="18" charset="0"/>
                <a:cs typeface="Times New Roman" panose="02020603050405020304" pitchFamily="18" charset="0"/>
              </a:rPr>
              <a:t>High-Risk Employee Identification</a:t>
            </a:r>
            <a:endParaRPr kumimoji="0" lang="en-US" altLang="en-US" sz="1800" b="1" i="0" u="none" strike="noStrike" cap="none" normalizeH="0" baseline="0" dirty="0">
              <a:ln>
                <a:noFill/>
              </a:ln>
              <a:solidFill>
                <a:schemeClr val="accent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u="none" strike="noStrike" cap="none" normalizeH="0" baseline="0" dirty="0">
                <a:ln>
                  <a:noFill/>
                </a:ln>
                <a:solidFill>
                  <a:schemeClr val="accent6">
                    <a:lumMod val="50000"/>
                  </a:schemeClr>
                </a:solidFill>
                <a:effectLst/>
                <a:latin typeface="Times New Roman" panose="02020603050405020304" pitchFamily="18" charset="0"/>
                <a:cs typeface="Times New Roman" panose="02020603050405020304" pitchFamily="18" charset="0"/>
              </a:rPr>
              <a:t>Comparing Machine Learning Algorithms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1" i="1" u="none" strike="noStrike" cap="none" normalizeH="0" baseline="0" dirty="0">
                <a:ln>
                  <a:noFill/>
                </a:ln>
                <a:solidFill>
                  <a:srgbClr val="00B050"/>
                </a:solidFill>
                <a:effectLst/>
                <a:latin typeface="Times New Roman" panose="02020603050405020304" pitchFamily="18" charset="0"/>
                <a:cs typeface="Times New Roman" panose="02020603050405020304" pitchFamily="18" charset="0"/>
              </a:rPr>
              <a:t>Model Performance Comparison</a:t>
            </a:r>
            <a:endParaRPr kumimoji="0" lang="en-US" altLang="en-US" sz="1800" b="1" i="0" u="none" strike="noStrike" cap="none" normalizeH="0" baseline="0" dirty="0">
              <a:ln>
                <a:noFill/>
              </a:ln>
              <a:solidFill>
                <a:srgbClr val="00B05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Real-Time Monitoring </a:t>
            </a:r>
            <a:r>
              <a:rPr kumimoji="0" lang="en-US" altLang="en-US" sz="1800" b="1" i="1" u="none" strike="noStrike" cap="none" normalizeH="0" baseline="0" dirty="0">
                <a:ln>
                  <a:noFill/>
                </a:ln>
                <a:solidFill>
                  <a:schemeClr val="accent2"/>
                </a:solidFill>
                <a:effectLst/>
                <a:latin typeface="Times New Roman" panose="02020603050405020304" pitchFamily="18" charset="0"/>
                <a:cs typeface="Times New Roman" panose="02020603050405020304" pitchFamily="18" charset="0"/>
              </a:rPr>
              <a:t>→ Continuous Employee Behavior Tracking</a:t>
            </a:r>
          </a:p>
        </p:txBody>
      </p:sp>
      <p:sp>
        <p:nvSpPr>
          <p:cNvPr id="25" name="TextBox 24">
            <a:extLst>
              <a:ext uri="{FF2B5EF4-FFF2-40B4-BE49-F238E27FC236}">
                <a16:creationId xmlns:a16="http://schemas.microsoft.com/office/drawing/2014/main" id="{F2F29A0E-775B-5E45-9719-5DD1CE8A77C3}"/>
              </a:ext>
            </a:extLst>
          </p:cNvPr>
          <p:cNvSpPr txBox="1"/>
          <p:nvPr/>
        </p:nvSpPr>
        <p:spPr>
          <a:xfrm>
            <a:off x="1321146" y="489898"/>
            <a:ext cx="3173732" cy="369332"/>
          </a:xfrm>
          <a:prstGeom prst="rect">
            <a:avLst/>
          </a:prstGeom>
          <a:noFill/>
        </p:spPr>
        <p:txBody>
          <a:bodyPr wrap="square">
            <a:spAutoFit/>
          </a:bodyPr>
          <a:lstStyle/>
          <a:p>
            <a:r>
              <a:rPr lang="en-US" b="1" dirty="0">
                <a:ln w="0"/>
                <a:effectLst>
                  <a:outerShdw blurRad="38100" dist="19050" dir="2700000" algn="tl" rotWithShape="0">
                    <a:schemeClr val="dk1">
                      <a:alpha val="40000"/>
                    </a:schemeClr>
                  </a:outerShdw>
                </a:effectLst>
                <a:latin typeface="ADLaM Display" panose="02010000000000000000" pitchFamily="2" charset="0"/>
                <a:ea typeface="ADLaM Display" panose="02010000000000000000" pitchFamily="2" charset="0"/>
                <a:cs typeface="ADLaM Display" panose="02010000000000000000" pitchFamily="2" charset="0"/>
              </a:rPr>
              <a:t>OBJECTIVE OF THE STUDY </a:t>
            </a:r>
          </a:p>
        </p:txBody>
      </p:sp>
      <p:sp>
        <p:nvSpPr>
          <p:cNvPr id="28" name="Rectangle 7">
            <a:extLst>
              <a:ext uri="{FF2B5EF4-FFF2-40B4-BE49-F238E27FC236}">
                <a16:creationId xmlns:a16="http://schemas.microsoft.com/office/drawing/2014/main" id="{1202946B-B36C-ACC4-BCEA-655DE020ECF8}"/>
              </a:ext>
            </a:extLst>
          </p:cNvPr>
          <p:cNvSpPr>
            <a:spLocks noChangeArrowheads="1"/>
          </p:cNvSpPr>
          <p:nvPr/>
        </p:nvSpPr>
        <p:spPr bwMode="auto">
          <a:xfrm rot="10800000" flipV="1">
            <a:off x="6877340" y="996010"/>
            <a:ext cx="4937187"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C00000"/>
                </a:solidFill>
                <a:effectLst/>
                <a:latin typeface="Times New Roman" panose="02020603050405020304" pitchFamily="18" charset="0"/>
                <a:cs typeface="Times New Roman" panose="02020603050405020304" pitchFamily="18" charset="0"/>
              </a:rPr>
              <a:t>Early Detection and Prevention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1" i="1" u="none" strike="noStrike" cap="none" normalizeH="0" baseline="0" dirty="0">
                <a:ln>
                  <a:noFill/>
                </a:ln>
                <a:solidFill>
                  <a:srgbClr val="00B050"/>
                </a:solidFill>
                <a:effectLst/>
                <a:latin typeface="Times New Roman" panose="02020603050405020304" pitchFamily="18" charset="0"/>
                <a:cs typeface="Times New Roman" panose="02020603050405020304" pitchFamily="18" charset="0"/>
              </a:rPr>
              <a:t>Proactive Attrition Prevention</a:t>
            </a:r>
            <a:endParaRPr kumimoji="0" lang="en-US" altLang="en-US" sz="1800" b="1" i="0" u="none" strike="noStrike" cap="none" normalizeH="0" baseline="0" dirty="0">
              <a:ln>
                <a:noFill/>
              </a:ln>
              <a:solidFill>
                <a:srgbClr val="00B05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7030A0"/>
                </a:solidFill>
                <a:effectLst/>
                <a:latin typeface="Times New Roman" panose="02020603050405020304" pitchFamily="18" charset="0"/>
                <a:cs typeface="Times New Roman" panose="02020603050405020304" pitchFamily="18" charset="0"/>
              </a:rPr>
              <a:t>Improved Employee Satisfaction and Retention</a:t>
            </a:r>
            <a:r>
              <a:rPr kumimoji="0" lang="en-US" altLang="en-US" sz="1800" i="0" u="none" strike="noStrike" cap="none" normalizeH="0" baseline="0" dirty="0">
                <a:ln>
                  <a:noFill/>
                </a:ln>
                <a:solidFill>
                  <a:srgbClr val="7030A0"/>
                </a:solidFill>
                <a:effectLst/>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1" i="1"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Enhanced Employee Engagement &amp; Retention</a:t>
            </a:r>
            <a:endParaRPr kumimoji="0" lang="en-US" altLang="en-US" sz="18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accent4">
                    <a:lumMod val="50000"/>
                  </a:schemeClr>
                </a:solidFill>
                <a:effectLst/>
                <a:latin typeface="Times New Roman" panose="02020603050405020304" pitchFamily="18" charset="0"/>
                <a:cs typeface="Times New Roman" panose="02020603050405020304" pitchFamily="18" charset="0"/>
              </a:rPr>
              <a:t>Organizational Growth and Stability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1" i="1" u="none" strike="noStrike" cap="none" normalizeH="0" baseline="0" dirty="0">
                <a:ln>
                  <a:noFill/>
                </a:ln>
                <a:solidFill>
                  <a:srgbClr val="1C1A55"/>
                </a:solidFill>
                <a:effectLst/>
                <a:latin typeface="Times New Roman" panose="02020603050405020304" pitchFamily="18" charset="0"/>
                <a:cs typeface="Times New Roman" panose="02020603050405020304" pitchFamily="18" charset="0"/>
              </a:rPr>
              <a:t>Sustainable Workforce Growth</a:t>
            </a:r>
            <a:endParaRPr kumimoji="0" lang="en-US" altLang="en-US" sz="1800" b="1" i="0" u="none" strike="noStrike" cap="none" normalizeH="0" baseline="0" dirty="0">
              <a:ln>
                <a:noFill/>
              </a:ln>
              <a:solidFill>
                <a:srgbClr val="1C1A55"/>
              </a:solidFill>
              <a:effectLst/>
              <a:latin typeface="Times New Roman" panose="02020603050405020304" pitchFamily="18" charset="0"/>
              <a:cs typeface="Times New Roman" panose="02020603050405020304" pitchFamily="18" charset="0"/>
            </a:endParaRPr>
          </a:p>
        </p:txBody>
      </p:sp>
      <p:sp>
        <p:nvSpPr>
          <p:cNvPr id="30" name="TextBox 29">
            <a:extLst>
              <a:ext uri="{FF2B5EF4-FFF2-40B4-BE49-F238E27FC236}">
                <a16:creationId xmlns:a16="http://schemas.microsoft.com/office/drawing/2014/main" id="{FCB0443E-86BE-C2A8-216D-86F81B179A3D}"/>
              </a:ext>
            </a:extLst>
          </p:cNvPr>
          <p:cNvSpPr txBox="1"/>
          <p:nvPr/>
        </p:nvSpPr>
        <p:spPr>
          <a:xfrm>
            <a:off x="7902227" y="403471"/>
            <a:ext cx="2682940" cy="369332"/>
          </a:xfrm>
          <a:prstGeom prst="rect">
            <a:avLst/>
          </a:prstGeom>
          <a:noFill/>
        </p:spPr>
        <p:txBody>
          <a:bodyPr wrap="square">
            <a:spAutoFit/>
          </a:bodyPr>
          <a:lstStyle/>
          <a:p>
            <a:r>
              <a:rPr lang="en-US" b="1" dirty="0">
                <a:ln w="0"/>
                <a:effectLst>
                  <a:outerShdw blurRad="38100" dist="19050" dir="2700000" algn="tl" rotWithShape="0">
                    <a:schemeClr val="dk1">
                      <a:alpha val="40000"/>
                    </a:schemeClr>
                  </a:outerShdw>
                </a:effectLst>
                <a:latin typeface="ADLaM Display" panose="02010000000000000000" pitchFamily="2" charset="0"/>
                <a:ea typeface="ADLaM Display" panose="02010000000000000000" pitchFamily="2" charset="0"/>
                <a:cs typeface="ADLaM Display" panose="02010000000000000000" pitchFamily="2" charset="0"/>
              </a:rPr>
              <a:t>VALUE OF THE STUDY</a:t>
            </a:r>
          </a:p>
        </p:txBody>
      </p:sp>
    </p:spTree>
    <p:extLst>
      <p:ext uri="{BB962C8B-B14F-4D97-AF65-F5344CB8AC3E}">
        <p14:creationId xmlns:p14="http://schemas.microsoft.com/office/powerpoint/2010/main" val="313976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Freeform 3">
            <a:extLst>
              <a:ext uri="{FF2B5EF4-FFF2-40B4-BE49-F238E27FC236}">
                <a16:creationId xmlns:a16="http://schemas.microsoft.com/office/drawing/2014/main" id="{3335506E-A13C-1E9A-7B66-5A5983029B10}"/>
              </a:ext>
            </a:extLst>
          </p:cNvPr>
          <p:cNvSpPr/>
          <p:nvPr/>
        </p:nvSpPr>
        <p:spPr>
          <a:xfrm>
            <a:off x="3741683" y="481595"/>
            <a:ext cx="4130565" cy="3653395"/>
          </a:xfrm>
          <a:custGeom>
            <a:avLst/>
            <a:gdLst/>
            <a:ahLst/>
            <a:cxnLst/>
            <a:rect l="l" t="t" r="r" b="b"/>
            <a:pathLst>
              <a:path w="4996862" h="4033830">
                <a:moveTo>
                  <a:pt x="0" y="0"/>
                </a:moveTo>
                <a:lnTo>
                  <a:pt x="4996862" y="0"/>
                </a:lnTo>
                <a:lnTo>
                  <a:pt x="4996862" y="4033830"/>
                </a:lnTo>
                <a:lnTo>
                  <a:pt x="0" y="40338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42" name="Freeform 2">
            <a:extLst>
              <a:ext uri="{FF2B5EF4-FFF2-40B4-BE49-F238E27FC236}">
                <a16:creationId xmlns:a16="http://schemas.microsoft.com/office/drawing/2014/main" id="{C2622502-B6A2-5400-CC67-A07EE64DB3C5}"/>
              </a:ext>
            </a:extLst>
          </p:cNvPr>
          <p:cNvSpPr/>
          <p:nvPr/>
        </p:nvSpPr>
        <p:spPr>
          <a:xfrm>
            <a:off x="3741683" y="3312005"/>
            <a:ext cx="4130565" cy="3545995"/>
          </a:xfrm>
          <a:custGeom>
            <a:avLst/>
            <a:gdLst/>
            <a:ahLst/>
            <a:cxnLst/>
            <a:rect l="l" t="t" r="r" b="b"/>
            <a:pathLst>
              <a:path w="4996862" h="4033830">
                <a:moveTo>
                  <a:pt x="0" y="0"/>
                </a:moveTo>
                <a:lnTo>
                  <a:pt x="4996862" y="0"/>
                </a:lnTo>
                <a:lnTo>
                  <a:pt x="4996862" y="4033830"/>
                </a:lnTo>
                <a:lnTo>
                  <a:pt x="0" y="40338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48" name="TextBox 23">
            <a:extLst>
              <a:ext uri="{FF2B5EF4-FFF2-40B4-BE49-F238E27FC236}">
                <a16:creationId xmlns:a16="http://schemas.microsoft.com/office/drawing/2014/main" id="{1548881B-3C29-A4BF-37FB-1D0E7258DFEA}"/>
              </a:ext>
            </a:extLst>
          </p:cNvPr>
          <p:cNvSpPr txBox="1"/>
          <p:nvPr/>
        </p:nvSpPr>
        <p:spPr>
          <a:xfrm>
            <a:off x="3951889" y="5270864"/>
            <a:ext cx="697279" cy="589777"/>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a:lnSpc>
                <a:spcPts val="4900"/>
              </a:lnSpc>
              <a:spcBef>
                <a:spcPct val="0"/>
              </a:spcBef>
            </a:pPr>
            <a:r>
              <a:rPr lang="en-US" sz="3500" b="1" u="none" dirty="0">
                <a:solidFill>
                  <a:srgbClr val="000000"/>
                </a:solidFill>
                <a:latin typeface="DM Sans Bold"/>
                <a:ea typeface="DM Sans Bold"/>
                <a:cs typeface="Times New Roman" panose="02020603050405020304" pitchFamily="18" charset="0"/>
                <a:sym typeface="DM Sans Bold"/>
              </a:rPr>
              <a:t>0 2</a:t>
            </a:r>
          </a:p>
        </p:txBody>
      </p:sp>
      <p:sp>
        <p:nvSpPr>
          <p:cNvPr id="149" name="TextBox 23">
            <a:extLst>
              <a:ext uri="{FF2B5EF4-FFF2-40B4-BE49-F238E27FC236}">
                <a16:creationId xmlns:a16="http://schemas.microsoft.com/office/drawing/2014/main" id="{5FA773EA-1A8E-D18B-A248-C8C7E1724FBB}"/>
              </a:ext>
            </a:extLst>
          </p:cNvPr>
          <p:cNvSpPr txBox="1"/>
          <p:nvPr/>
        </p:nvSpPr>
        <p:spPr>
          <a:xfrm>
            <a:off x="6768662" y="5948855"/>
            <a:ext cx="917997" cy="589777"/>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a:lnSpc>
                <a:spcPts val="4900"/>
              </a:lnSpc>
              <a:spcBef>
                <a:spcPct val="0"/>
              </a:spcBef>
            </a:pPr>
            <a:r>
              <a:rPr lang="en-US" sz="3500" b="1" u="none" dirty="0">
                <a:solidFill>
                  <a:srgbClr val="000000"/>
                </a:solidFill>
                <a:latin typeface="DM Sans Bold"/>
                <a:ea typeface="DM Sans Bold"/>
                <a:cs typeface="Times New Roman" panose="02020603050405020304" pitchFamily="18" charset="0"/>
                <a:sym typeface="DM Sans Bold"/>
              </a:rPr>
              <a:t>0 </a:t>
            </a:r>
            <a:r>
              <a:rPr lang="en-US" sz="3500" b="1" dirty="0">
                <a:solidFill>
                  <a:srgbClr val="000000"/>
                </a:solidFill>
                <a:latin typeface="DM Sans Bold"/>
                <a:ea typeface="DM Sans Bold"/>
                <a:cs typeface="Times New Roman" panose="02020603050405020304" pitchFamily="18" charset="0"/>
                <a:sym typeface="DM Sans Bold"/>
              </a:rPr>
              <a:t>1</a:t>
            </a:r>
            <a:endParaRPr lang="en-US" sz="3500" b="1" u="none" dirty="0">
              <a:solidFill>
                <a:srgbClr val="000000"/>
              </a:solidFill>
              <a:latin typeface="DM Sans Bold"/>
              <a:ea typeface="DM Sans Bold"/>
              <a:cs typeface="Times New Roman" panose="02020603050405020304" pitchFamily="18" charset="0"/>
              <a:sym typeface="DM Sans Bold"/>
            </a:endParaRPr>
          </a:p>
        </p:txBody>
      </p:sp>
      <p:sp>
        <p:nvSpPr>
          <p:cNvPr id="150" name="TextBox 23">
            <a:extLst>
              <a:ext uri="{FF2B5EF4-FFF2-40B4-BE49-F238E27FC236}">
                <a16:creationId xmlns:a16="http://schemas.microsoft.com/office/drawing/2014/main" id="{0B2ECAB3-1EA9-7F21-B8DD-8E1DB5BE936C}"/>
              </a:ext>
            </a:extLst>
          </p:cNvPr>
          <p:cNvSpPr txBox="1"/>
          <p:nvPr/>
        </p:nvSpPr>
        <p:spPr>
          <a:xfrm>
            <a:off x="6879018" y="4541570"/>
            <a:ext cx="697279" cy="589777"/>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a:lnSpc>
                <a:spcPts val="4900"/>
              </a:lnSpc>
              <a:spcBef>
                <a:spcPct val="0"/>
              </a:spcBef>
            </a:pPr>
            <a:r>
              <a:rPr lang="en-US" sz="3500" b="1" u="none" dirty="0">
                <a:solidFill>
                  <a:srgbClr val="000000"/>
                </a:solidFill>
                <a:latin typeface="DM Sans Bold"/>
                <a:ea typeface="DM Sans Bold"/>
                <a:cs typeface="Times New Roman" panose="02020603050405020304" pitchFamily="18" charset="0"/>
                <a:sym typeface="DM Sans Bold"/>
              </a:rPr>
              <a:t>0 </a:t>
            </a:r>
            <a:r>
              <a:rPr lang="en-US" sz="3500" b="1" dirty="0">
                <a:solidFill>
                  <a:srgbClr val="000000"/>
                </a:solidFill>
                <a:latin typeface="DM Sans Bold"/>
                <a:ea typeface="DM Sans Bold"/>
                <a:cs typeface="Times New Roman" panose="02020603050405020304" pitchFamily="18" charset="0"/>
                <a:sym typeface="DM Sans Bold"/>
              </a:rPr>
              <a:t>3</a:t>
            </a:r>
            <a:endParaRPr lang="en-US" sz="3500" b="1" u="none" dirty="0">
              <a:solidFill>
                <a:srgbClr val="000000"/>
              </a:solidFill>
              <a:latin typeface="DM Sans Bold"/>
              <a:ea typeface="DM Sans Bold"/>
              <a:cs typeface="Times New Roman" panose="02020603050405020304" pitchFamily="18" charset="0"/>
              <a:sym typeface="DM Sans Bold"/>
            </a:endParaRPr>
          </a:p>
        </p:txBody>
      </p:sp>
      <p:sp>
        <p:nvSpPr>
          <p:cNvPr id="151" name="TextBox 23">
            <a:extLst>
              <a:ext uri="{FF2B5EF4-FFF2-40B4-BE49-F238E27FC236}">
                <a16:creationId xmlns:a16="http://schemas.microsoft.com/office/drawing/2014/main" id="{25982F77-65C1-0147-77C6-4E634B91C866}"/>
              </a:ext>
            </a:extLst>
          </p:cNvPr>
          <p:cNvSpPr txBox="1"/>
          <p:nvPr/>
        </p:nvSpPr>
        <p:spPr>
          <a:xfrm>
            <a:off x="3741683" y="3865212"/>
            <a:ext cx="1221070" cy="599523"/>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a:lnSpc>
                <a:spcPts val="4900"/>
              </a:lnSpc>
              <a:spcBef>
                <a:spcPct val="0"/>
              </a:spcBef>
            </a:pPr>
            <a:r>
              <a:rPr lang="en-US" sz="3500" b="1" u="none" dirty="0">
                <a:solidFill>
                  <a:srgbClr val="000000"/>
                </a:solidFill>
                <a:latin typeface="DM Sans Bold"/>
                <a:ea typeface="DM Sans Bold"/>
                <a:cs typeface="Times New Roman" panose="02020603050405020304" pitchFamily="18" charset="0"/>
                <a:sym typeface="DM Sans Bold"/>
              </a:rPr>
              <a:t>0 </a:t>
            </a:r>
            <a:r>
              <a:rPr lang="en-US" sz="3500" b="1" dirty="0">
                <a:solidFill>
                  <a:srgbClr val="000000"/>
                </a:solidFill>
                <a:latin typeface="DM Sans Bold"/>
                <a:ea typeface="DM Sans Bold"/>
                <a:cs typeface="Times New Roman" panose="02020603050405020304" pitchFamily="18" charset="0"/>
                <a:sym typeface="DM Sans Bold"/>
              </a:rPr>
              <a:t>4</a:t>
            </a:r>
            <a:endParaRPr lang="en-US" sz="3500" b="1" u="none" dirty="0">
              <a:solidFill>
                <a:srgbClr val="000000"/>
              </a:solidFill>
              <a:latin typeface="DM Sans Bold"/>
              <a:ea typeface="DM Sans Bold"/>
              <a:cs typeface="Times New Roman" panose="02020603050405020304" pitchFamily="18" charset="0"/>
              <a:sym typeface="DM Sans Bold"/>
            </a:endParaRPr>
          </a:p>
        </p:txBody>
      </p:sp>
      <p:sp>
        <p:nvSpPr>
          <p:cNvPr id="152" name="TextBox 14">
            <a:extLst>
              <a:ext uri="{FF2B5EF4-FFF2-40B4-BE49-F238E27FC236}">
                <a16:creationId xmlns:a16="http://schemas.microsoft.com/office/drawing/2014/main" id="{A2036250-C3B1-7873-EBAE-FD236FCE31AA}"/>
              </a:ext>
            </a:extLst>
          </p:cNvPr>
          <p:cNvSpPr txBox="1"/>
          <p:nvPr/>
        </p:nvSpPr>
        <p:spPr>
          <a:xfrm>
            <a:off x="6768661" y="3184634"/>
            <a:ext cx="917997" cy="589777"/>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a:lnSpc>
                <a:spcPts val="4900"/>
              </a:lnSpc>
              <a:spcBef>
                <a:spcPct val="0"/>
              </a:spcBef>
            </a:pPr>
            <a:r>
              <a:rPr lang="en-US" sz="3500" b="1" u="none" dirty="0">
                <a:solidFill>
                  <a:srgbClr val="000000"/>
                </a:solidFill>
                <a:latin typeface="DM Sans Bold"/>
                <a:ea typeface="DM Sans Bold"/>
                <a:cs typeface="Times New Roman" panose="02020603050405020304" pitchFamily="18" charset="0"/>
                <a:sym typeface="DM Sans Bold"/>
              </a:rPr>
              <a:t>0 5</a:t>
            </a:r>
          </a:p>
        </p:txBody>
      </p:sp>
      <p:sp>
        <p:nvSpPr>
          <p:cNvPr id="153" name="TextBox 14">
            <a:extLst>
              <a:ext uri="{FF2B5EF4-FFF2-40B4-BE49-F238E27FC236}">
                <a16:creationId xmlns:a16="http://schemas.microsoft.com/office/drawing/2014/main" id="{3691F8F2-BE0B-17EE-B1B2-43D4745F9C64}"/>
              </a:ext>
            </a:extLst>
          </p:cNvPr>
          <p:cNvSpPr txBox="1"/>
          <p:nvPr/>
        </p:nvSpPr>
        <p:spPr>
          <a:xfrm>
            <a:off x="3754739" y="2435556"/>
            <a:ext cx="1091576" cy="58737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a:lnSpc>
                <a:spcPts val="4900"/>
              </a:lnSpc>
              <a:spcBef>
                <a:spcPct val="0"/>
              </a:spcBef>
            </a:pPr>
            <a:r>
              <a:rPr lang="en-US" sz="3500" b="1" u="none" dirty="0">
                <a:solidFill>
                  <a:srgbClr val="000000"/>
                </a:solidFill>
                <a:latin typeface="DM Sans Bold"/>
                <a:ea typeface="DM Sans Bold"/>
                <a:cs typeface="Times New Roman" panose="02020603050405020304" pitchFamily="18" charset="0"/>
                <a:sym typeface="DM Sans Bold"/>
              </a:rPr>
              <a:t>0 </a:t>
            </a:r>
            <a:r>
              <a:rPr lang="en-US" sz="3500" b="1" dirty="0">
                <a:solidFill>
                  <a:srgbClr val="000000"/>
                </a:solidFill>
                <a:latin typeface="DM Sans Bold"/>
                <a:ea typeface="DM Sans Bold"/>
                <a:cs typeface="Times New Roman" panose="02020603050405020304" pitchFamily="18" charset="0"/>
                <a:sym typeface="DM Sans Bold"/>
              </a:rPr>
              <a:t>6</a:t>
            </a:r>
            <a:endParaRPr lang="en-US" sz="3500" b="1" u="none" dirty="0">
              <a:solidFill>
                <a:srgbClr val="000000"/>
              </a:solidFill>
              <a:latin typeface="DM Sans Bold"/>
              <a:ea typeface="DM Sans Bold"/>
              <a:cs typeface="Times New Roman" panose="02020603050405020304" pitchFamily="18" charset="0"/>
              <a:sym typeface="DM Sans Bold"/>
            </a:endParaRPr>
          </a:p>
        </p:txBody>
      </p:sp>
      <p:sp>
        <p:nvSpPr>
          <p:cNvPr id="154" name="TextBox 14">
            <a:extLst>
              <a:ext uri="{FF2B5EF4-FFF2-40B4-BE49-F238E27FC236}">
                <a16:creationId xmlns:a16="http://schemas.microsoft.com/office/drawing/2014/main" id="{7EF3915D-5D58-5790-1439-B3BF70F42127}"/>
              </a:ext>
            </a:extLst>
          </p:cNvPr>
          <p:cNvSpPr txBox="1"/>
          <p:nvPr/>
        </p:nvSpPr>
        <p:spPr>
          <a:xfrm>
            <a:off x="6681871" y="1733406"/>
            <a:ext cx="1091576" cy="58737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a:lnSpc>
                <a:spcPts val="4900"/>
              </a:lnSpc>
              <a:spcBef>
                <a:spcPct val="0"/>
              </a:spcBef>
            </a:pPr>
            <a:r>
              <a:rPr lang="en-US" sz="3500" b="1" u="none" dirty="0">
                <a:solidFill>
                  <a:srgbClr val="000000"/>
                </a:solidFill>
                <a:latin typeface="DM Sans Bold"/>
                <a:ea typeface="DM Sans Bold"/>
                <a:cs typeface="Times New Roman" panose="02020603050405020304" pitchFamily="18" charset="0"/>
                <a:sym typeface="DM Sans Bold"/>
              </a:rPr>
              <a:t>0 </a:t>
            </a:r>
            <a:r>
              <a:rPr lang="en-US" sz="3500" b="1" dirty="0">
                <a:solidFill>
                  <a:srgbClr val="000000"/>
                </a:solidFill>
                <a:latin typeface="DM Sans Bold"/>
                <a:ea typeface="DM Sans Bold"/>
                <a:cs typeface="Times New Roman" panose="02020603050405020304" pitchFamily="18" charset="0"/>
                <a:sym typeface="DM Sans Bold"/>
              </a:rPr>
              <a:t>7</a:t>
            </a:r>
            <a:endParaRPr lang="en-US" sz="3500" b="1" u="none" dirty="0">
              <a:solidFill>
                <a:srgbClr val="000000"/>
              </a:solidFill>
              <a:latin typeface="DM Sans Bold"/>
              <a:ea typeface="DM Sans Bold"/>
              <a:cs typeface="Times New Roman" panose="02020603050405020304" pitchFamily="18" charset="0"/>
              <a:sym typeface="DM Sans Bold"/>
            </a:endParaRPr>
          </a:p>
        </p:txBody>
      </p:sp>
      <p:sp>
        <p:nvSpPr>
          <p:cNvPr id="155" name="TextBox 14">
            <a:extLst>
              <a:ext uri="{FF2B5EF4-FFF2-40B4-BE49-F238E27FC236}">
                <a16:creationId xmlns:a16="http://schemas.microsoft.com/office/drawing/2014/main" id="{20560563-D679-6187-403C-A0EA5048F5F2}"/>
              </a:ext>
            </a:extLst>
          </p:cNvPr>
          <p:cNvSpPr txBox="1"/>
          <p:nvPr/>
        </p:nvSpPr>
        <p:spPr>
          <a:xfrm>
            <a:off x="3754739" y="1017873"/>
            <a:ext cx="1091576" cy="58737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a:lnSpc>
                <a:spcPts val="4900"/>
              </a:lnSpc>
              <a:spcBef>
                <a:spcPct val="0"/>
              </a:spcBef>
            </a:pPr>
            <a:r>
              <a:rPr lang="en-US" sz="3500" b="1" u="none" dirty="0">
                <a:solidFill>
                  <a:srgbClr val="000000"/>
                </a:solidFill>
                <a:latin typeface="DM Sans Bold"/>
                <a:ea typeface="DM Sans Bold"/>
                <a:cs typeface="Times New Roman" panose="02020603050405020304" pitchFamily="18" charset="0"/>
                <a:sym typeface="DM Sans Bold"/>
              </a:rPr>
              <a:t>0 8</a:t>
            </a:r>
          </a:p>
        </p:txBody>
      </p:sp>
      <p:sp>
        <p:nvSpPr>
          <p:cNvPr id="156" name="TextBox 28">
            <a:extLst>
              <a:ext uri="{FF2B5EF4-FFF2-40B4-BE49-F238E27FC236}">
                <a16:creationId xmlns:a16="http://schemas.microsoft.com/office/drawing/2014/main" id="{CE711BA8-E045-7A09-B2EC-202A94740C49}"/>
              </a:ext>
            </a:extLst>
          </p:cNvPr>
          <p:cNvSpPr txBox="1"/>
          <p:nvPr/>
        </p:nvSpPr>
        <p:spPr>
          <a:xfrm>
            <a:off x="6681871" y="5426969"/>
            <a:ext cx="1091576" cy="385618"/>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220"/>
              </a:lnSpc>
              <a:spcBef>
                <a:spcPct val="0"/>
              </a:spcBef>
            </a:pPr>
            <a:r>
              <a:rPr lang="en-US" sz="2300" b="1" dirty="0">
                <a:solidFill>
                  <a:srgbClr val="000000"/>
                </a:solidFill>
                <a:latin typeface="DM Sans Bold"/>
                <a:ea typeface="DM Sans Bold"/>
                <a:cs typeface="Times New Roman" panose="02020603050405020304" pitchFamily="18" charset="0"/>
                <a:sym typeface="DM Sans Bold"/>
              </a:rPr>
              <a:t>STEP</a:t>
            </a:r>
          </a:p>
        </p:txBody>
      </p:sp>
      <p:sp>
        <p:nvSpPr>
          <p:cNvPr id="158" name="TextBox 157">
            <a:extLst>
              <a:ext uri="{FF2B5EF4-FFF2-40B4-BE49-F238E27FC236}">
                <a16:creationId xmlns:a16="http://schemas.microsoft.com/office/drawing/2014/main" id="{D78C3611-B311-26FB-8BDC-4CE10C8D5BE6}"/>
              </a:ext>
            </a:extLst>
          </p:cNvPr>
          <p:cNvSpPr txBox="1"/>
          <p:nvPr/>
        </p:nvSpPr>
        <p:spPr>
          <a:xfrm>
            <a:off x="3951888" y="4784527"/>
            <a:ext cx="894427" cy="446276"/>
          </a:xfrm>
          <a:prstGeom prst="rect">
            <a:avLst/>
          </a:prstGeom>
          <a:noFill/>
        </p:spPr>
        <p:txBody>
          <a:bodyPr wrap="square">
            <a:spAutoFit/>
          </a:bodyPr>
          <a:lstStyle/>
          <a:p>
            <a:r>
              <a:rPr lang="en-US" sz="2300" b="1" dirty="0">
                <a:solidFill>
                  <a:srgbClr val="000000"/>
                </a:solidFill>
                <a:latin typeface="DM Sans Bold"/>
                <a:ea typeface="DM Sans Bold"/>
                <a:cs typeface="Times New Roman" panose="02020603050405020304" pitchFamily="18" charset="0"/>
                <a:sym typeface="DM Sans Bold"/>
              </a:rPr>
              <a:t>STEP</a:t>
            </a:r>
            <a:endParaRPr lang="en-US" sz="2300" dirty="0"/>
          </a:p>
        </p:txBody>
      </p:sp>
      <p:sp>
        <p:nvSpPr>
          <p:cNvPr id="159" name="TextBox 158">
            <a:extLst>
              <a:ext uri="{FF2B5EF4-FFF2-40B4-BE49-F238E27FC236}">
                <a16:creationId xmlns:a16="http://schemas.microsoft.com/office/drawing/2014/main" id="{FFDE7B24-74B9-22BE-6B72-F3D3ED73DC49}"/>
              </a:ext>
            </a:extLst>
          </p:cNvPr>
          <p:cNvSpPr txBox="1"/>
          <p:nvPr/>
        </p:nvSpPr>
        <p:spPr>
          <a:xfrm>
            <a:off x="6780445" y="4073979"/>
            <a:ext cx="894427" cy="446276"/>
          </a:xfrm>
          <a:prstGeom prst="rect">
            <a:avLst/>
          </a:prstGeom>
          <a:noFill/>
        </p:spPr>
        <p:txBody>
          <a:bodyPr wrap="square">
            <a:spAutoFit/>
          </a:bodyPr>
          <a:lstStyle/>
          <a:p>
            <a:r>
              <a:rPr lang="en-US" sz="2300" b="1" dirty="0">
                <a:solidFill>
                  <a:srgbClr val="000000"/>
                </a:solidFill>
                <a:latin typeface="DM Sans Bold"/>
                <a:ea typeface="DM Sans Bold"/>
                <a:cs typeface="Times New Roman" panose="02020603050405020304" pitchFamily="18" charset="0"/>
                <a:sym typeface="DM Sans Bold"/>
              </a:rPr>
              <a:t>STEP</a:t>
            </a:r>
            <a:endParaRPr lang="en-US" sz="2300" dirty="0"/>
          </a:p>
        </p:txBody>
      </p:sp>
      <p:sp>
        <p:nvSpPr>
          <p:cNvPr id="160" name="TextBox 159">
            <a:extLst>
              <a:ext uri="{FF2B5EF4-FFF2-40B4-BE49-F238E27FC236}">
                <a16:creationId xmlns:a16="http://schemas.microsoft.com/office/drawing/2014/main" id="{2EBC8E7B-ABE3-4C17-BBFD-34AE68CD6DF4}"/>
              </a:ext>
            </a:extLst>
          </p:cNvPr>
          <p:cNvSpPr txBox="1"/>
          <p:nvPr/>
        </p:nvSpPr>
        <p:spPr>
          <a:xfrm>
            <a:off x="3913532" y="3415450"/>
            <a:ext cx="894427" cy="446276"/>
          </a:xfrm>
          <a:prstGeom prst="rect">
            <a:avLst/>
          </a:prstGeom>
          <a:noFill/>
        </p:spPr>
        <p:txBody>
          <a:bodyPr wrap="square">
            <a:spAutoFit/>
          </a:bodyPr>
          <a:lstStyle/>
          <a:p>
            <a:r>
              <a:rPr lang="en-US" sz="2300" b="1" dirty="0">
                <a:solidFill>
                  <a:srgbClr val="000000"/>
                </a:solidFill>
                <a:latin typeface="DM Sans Bold"/>
                <a:ea typeface="DM Sans Bold"/>
                <a:cs typeface="Times New Roman" panose="02020603050405020304" pitchFamily="18" charset="0"/>
                <a:sym typeface="DM Sans Bold"/>
              </a:rPr>
              <a:t>STEP</a:t>
            </a:r>
            <a:endParaRPr lang="en-US" sz="2300" dirty="0"/>
          </a:p>
        </p:txBody>
      </p:sp>
      <p:sp>
        <p:nvSpPr>
          <p:cNvPr id="161" name="TextBox 160">
            <a:extLst>
              <a:ext uri="{FF2B5EF4-FFF2-40B4-BE49-F238E27FC236}">
                <a16:creationId xmlns:a16="http://schemas.microsoft.com/office/drawing/2014/main" id="{6FA54EF7-904E-0A5A-03D4-C3C2BBF1A28B}"/>
              </a:ext>
            </a:extLst>
          </p:cNvPr>
          <p:cNvSpPr txBox="1"/>
          <p:nvPr/>
        </p:nvSpPr>
        <p:spPr>
          <a:xfrm>
            <a:off x="3913532" y="1964643"/>
            <a:ext cx="894427" cy="446276"/>
          </a:xfrm>
          <a:prstGeom prst="rect">
            <a:avLst/>
          </a:prstGeom>
          <a:noFill/>
        </p:spPr>
        <p:txBody>
          <a:bodyPr wrap="square">
            <a:spAutoFit/>
          </a:bodyPr>
          <a:lstStyle/>
          <a:p>
            <a:r>
              <a:rPr lang="en-US" sz="2300" b="1" dirty="0">
                <a:solidFill>
                  <a:srgbClr val="000000"/>
                </a:solidFill>
                <a:latin typeface="DM Sans Bold"/>
                <a:ea typeface="DM Sans Bold"/>
                <a:cs typeface="Times New Roman" panose="02020603050405020304" pitchFamily="18" charset="0"/>
                <a:sym typeface="DM Sans Bold"/>
              </a:rPr>
              <a:t>STEP</a:t>
            </a:r>
            <a:endParaRPr lang="en-US" sz="2300" dirty="0"/>
          </a:p>
        </p:txBody>
      </p:sp>
      <p:sp>
        <p:nvSpPr>
          <p:cNvPr id="162" name="TextBox 161">
            <a:extLst>
              <a:ext uri="{FF2B5EF4-FFF2-40B4-BE49-F238E27FC236}">
                <a16:creationId xmlns:a16="http://schemas.microsoft.com/office/drawing/2014/main" id="{E8DEFBE6-705C-8009-CBEE-B28EC81BD9D8}"/>
              </a:ext>
            </a:extLst>
          </p:cNvPr>
          <p:cNvSpPr txBox="1"/>
          <p:nvPr/>
        </p:nvSpPr>
        <p:spPr>
          <a:xfrm>
            <a:off x="6879020" y="2694746"/>
            <a:ext cx="894427" cy="446276"/>
          </a:xfrm>
          <a:prstGeom prst="rect">
            <a:avLst/>
          </a:prstGeom>
          <a:noFill/>
        </p:spPr>
        <p:txBody>
          <a:bodyPr wrap="square">
            <a:spAutoFit/>
          </a:bodyPr>
          <a:lstStyle/>
          <a:p>
            <a:r>
              <a:rPr lang="en-US" sz="2300" b="1" dirty="0">
                <a:solidFill>
                  <a:srgbClr val="000000"/>
                </a:solidFill>
                <a:latin typeface="DM Sans Bold"/>
                <a:ea typeface="DM Sans Bold"/>
                <a:cs typeface="Times New Roman" panose="02020603050405020304" pitchFamily="18" charset="0"/>
                <a:sym typeface="DM Sans Bold"/>
              </a:rPr>
              <a:t>STEP</a:t>
            </a:r>
            <a:endParaRPr lang="en-US" sz="2300" dirty="0"/>
          </a:p>
        </p:txBody>
      </p:sp>
      <p:sp>
        <p:nvSpPr>
          <p:cNvPr id="163" name="TextBox 162">
            <a:extLst>
              <a:ext uri="{FF2B5EF4-FFF2-40B4-BE49-F238E27FC236}">
                <a16:creationId xmlns:a16="http://schemas.microsoft.com/office/drawing/2014/main" id="{09755AF2-83FE-E26F-A5D1-B162EA977751}"/>
              </a:ext>
            </a:extLst>
          </p:cNvPr>
          <p:cNvSpPr txBox="1"/>
          <p:nvPr/>
        </p:nvSpPr>
        <p:spPr>
          <a:xfrm>
            <a:off x="6792231" y="1243518"/>
            <a:ext cx="894427" cy="446276"/>
          </a:xfrm>
          <a:prstGeom prst="rect">
            <a:avLst/>
          </a:prstGeom>
          <a:noFill/>
        </p:spPr>
        <p:txBody>
          <a:bodyPr wrap="square">
            <a:spAutoFit/>
          </a:bodyPr>
          <a:lstStyle/>
          <a:p>
            <a:r>
              <a:rPr lang="en-US" sz="2300" b="1" dirty="0">
                <a:solidFill>
                  <a:srgbClr val="000000"/>
                </a:solidFill>
                <a:latin typeface="DM Sans Bold"/>
                <a:ea typeface="DM Sans Bold"/>
                <a:cs typeface="Times New Roman" panose="02020603050405020304" pitchFamily="18" charset="0"/>
                <a:sym typeface="DM Sans Bold"/>
              </a:rPr>
              <a:t>STEP</a:t>
            </a:r>
            <a:endParaRPr lang="en-US" sz="2300" dirty="0"/>
          </a:p>
        </p:txBody>
      </p:sp>
      <p:sp>
        <p:nvSpPr>
          <p:cNvPr id="164" name="TextBox 163">
            <a:extLst>
              <a:ext uri="{FF2B5EF4-FFF2-40B4-BE49-F238E27FC236}">
                <a16:creationId xmlns:a16="http://schemas.microsoft.com/office/drawing/2014/main" id="{0D5A70E8-80A2-A7C9-D899-84C2BAF2872B}"/>
              </a:ext>
            </a:extLst>
          </p:cNvPr>
          <p:cNvSpPr txBox="1"/>
          <p:nvPr/>
        </p:nvSpPr>
        <p:spPr>
          <a:xfrm>
            <a:off x="3951887" y="559345"/>
            <a:ext cx="894427" cy="446276"/>
          </a:xfrm>
          <a:prstGeom prst="rect">
            <a:avLst/>
          </a:prstGeom>
          <a:noFill/>
        </p:spPr>
        <p:txBody>
          <a:bodyPr wrap="square">
            <a:spAutoFit/>
          </a:bodyPr>
          <a:lstStyle/>
          <a:p>
            <a:r>
              <a:rPr lang="en-US" sz="2300" b="1" dirty="0">
                <a:solidFill>
                  <a:srgbClr val="000000"/>
                </a:solidFill>
                <a:latin typeface="DM Sans Bold"/>
                <a:ea typeface="DM Sans Bold"/>
                <a:cs typeface="Times New Roman" panose="02020603050405020304" pitchFamily="18" charset="0"/>
                <a:sym typeface="DM Sans Bold"/>
              </a:rPr>
              <a:t>STEP</a:t>
            </a:r>
            <a:endParaRPr lang="en-US" sz="2300" dirty="0"/>
          </a:p>
        </p:txBody>
      </p:sp>
      <p:sp>
        <p:nvSpPr>
          <p:cNvPr id="170" name="TextBox 169">
            <a:extLst>
              <a:ext uri="{FF2B5EF4-FFF2-40B4-BE49-F238E27FC236}">
                <a16:creationId xmlns:a16="http://schemas.microsoft.com/office/drawing/2014/main" id="{53454381-AC9F-B799-DF5D-43B75A1FA02E}"/>
              </a:ext>
            </a:extLst>
          </p:cNvPr>
          <p:cNvSpPr txBox="1"/>
          <p:nvPr/>
        </p:nvSpPr>
        <p:spPr>
          <a:xfrm>
            <a:off x="7872248" y="5381086"/>
            <a:ext cx="2716320" cy="369332"/>
          </a:xfrm>
          <a:prstGeom prst="rect">
            <a:avLst/>
          </a:prstGeom>
          <a:noFill/>
        </p:spPr>
        <p:txBody>
          <a:bodyPr wrap="square">
            <a:spAutoFit/>
          </a:bodyPr>
          <a:lstStyle/>
          <a:p>
            <a:r>
              <a:rPr lang="en-US" b="1" dirty="0">
                <a:ln w="0"/>
                <a:effectLst>
                  <a:outerShdw blurRad="38100" dist="19050" dir="2700000" algn="tl" rotWithShape="0">
                    <a:schemeClr val="dk1">
                      <a:alpha val="40000"/>
                    </a:schemeClr>
                  </a:outerShdw>
                </a:effectLst>
              </a:rPr>
              <a:t>Data Collection &amp; Loading</a:t>
            </a:r>
          </a:p>
        </p:txBody>
      </p:sp>
      <p:sp>
        <p:nvSpPr>
          <p:cNvPr id="178" name="TextBox 177">
            <a:extLst>
              <a:ext uri="{FF2B5EF4-FFF2-40B4-BE49-F238E27FC236}">
                <a16:creationId xmlns:a16="http://schemas.microsoft.com/office/drawing/2014/main" id="{34519102-59FC-C29C-4F03-B323662E40E4}"/>
              </a:ext>
            </a:extLst>
          </p:cNvPr>
          <p:cNvSpPr txBox="1"/>
          <p:nvPr/>
        </p:nvSpPr>
        <p:spPr>
          <a:xfrm>
            <a:off x="362962" y="4781502"/>
            <a:ext cx="3391777" cy="369332"/>
          </a:xfrm>
          <a:prstGeom prst="rect">
            <a:avLst/>
          </a:prstGeom>
          <a:noFill/>
        </p:spPr>
        <p:txBody>
          <a:bodyPr wrap="square">
            <a:spAutoFit/>
          </a:bodyPr>
          <a:lstStyle/>
          <a:p>
            <a:r>
              <a:rPr lang="en-US" b="1" dirty="0">
                <a:ln w="0"/>
                <a:effectLst>
                  <a:outerShdw blurRad="38100" dist="19050" dir="2700000" algn="tl" rotWithShape="0">
                    <a:schemeClr val="dk1">
                      <a:alpha val="40000"/>
                    </a:schemeClr>
                  </a:outerShdw>
                </a:effectLst>
              </a:rPr>
              <a:t>Exploratory Data Analysis(EDA)</a:t>
            </a:r>
          </a:p>
        </p:txBody>
      </p:sp>
      <p:sp>
        <p:nvSpPr>
          <p:cNvPr id="180" name="TextBox 179">
            <a:extLst>
              <a:ext uri="{FF2B5EF4-FFF2-40B4-BE49-F238E27FC236}">
                <a16:creationId xmlns:a16="http://schemas.microsoft.com/office/drawing/2014/main" id="{E806657E-0B0D-A564-24B7-620DF052AC77}"/>
              </a:ext>
            </a:extLst>
          </p:cNvPr>
          <p:cNvSpPr txBox="1"/>
          <p:nvPr/>
        </p:nvSpPr>
        <p:spPr>
          <a:xfrm>
            <a:off x="339362" y="5251820"/>
            <a:ext cx="4021383" cy="923330"/>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Analyzing and visualizing data patterns and relationships</a:t>
            </a:r>
            <a:br>
              <a:rPr lang="en-US" b="1" dirty="0"/>
            </a:br>
            <a:endParaRPr lang="en-US" b="1" dirty="0"/>
          </a:p>
        </p:txBody>
      </p:sp>
      <p:sp>
        <p:nvSpPr>
          <p:cNvPr id="182" name="TextBox 181">
            <a:extLst>
              <a:ext uri="{FF2B5EF4-FFF2-40B4-BE49-F238E27FC236}">
                <a16:creationId xmlns:a16="http://schemas.microsoft.com/office/drawing/2014/main" id="{B007F723-FC8B-50A8-AE28-A9E75D0EC783}"/>
              </a:ext>
            </a:extLst>
          </p:cNvPr>
          <p:cNvSpPr txBox="1"/>
          <p:nvPr/>
        </p:nvSpPr>
        <p:spPr>
          <a:xfrm>
            <a:off x="7872248" y="5805089"/>
            <a:ext cx="4130565" cy="646331"/>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Gathering, importing, and inspecting the dataset</a:t>
            </a:r>
          </a:p>
        </p:txBody>
      </p:sp>
      <p:sp>
        <p:nvSpPr>
          <p:cNvPr id="184" name="TextBox 183">
            <a:extLst>
              <a:ext uri="{FF2B5EF4-FFF2-40B4-BE49-F238E27FC236}">
                <a16:creationId xmlns:a16="http://schemas.microsoft.com/office/drawing/2014/main" id="{B290E79E-A6F8-2A83-8578-409CF0414657}"/>
              </a:ext>
            </a:extLst>
          </p:cNvPr>
          <p:cNvSpPr txBox="1"/>
          <p:nvPr/>
        </p:nvSpPr>
        <p:spPr>
          <a:xfrm>
            <a:off x="7863010" y="4120875"/>
            <a:ext cx="6096000" cy="369332"/>
          </a:xfrm>
          <a:prstGeom prst="rect">
            <a:avLst/>
          </a:prstGeom>
          <a:noFill/>
        </p:spPr>
        <p:txBody>
          <a:bodyPr wrap="square">
            <a:spAutoFit/>
          </a:bodyPr>
          <a:lstStyle/>
          <a:p>
            <a:r>
              <a:rPr lang="en-US" b="1" dirty="0">
                <a:ln w="0"/>
                <a:effectLst>
                  <a:outerShdw blurRad="38100" dist="19050" dir="2700000" algn="tl" rotWithShape="0">
                    <a:schemeClr val="dk1">
                      <a:alpha val="40000"/>
                    </a:schemeClr>
                  </a:outerShdw>
                </a:effectLst>
              </a:rPr>
              <a:t>Data Preprocessing</a:t>
            </a:r>
          </a:p>
        </p:txBody>
      </p:sp>
      <p:sp>
        <p:nvSpPr>
          <p:cNvPr id="186" name="TextBox 185">
            <a:extLst>
              <a:ext uri="{FF2B5EF4-FFF2-40B4-BE49-F238E27FC236}">
                <a16:creationId xmlns:a16="http://schemas.microsoft.com/office/drawing/2014/main" id="{D080DC7A-9FE1-63BC-C124-332B20E96A28}"/>
              </a:ext>
            </a:extLst>
          </p:cNvPr>
          <p:cNvSpPr txBox="1"/>
          <p:nvPr/>
        </p:nvSpPr>
        <p:spPr>
          <a:xfrm>
            <a:off x="7822848" y="4584472"/>
            <a:ext cx="4229366" cy="646331"/>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Cleaning and preparing data for modeling</a:t>
            </a:r>
          </a:p>
        </p:txBody>
      </p:sp>
      <p:sp>
        <p:nvSpPr>
          <p:cNvPr id="188" name="TextBox 187">
            <a:extLst>
              <a:ext uri="{FF2B5EF4-FFF2-40B4-BE49-F238E27FC236}">
                <a16:creationId xmlns:a16="http://schemas.microsoft.com/office/drawing/2014/main" id="{164FE9C6-49C8-4EC6-190C-4DFE255763B1}"/>
              </a:ext>
            </a:extLst>
          </p:cNvPr>
          <p:cNvSpPr txBox="1"/>
          <p:nvPr/>
        </p:nvSpPr>
        <p:spPr>
          <a:xfrm>
            <a:off x="1197212" y="3367239"/>
            <a:ext cx="2652169" cy="369332"/>
          </a:xfrm>
          <a:prstGeom prst="rect">
            <a:avLst/>
          </a:prstGeom>
          <a:noFill/>
        </p:spPr>
        <p:txBody>
          <a:bodyPr wrap="square">
            <a:spAutoFit/>
          </a:bodyPr>
          <a:lstStyle/>
          <a:p>
            <a:r>
              <a:rPr lang="en-US" b="1" dirty="0">
                <a:ln w="0"/>
                <a:effectLst>
                  <a:outerShdw blurRad="38100" dist="19050" dir="2700000" algn="tl" rotWithShape="0">
                    <a:schemeClr val="dk1">
                      <a:alpha val="40000"/>
                    </a:schemeClr>
                  </a:outerShdw>
                </a:effectLst>
              </a:rPr>
              <a:t>Feature Engineering</a:t>
            </a:r>
          </a:p>
        </p:txBody>
      </p:sp>
      <p:sp>
        <p:nvSpPr>
          <p:cNvPr id="190" name="TextBox 189">
            <a:extLst>
              <a:ext uri="{FF2B5EF4-FFF2-40B4-BE49-F238E27FC236}">
                <a16:creationId xmlns:a16="http://schemas.microsoft.com/office/drawing/2014/main" id="{72DEE3D8-69BE-617A-2807-76D5D247DEC4}"/>
              </a:ext>
            </a:extLst>
          </p:cNvPr>
          <p:cNvSpPr txBox="1"/>
          <p:nvPr/>
        </p:nvSpPr>
        <p:spPr>
          <a:xfrm>
            <a:off x="84581" y="3822062"/>
            <a:ext cx="3828951" cy="646331"/>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Creating and transforming features to improve model performance</a:t>
            </a:r>
          </a:p>
        </p:txBody>
      </p:sp>
      <p:sp>
        <p:nvSpPr>
          <p:cNvPr id="192" name="TextBox 191">
            <a:extLst>
              <a:ext uri="{FF2B5EF4-FFF2-40B4-BE49-F238E27FC236}">
                <a16:creationId xmlns:a16="http://schemas.microsoft.com/office/drawing/2014/main" id="{111568F9-A5A1-3116-4DFA-57AA3A9AF46E}"/>
              </a:ext>
            </a:extLst>
          </p:cNvPr>
          <p:cNvSpPr txBox="1"/>
          <p:nvPr/>
        </p:nvSpPr>
        <p:spPr>
          <a:xfrm>
            <a:off x="7983652" y="2616170"/>
            <a:ext cx="3111068" cy="369332"/>
          </a:xfrm>
          <a:prstGeom prst="rect">
            <a:avLst/>
          </a:prstGeom>
          <a:noFill/>
        </p:spPr>
        <p:txBody>
          <a:bodyPr wrap="square">
            <a:spAutoFit/>
          </a:bodyPr>
          <a:lstStyle/>
          <a:p>
            <a:r>
              <a:rPr lang="en-US" b="1" dirty="0">
                <a:ln w="0"/>
                <a:effectLst>
                  <a:outerShdw blurRad="38100" dist="19050" dir="2700000" algn="tl" rotWithShape="0">
                    <a:schemeClr val="dk1">
                      <a:alpha val="40000"/>
                    </a:schemeClr>
                  </a:outerShdw>
                </a:effectLst>
              </a:rPr>
              <a:t>Train-Test Split &amp; Balancing</a:t>
            </a:r>
          </a:p>
        </p:txBody>
      </p:sp>
      <p:sp>
        <p:nvSpPr>
          <p:cNvPr id="194" name="TextBox 193">
            <a:extLst>
              <a:ext uri="{FF2B5EF4-FFF2-40B4-BE49-F238E27FC236}">
                <a16:creationId xmlns:a16="http://schemas.microsoft.com/office/drawing/2014/main" id="{3E5B9C7B-B6FA-25F3-0B40-9AA405B5A4BC}"/>
              </a:ext>
            </a:extLst>
          </p:cNvPr>
          <p:cNvSpPr txBox="1"/>
          <p:nvPr/>
        </p:nvSpPr>
        <p:spPr>
          <a:xfrm>
            <a:off x="7921862" y="3135785"/>
            <a:ext cx="4430991" cy="646331"/>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Splitting data and handling imbalance (SMOTE)</a:t>
            </a:r>
          </a:p>
        </p:txBody>
      </p:sp>
      <p:sp>
        <p:nvSpPr>
          <p:cNvPr id="196" name="TextBox 195">
            <a:extLst>
              <a:ext uri="{FF2B5EF4-FFF2-40B4-BE49-F238E27FC236}">
                <a16:creationId xmlns:a16="http://schemas.microsoft.com/office/drawing/2014/main" id="{D47A8A35-EBA3-C4D0-6B2B-16EC2E5A1ED8}"/>
              </a:ext>
            </a:extLst>
          </p:cNvPr>
          <p:cNvSpPr txBox="1"/>
          <p:nvPr/>
        </p:nvSpPr>
        <p:spPr>
          <a:xfrm>
            <a:off x="793527" y="1955127"/>
            <a:ext cx="2898542" cy="369332"/>
          </a:xfrm>
          <a:prstGeom prst="rect">
            <a:avLst/>
          </a:prstGeom>
          <a:noFill/>
        </p:spPr>
        <p:txBody>
          <a:bodyPr wrap="square">
            <a:spAutoFit/>
          </a:bodyPr>
          <a:lstStyle/>
          <a:p>
            <a:r>
              <a:rPr lang="en-US" b="1" dirty="0">
                <a:ln w="0"/>
                <a:effectLst>
                  <a:outerShdw blurRad="38100" dist="19050" dir="2700000" algn="tl" rotWithShape="0">
                    <a:schemeClr val="dk1">
                      <a:alpha val="40000"/>
                    </a:schemeClr>
                  </a:outerShdw>
                </a:effectLst>
              </a:rPr>
              <a:t>Model Training &amp; Evaluation</a:t>
            </a:r>
          </a:p>
        </p:txBody>
      </p:sp>
      <p:sp>
        <p:nvSpPr>
          <p:cNvPr id="200" name="TextBox 199">
            <a:extLst>
              <a:ext uri="{FF2B5EF4-FFF2-40B4-BE49-F238E27FC236}">
                <a16:creationId xmlns:a16="http://schemas.microsoft.com/office/drawing/2014/main" id="{9F7CB0A7-F0CE-11CA-4DD4-4095F7B5A557}"/>
              </a:ext>
            </a:extLst>
          </p:cNvPr>
          <p:cNvSpPr txBox="1"/>
          <p:nvPr/>
        </p:nvSpPr>
        <p:spPr>
          <a:xfrm>
            <a:off x="154926" y="2425445"/>
            <a:ext cx="3745884" cy="646331"/>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Training multiple machine learning models and evaluating performance</a:t>
            </a:r>
          </a:p>
        </p:txBody>
      </p:sp>
      <p:sp>
        <p:nvSpPr>
          <p:cNvPr id="202" name="TextBox 201">
            <a:extLst>
              <a:ext uri="{FF2B5EF4-FFF2-40B4-BE49-F238E27FC236}">
                <a16:creationId xmlns:a16="http://schemas.microsoft.com/office/drawing/2014/main" id="{994679C6-351C-9F27-A157-9829C881769F}"/>
              </a:ext>
            </a:extLst>
          </p:cNvPr>
          <p:cNvSpPr txBox="1"/>
          <p:nvPr/>
        </p:nvSpPr>
        <p:spPr>
          <a:xfrm>
            <a:off x="7921862" y="1235916"/>
            <a:ext cx="2494857" cy="369332"/>
          </a:xfrm>
          <a:prstGeom prst="rect">
            <a:avLst/>
          </a:prstGeom>
          <a:noFill/>
        </p:spPr>
        <p:txBody>
          <a:bodyPr wrap="square">
            <a:spAutoFit/>
          </a:bodyPr>
          <a:lstStyle/>
          <a:p>
            <a:r>
              <a:rPr lang="en-US" b="1" dirty="0">
                <a:ln w="0"/>
                <a:effectLst>
                  <a:outerShdw blurRad="38100" dist="19050" dir="2700000" algn="tl" rotWithShape="0">
                    <a:schemeClr val="dk1">
                      <a:alpha val="40000"/>
                    </a:schemeClr>
                  </a:outerShdw>
                </a:effectLst>
              </a:rPr>
              <a:t>Prediction</a:t>
            </a:r>
            <a:r>
              <a:rPr lang="en-US" dirty="0"/>
              <a:t> </a:t>
            </a:r>
          </a:p>
        </p:txBody>
      </p:sp>
      <p:sp>
        <p:nvSpPr>
          <p:cNvPr id="204" name="TextBox 203">
            <a:extLst>
              <a:ext uri="{FF2B5EF4-FFF2-40B4-BE49-F238E27FC236}">
                <a16:creationId xmlns:a16="http://schemas.microsoft.com/office/drawing/2014/main" id="{ECB5F2E3-7590-9E46-CABA-F02E2DBC9951}"/>
              </a:ext>
            </a:extLst>
          </p:cNvPr>
          <p:cNvSpPr txBox="1"/>
          <p:nvPr/>
        </p:nvSpPr>
        <p:spPr>
          <a:xfrm>
            <a:off x="7858507" y="1688670"/>
            <a:ext cx="4418553" cy="643265"/>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Making predictions to monitor the model performance and to achieve Goal. </a:t>
            </a:r>
          </a:p>
        </p:txBody>
      </p:sp>
      <p:sp>
        <p:nvSpPr>
          <p:cNvPr id="206" name="TextBox 205">
            <a:extLst>
              <a:ext uri="{FF2B5EF4-FFF2-40B4-BE49-F238E27FC236}">
                <a16:creationId xmlns:a16="http://schemas.microsoft.com/office/drawing/2014/main" id="{4CD90061-8026-7FB5-96A8-5473842751C7}"/>
              </a:ext>
            </a:extLst>
          </p:cNvPr>
          <p:cNvSpPr txBox="1"/>
          <p:nvPr/>
        </p:nvSpPr>
        <p:spPr>
          <a:xfrm>
            <a:off x="2079038" y="578179"/>
            <a:ext cx="1675701" cy="369332"/>
          </a:xfrm>
          <a:prstGeom prst="rect">
            <a:avLst/>
          </a:prstGeom>
          <a:noFill/>
        </p:spPr>
        <p:txBody>
          <a:bodyPr wrap="square">
            <a:spAutoFit/>
          </a:bodyPr>
          <a:lstStyle/>
          <a:p>
            <a:r>
              <a:rPr lang="en-US" b="1" dirty="0">
                <a:ln w="0"/>
                <a:effectLst>
                  <a:outerShdw blurRad="38100" dist="19050" dir="2700000" algn="tl" rotWithShape="0">
                    <a:schemeClr val="dk1">
                      <a:alpha val="40000"/>
                    </a:schemeClr>
                  </a:outerShdw>
                </a:effectLst>
              </a:rPr>
              <a:t>Conclusion</a:t>
            </a:r>
          </a:p>
        </p:txBody>
      </p:sp>
      <p:sp>
        <p:nvSpPr>
          <p:cNvPr id="208" name="TextBox 207">
            <a:extLst>
              <a:ext uri="{FF2B5EF4-FFF2-40B4-BE49-F238E27FC236}">
                <a16:creationId xmlns:a16="http://schemas.microsoft.com/office/drawing/2014/main" id="{DD7B5052-DCD3-1259-8E33-C0AB63A04EAD}"/>
              </a:ext>
            </a:extLst>
          </p:cNvPr>
          <p:cNvSpPr txBox="1"/>
          <p:nvPr/>
        </p:nvSpPr>
        <p:spPr>
          <a:xfrm>
            <a:off x="244033" y="1009105"/>
            <a:ext cx="3828951" cy="646331"/>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Summarizing insights for business impact, and future improvements</a:t>
            </a:r>
          </a:p>
        </p:txBody>
      </p:sp>
      <p:sp>
        <p:nvSpPr>
          <p:cNvPr id="209" name="TextBox 129">
            <a:extLst>
              <a:ext uri="{FF2B5EF4-FFF2-40B4-BE49-F238E27FC236}">
                <a16:creationId xmlns:a16="http://schemas.microsoft.com/office/drawing/2014/main" id="{ED56E4E5-69A5-59DE-3B3F-B774BAAE5AE4}"/>
              </a:ext>
            </a:extLst>
          </p:cNvPr>
          <p:cNvSpPr txBox="1"/>
          <p:nvPr/>
        </p:nvSpPr>
        <p:spPr>
          <a:xfrm>
            <a:off x="3209781" y="-67905"/>
            <a:ext cx="6858002" cy="707886"/>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defPPr>
              <a:defRPr lang="en-US">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IN" sz="4000" b="1" dirty="0">
                <a:ln w="0"/>
                <a:solidFill>
                  <a:schemeClr val="tx1"/>
                </a:solidFill>
                <a:effectLst>
                  <a:outerShdw blurRad="38100" dist="19050" dir="2700000" algn="tl" rotWithShape="0">
                    <a:schemeClr val="dk1">
                      <a:alpha val="40000"/>
                    </a:schemeClr>
                  </a:outerShdw>
                </a:effectLst>
                <a:latin typeface="ADLaM Display" panose="02010000000000000000" pitchFamily="2" charset="0"/>
                <a:ea typeface="ADLaM Display" panose="02010000000000000000" pitchFamily="2" charset="0"/>
                <a:cs typeface="ADLaM Display" panose="02010000000000000000" pitchFamily="2" charset="0"/>
              </a:rPr>
              <a:t>WORKFLOW</a:t>
            </a:r>
          </a:p>
        </p:txBody>
      </p:sp>
      <p:pic>
        <p:nvPicPr>
          <p:cNvPr id="210" name="Picture 209">
            <a:extLst>
              <a:ext uri="{FF2B5EF4-FFF2-40B4-BE49-F238E27FC236}">
                <a16:creationId xmlns:a16="http://schemas.microsoft.com/office/drawing/2014/main" id="{8987FA0F-E2CF-681D-6694-C4DC64828732}"/>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a:xfrm>
            <a:off x="10216837" y="6324704"/>
            <a:ext cx="1785976" cy="462949"/>
          </a:xfrm>
          <a:prstGeom prst="rect">
            <a:avLst/>
          </a:prstGeom>
        </p:spPr>
      </p:pic>
    </p:spTree>
    <p:extLst>
      <p:ext uri="{BB962C8B-B14F-4D97-AF65-F5344CB8AC3E}">
        <p14:creationId xmlns:p14="http://schemas.microsoft.com/office/powerpoint/2010/main" val="25411185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57">
            <a:extLst>
              <a:ext uri="{FF2B5EF4-FFF2-40B4-BE49-F238E27FC236}">
                <a16:creationId xmlns:a16="http://schemas.microsoft.com/office/drawing/2014/main" id="{3131F808-EE34-B339-5412-8B8BC266AE8C}"/>
              </a:ext>
            </a:extLst>
          </p:cNvPr>
          <p:cNvSpPr txBox="1"/>
          <p:nvPr/>
        </p:nvSpPr>
        <p:spPr>
          <a:xfrm>
            <a:off x="2027809" y="-59755"/>
            <a:ext cx="8136381" cy="707886"/>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defPPr>
              <a:defRPr lang="en-US"/>
            </a:defPPr>
            <a:lvl1pPr algn="ctr">
              <a:defRPr sz="7200" b="1">
                <a:solidFill>
                  <a:schemeClr val="accent1">
                    <a:lumMod val="75000"/>
                  </a:schemeClr>
                </a:solidFill>
                <a:effectLst>
                  <a:outerShdw blurRad="50800" dist="38100" algn="l" rotWithShape="0">
                    <a:prstClr val="black">
                      <a:alpha val="40000"/>
                    </a:prstClr>
                  </a:outerShdw>
                </a:effectLst>
                <a:latin typeface="Goudy Old Style" panose="02020502050305020303" pitchFamily="18" charset="0"/>
                <a:ea typeface="+mj-ea"/>
                <a:cs typeface="+mj-cs"/>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sz="4000" dirty="0">
                <a:ln w="0"/>
                <a:solidFill>
                  <a:schemeClr val="tx1"/>
                </a:solidFill>
                <a:effectLst>
                  <a:outerShdw blurRad="38100" dist="19050" dir="2700000" algn="tl" rotWithShape="0">
                    <a:schemeClr val="dk1">
                      <a:alpha val="40000"/>
                    </a:schemeClr>
                  </a:outerShdw>
                </a:effectLst>
                <a:latin typeface="ADLaM Display" panose="02010000000000000000" pitchFamily="2" charset="0"/>
                <a:ea typeface="ADLaM Display" panose="02010000000000000000" pitchFamily="2" charset="0"/>
                <a:cs typeface="ADLaM Display" panose="02010000000000000000" pitchFamily="2" charset="0"/>
              </a:rPr>
              <a:t>Data Collection &amp; Refinement</a:t>
            </a:r>
          </a:p>
        </p:txBody>
      </p:sp>
      <p:pic>
        <p:nvPicPr>
          <p:cNvPr id="4" name="Picture 3">
            <a:extLst>
              <a:ext uri="{FF2B5EF4-FFF2-40B4-BE49-F238E27FC236}">
                <a16:creationId xmlns:a16="http://schemas.microsoft.com/office/drawing/2014/main" id="{5D926CF7-2EC3-7841-C6EC-B55632770B5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10223144" y="6371928"/>
            <a:ext cx="1785976" cy="462949"/>
          </a:xfrm>
          <a:prstGeom prst="rect">
            <a:avLst/>
          </a:prstGeom>
        </p:spPr>
      </p:pic>
      <p:pic>
        <p:nvPicPr>
          <p:cNvPr id="22" name="Picture 21">
            <a:extLst>
              <a:ext uri="{FF2B5EF4-FFF2-40B4-BE49-F238E27FC236}">
                <a16:creationId xmlns:a16="http://schemas.microsoft.com/office/drawing/2014/main" id="{DBF935A6-BA37-444D-EB03-DF1EEEA252D9}"/>
              </a:ext>
            </a:extLst>
          </p:cNvPr>
          <p:cNvPicPr>
            <a:picLocks noChangeAspect="1"/>
          </p:cNvPicPr>
          <p:nvPr/>
        </p:nvPicPr>
        <p:blipFill>
          <a:blip r:embed="rId3"/>
          <a:stretch>
            <a:fillRect/>
          </a:stretch>
        </p:blipFill>
        <p:spPr>
          <a:xfrm>
            <a:off x="142076" y="648131"/>
            <a:ext cx="5953924" cy="5996509"/>
          </a:xfrm>
          <a:prstGeom prst="rect">
            <a:avLst/>
          </a:prstGeom>
        </p:spPr>
      </p:pic>
      <p:sp>
        <p:nvSpPr>
          <p:cNvPr id="95" name="TextBox 94">
            <a:extLst>
              <a:ext uri="{FF2B5EF4-FFF2-40B4-BE49-F238E27FC236}">
                <a16:creationId xmlns:a16="http://schemas.microsoft.com/office/drawing/2014/main" id="{4307A96F-524E-BF84-F33D-22CEC0686A9A}"/>
              </a:ext>
            </a:extLst>
          </p:cNvPr>
          <p:cNvSpPr txBox="1"/>
          <p:nvPr/>
        </p:nvSpPr>
        <p:spPr>
          <a:xfrm>
            <a:off x="6380480" y="870089"/>
            <a:ext cx="3982720" cy="1200329"/>
          </a:xfrm>
          <a:prstGeom prst="rect">
            <a:avLst/>
          </a:prstGeom>
          <a:noFill/>
        </p:spPr>
        <p:txBody>
          <a:bodyPr wrap="square">
            <a:spAutoFit/>
          </a:bodyPr>
          <a:lstStyle/>
          <a:p>
            <a:pPr>
              <a:buNone/>
            </a:pPr>
            <a:r>
              <a:rPr lang="en-US" b="1" dirty="0">
                <a:solidFill>
                  <a:schemeClr val="accent2"/>
                </a:solidFill>
                <a:latin typeface="Times New Roman" panose="02020603050405020304" pitchFamily="18" charset="0"/>
                <a:cs typeface="Times New Roman" panose="02020603050405020304" pitchFamily="18" charset="0"/>
              </a:rPr>
              <a:t>Dataset Overview:</a:t>
            </a:r>
          </a:p>
          <a:p>
            <a:pPr>
              <a:buFont typeface="Arial" panose="020B0604020202020204" pitchFamily="34" charset="0"/>
              <a:buChar char="•"/>
            </a:pPr>
            <a:r>
              <a:rPr lang="en-US" b="1" dirty="0">
                <a:solidFill>
                  <a:schemeClr val="accent2"/>
                </a:solidFill>
                <a:latin typeface="Times New Roman" panose="02020603050405020304" pitchFamily="18" charset="0"/>
                <a:cs typeface="Times New Roman" panose="02020603050405020304" pitchFamily="18" charset="0"/>
              </a:rPr>
              <a:t>Dataset: aug_train.csv</a:t>
            </a:r>
          </a:p>
          <a:p>
            <a:pPr>
              <a:buFont typeface="Arial" panose="020B0604020202020204" pitchFamily="34" charset="0"/>
              <a:buChar char="•"/>
            </a:pPr>
            <a:r>
              <a:rPr lang="en-US" b="1" dirty="0">
                <a:solidFill>
                  <a:schemeClr val="accent2"/>
                </a:solidFill>
                <a:latin typeface="Times New Roman" panose="02020603050405020304" pitchFamily="18" charset="0"/>
                <a:cs typeface="Times New Roman" panose="02020603050405020304" pitchFamily="18" charset="0"/>
              </a:rPr>
              <a:t>Rows: 19,158</a:t>
            </a:r>
          </a:p>
          <a:p>
            <a:pPr>
              <a:buFont typeface="Arial" panose="020B0604020202020204" pitchFamily="34" charset="0"/>
              <a:buChar char="•"/>
            </a:pPr>
            <a:r>
              <a:rPr lang="en-US" b="1" dirty="0">
                <a:solidFill>
                  <a:schemeClr val="accent2"/>
                </a:solidFill>
                <a:latin typeface="Times New Roman" panose="02020603050405020304" pitchFamily="18" charset="0"/>
                <a:cs typeface="Times New Roman" panose="02020603050405020304" pitchFamily="18" charset="0"/>
              </a:rPr>
              <a:t>Columns: 14 Variables</a:t>
            </a:r>
          </a:p>
        </p:txBody>
      </p:sp>
      <p:sp>
        <p:nvSpPr>
          <p:cNvPr id="99" name="TextBox 98">
            <a:extLst>
              <a:ext uri="{FF2B5EF4-FFF2-40B4-BE49-F238E27FC236}">
                <a16:creationId xmlns:a16="http://schemas.microsoft.com/office/drawing/2014/main" id="{8BAF665F-73E4-0198-9263-D59971258843}"/>
              </a:ext>
            </a:extLst>
          </p:cNvPr>
          <p:cNvSpPr txBox="1"/>
          <p:nvPr/>
        </p:nvSpPr>
        <p:spPr>
          <a:xfrm>
            <a:off x="6392824" y="2274838"/>
            <a:ext cx="5740400" cy="2308324"/>
          </a:xfrm>
          <a:prstGeom prst="rect">
            <a:avLst/>
          </a:prstGeom>
          <a:noFill/>
        </p:spPr>
        <p:txBody>
          <a:bodyPr wrap="square">
            <a:spAutoFit/>
          </a:bodyPr>
          <a:lstStyle/>
          <a:p>
            <a:pPr>
              <a:buNone/>
            </a:pPr>
            <a:r>
              <a:rPr lang="en-US" b="1" dirty="0">
                <a:solidFill>
                  <a:srgbClr val="00B050"/>
                </a:solidFill>
                <a:latin typeface="Times New Roman" panose="02020603050405020304" pitchFamily="18" charset="0"/>
                <a:cs typeface="Times New Roman" panose="02020603050405020304" pitchFamily="18" charset="0"/>
              </a:rPr>
              <a:t>X → Input Features (All Variables)</a:t>
            </a:r>
          </a:p>
          <a:p>
            <a:pPr>
              <a:buFont typeface="Arial" panose="020B0604020202020204" pitchFamily="34" charset="0"/>
              <a:buChar char="•"/>
            </a:pPr>
            <a:r>
              <a:rPr lang="en-US" b="1" dirty="0">
                <a:solidFill>
                  <a:srgbClr val="00B050"/>
                </a:solidFill>
                <a:latin typeface="Times New Roman" panose="02020603050405020304" pitchFamily="18" charset="0"/>
                <a:cs typeface="Times New Roman" panose="02020603050405020304" pitchFamily="18" charset="0"/>
              </a:rPr>
              <a:t>Demographic: City, City Development Index, Gender</a:t>
            </a:r>
          </a:p>
          <a:p>
            <a:pPr>
              <a:buFont typeface="Arial" panose="020B0604020202020204" pitchFamily="34" charset="0"/>
              <a:buChar char="•"/>
            </a:pPr>
            <a:r>
              <a:rPr lang="en-US" b="1" dirty="0">
                <a:solidFill>
                  <a:srgbClr val="00B050"/>
                </a:solidFill>
                <a:latin typeface="Times New Roman" panose="02020603050405020304" pitchFamily="18" charset="0"/>
                <a:cs typeface="Times New Roman" panose="02020603050405020304" pitchFamily="18" charset="0"/>
              </a:rPr>
              <a:t>Education: Relevant Experience, Enrolled University, Education Level, Major Discipline</a:t>
            </a:r>
          </a:p>
          <a:p>
            <a:pPr>
              <a:buFont typeface="Arial" panose="020B0604020202020204" pitchFamily="34" charset="0"/>
              <a:buChar char="•"/>
            </a:pPr>
            <a:r>
              <a:rPr lang="en-US" b="1" dirty="0">
                <a:solidFill>
                  <a:srgbClr val="00B050"/>
                </a:solidFill>
                <a:latin typeface="Times New Roman" panose="02020603050405020304" pitchFamily="18" charset="0"/>
                <a:cs typeface="Times New Roman" panose="02020603050405020304" pitchFamily="18" charset="0"/>
              </a:rPr>
              <a:t>Professional: Experience, Company Size, Company Type, Last New Job</a:t>
            </a:r>
          </a:p>
          <a:p>
            <a:pPr>
              <a:buFont typeface="Arial" panose="020B0604020202020204" pitchFamily="34" charset="0"/>
              <a:buChar char="•"/>
            </a:pPr>
            <a:r>
              <a:rPr lang="en-US" b="1" dirty="0">
                <a:solidFill>
                  <a:srgbClr val="00B050"/>
                </a:solidFill>
                <a:latin typeface="Times New Roman" panose="02020603050405020304" pitchFamily="18" charset="0"/>
                <a:cs typeface="Times New Roman" panose="02020603050405020304" pitchFamily="18" charset="0"/>
              </a:rPr>
              <a:t>Other: Training Hours, Enrollee ID </a:t>
            </a:r>
            <a:r>
              <a:rPr lang="en-US" b="1" i="1" dirty="0">
                <a:solidFill>
                  <a:srgbClr val="00B050"/>
                </a:solidFill>
                <a:latin typeface="Times New Roman" panose="02020603050405020304" pitchFamily="18" charset="0"/>
                <a:cs typeface="Times New Roman" panose="02020603050405020304" pitchFamily="18" charset="0"/>
              </a:rPr>
              <a:t>(Identifier – not used for modeling)</a:t>
            </a:r>
            <a:endParaRPr lang="en-US" b="1" dirty="0">
              <a:solidFill>
                <a:srgbClr val="00B050"/>
              </a:solidFill>
              <a:latin typeface="Times New Roman" panose="02020603050405020304" pitchFamily="18" charset="0"/>
              <a:cs typeface="Times New Roman" panose="02020603050405020304" pitchFamily="18" charset="0"/>
            </a:endParaRPr>
          </a:p>
        </p:txBody>
      </p:sp>
      <p:sp>
        <p:nvSpPr>
          <p:cNvPr id="101" name="TextBox 100">
            <a:extLst>
              <a:ext uri="{FF2B5EF4-FFF2-40B4-BE49-F238E27FC236}">
                <a16:creationId xmlns:a16="http://schemas.microsoft.com/office/drawing/2014/main" id="{8ACDC1F5-BB07-8F88-325A-B4F4613E58E2}"/>
              </a:ext>
            </a:extLst>
          </p:cNvPr>
          <p:cNvSpPr txBox="1"/>
          <p:nvPr/>
        </p:nvSpPr>
        <p:spPr>
          <a:xfrm>
            <a:off x="6451600" y="4894600"/>
            <a:ext cx="6096000" cy="1477328"/>
          </a:xfrm>
          <a:prstGeom prst="rect">
            <a:avLst/>
          </a:prstGeom>
          <a:noFill/>
        </p:spPr>
        <p:txBody>
          <a:bodyPr wrap="square">
            <a:spAutoFit/>
          </a:bodyPr>
          <a:lstStyle/>
          <a:p>
            <a:pPr>
              <a:buNone/>
            </a:pPr>
            <a:r>
              <a:rPr lang="en-US" b="1" dirty="0">
                <a:solidFill>
                  <a:srgbClr val="FF0000"/>
                </a:solidFill>
                <a:latin typeface="Times New Roman" panose="02020603050405020304" pitchFamily="18" charset="0"/>
                <a:cs typeface="Times New Roman" panose="02020603050405020304" pitchFamily="18" charset="0"/>
              </a:rPr>
              <a:t>Y → Output (Target Variable)</a:t>
            </a:r>
          </a:p>
          <a:p>
            <a:pPr>
              <a:buFont typeface="Arial" panose="020B0604020202020204" pitchFamily="34" charset="0"/>
              <a:buChar char="•"/>
            </a:pPr>
            <a:r>
              <a:rPr lang="en-US" b="1" dirty="0">
                <a:solidFill>
                  <a:srgbClr val="FF0000"/>
                </a:solidFill>
                <a:latin typeface="Times New Roman" panose="02020603050405020304" pitchFamily="18" charset="0"/>
                <a:cs typeface="Times New Roman" panose="02020603050405020304" pitchFamily="18" charset="0"/>
              </a:rPr>
              <a:t>Target: Job Change</a:t>
            </a:r>
          </a:p>
          <a:p>
            <a:pPr>
              <a:buFont typeface="Arial" panose="020B0604020202020204" pitchFamily="34" charset="0"/>
              <a:buChar char="•"/>
            </a:pPr>
            <a:r>
              <a:rPr lang="en-US" b="1" dirty="0">
                <a:solidFill>
                  <a:srgbClr val="FF0000"/>
                </a:solidFill>
                <a:latin typeface="Times New Roman" panose="02020603050405020304" pitchFamily="18" charset="0"/>
                <a:cs typeface="Times New Roman" panose="02020603050405020304" pitchFamily="18" charset="0"/>
              </a:rPr>
              <a:t>0 → No Job Change</a:t>
            </a:r>
          </a:p>
          <a:p>
            <a:pPr>
              <a:buFont typeface="Arial" panose="020B0604020202020204" pitchFamily="34" charset="0"/>
              <a:buChar char="•"/>
            </a:pPr>
            <a:r>
              <a:rPr lang="en-US" b="1" dirty="0">
                <a:solidFill>
                  <a:srgbClr val="FF0000"/>
                </a:solidFill>
                <a:latin typeface="Times New Roman" panose="02020603050405020304" pitchFamily="18" charset="0"/>
                <a:cs typeface="Times New Roman" panose="02020603050405020304" pitchFamily="18" charset="0"/>
              </a:rPr>
              <a:t>1 → Looking for Job Change</a:t>
            </a:r>
          </a:p>
          <a:p>
            <a:pPr>
              <a:buFont typeface="Arial" panose="020B0604020202020204" pitchFamily="34" charset="0"/>
              <a:buChar char="•"/>
            </a:pPr>
            <a:r>
              <a:rPr lang="en-US" b="1" dirty="0">
                <a:solidFill>
                  <a:srgbClr val="FF0000"/>
                </a:solidFill>
                <a:latin typeface="Times New Roman" panose="02020603050405020304" pitchFamily="18" charset="0"/>
                <a:cs typeface="Times New Roman" panose="02020603050405020304" pitchFamily="18" charset="0"/>
              </a:rPr>
              <a:t>Type: Binary Classification</a:t>
            </a:r>
          </a:p>
        </p:txBody>
      </p:sp>
    </p:spTree>
    <p:extLst>
      <p:ext uri="{BB962C8B-B14F-4D97-AF65-F5344CB8AC3E}">
        <p14:creationId xmlns:p14="http://schemas.microsoft.com/office/powerpoint/2010/main" val="1802038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47A0A-A58C-0B03-F3A6-4358676F002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48A05B2-6D44-9A08-1BB1-2170AC5AB93D}"/>
              </a:ext>
            </a:extLst>
          </p:cNvPr>
          <p:cNvSpPr txBox="1"/>
          <p:nvPr/>
        </p:nvSpPr>
        <p:spPr>
          <a:xfrm>
            <a:off x="2504440" y="-45760"/>
            <a:ext cx="7630160" cy="646331"/>
          </a:xfrm>
          <a:prstGeom prst="rect">
            <a:avLst/>
          </a:prstGeom>
          <a:noFill/>
        </p:spPr>
        <p:txBody>
          <a:bodyPr wrap="square">
            <a:spAutoFit/>
          </a:bodyPr>
          <a:lstStyle/>
          <a:p>
            <a:r>
              <a:rPr lang="en-US" sz="3600" b="1" dirty="0">
                <a:ln w="0"/>
                <a:effectLst>
                  <a:outerShdw blurRad="38100" dist="19050" dir="2700000" algn="tl" rotWithShape="0">
                    <a:schemeClr val="dk1">
                      <a:alpha val="40000"/>
                    </a:schemeClr>
                  </a:outerShdw>
                </a:effectLst>
                <a:latin typeface="ADLaM Display" panose="02010000000000000000" pitchFamily="2" charset="0"/>
                <a:ea typeface="ADLaM Display" panose="02010000000000000000" pitchFamily="2" charset="0"/>
                <a:cs typeface="ADLaM Display" panose="02010000000000000000" pitchFamily="2" charset="0"/>
              </a:rPr>
              <a:t>Exploratory Data Analysis(EDA)</a:t>
            </a:r>
          </a:p>
        </p:txBody>
      </p:sp>
      <p:sp>
        <p:nvSpPr>
          <p:cNvPr id="5" name="Freeform 8">
            <a:extLst>
              <a:ext uri="{FF2B5EF4-FFF2-40B4-BE49-F238E27FC236}">
                <a16:creationId xmlns:a16="http://schemas.microsoft.com/office/drawing/2014/main" id="{391D8B3E-EDD5-F15B-B5D0-6AD6D945241C}"/>
              </a:ext>
            </a:extLst>
          </p:cNvPr>
          <p:cNvSpPr/>
          <p:nvPr/>
        </p:nvSpPr>
        <p:spPr>
          <a:xfrm>
            <a:off x="9072880" y="142239"/>
            <a:ext cx="2895600" cy="2367281"/>
          </a:xfrm>
          <a:custGeom>
            <a:avLst/>
            <a:gdLst/>
            <a:ahLst/>
            <a:cxnLst/>
            <a:rect l="l" t="t" r="r" b="b"/>
            <a:pathLst>
              <a:path w="5698776" h="5657330">
                <a:moveTo>
                  <a:pt x="0" y="0"/>
                </a:moveTo>
                <a:lnTo>
                  <a:pt x="5698775" y="0"/>
                </a:lnTo>
                <a:lnTo>
                  <a:pt x="5698775" y="5657330"/>
                </a:lnTo>
                <a:lnTo>
                  <a:pt x="0" y="5657330"/>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pic>
        <p:nvPicPr>
          <p:cNvPr id="12" name="Picture 11">
            <a:extLst>
              <a:ext uri="{FF2B5EF4-FFF2-40B4-BE49-F238E27FC236}">
                <a16:creationId xmlns:a16="http://schemas.microsoft.com/office/drawing/2014/main" id="{49113C8E-B3C8-FA44-A891-8ACD4246714E}"/>
              </a:ext>
            </a:extLst>
          </p:cNvPr>
          <p:cNvPicPr>
            <a:picLocks noChangeAspect="1"/>
          </p:cNvPicPr>
          <p:nvPr/>
        </p:nvPicPr>
        <p:blipFill>
          <a:blip r:embed="rId4"/>
          <a:stretch>
            <a:fillRect/>
          </a:stretch>
        </p:blipFill>
        <p:spPr>
          <a:xfrm>
            <a:off x="6319520" y="2580640"/>
            <a:ext cx="5791200" cy="3484880"/>
          </a:xfrm>
          <a:prstGeom prst="rect">
            <a:avLst/>
          </a:prstGeom>
        </p:spPr>
      </p:pic>
      <p:sp>
        <p:nvSpPr>
          <p:cNvPr id="14" name="TextBox 13">
            <a:extLst>
              <a:ext uri="{FF2B5EF4-FFF2-40B4-BE49-F238E27FC236}">
                <a16:creationId xmlns:a16="http://schemas.microsoft.com/office/drawing/2014/main" id="{A5255994-9B58-29F7-1BE6-CB11A718A994}"/>
              </a:ext>
            </a:extLst>
          </p:cNvPr>
          <p:cNvSpPr txBox="1"/>
          <p:nvPr/>
        </p:nvSpPr>
        <p:spPr>
          <a:xfrm>
            <a:off x="0" y="497840"/>
            <a:ext cx="6319520" cy="6463308"/>
          </a:xfrm>
          <a:prstGeom prst="rect">
            <a:avLst/>
          </a:prstGeom>
          <a:noFill/>
        </p:spPr>
        <p:txBody>
          <a:bodyPr wrap="square">
            <a:spAutoFit/>
          </a:bodyPr>
          <a:lstStyle/>
          <a:p>
            <a:pPr>
              <a:buNone/>
            </a:pPr>
            <a:r>
              <a:rPr lang="en-US" dirty="0"/>
              <a:t>• </a:t>
            </a:r>
            <a:r>
              <a:rPr lang="en-US" b="1" dirty="0">
                <a:solidFill>
                  <a:srgbClr val="7030A0"/>
                </a:solidFill>
                <a:latin typeface="Times New Roman" panose="02020603050405020304" pitchFamily="18" charset="0"/>
                <a:cs typeface="Times New Roman" panose="02020603050405020304" pitchFamily="18" charset="0"/>
              </a:rPr>
              <a:t>EDA helps in understanding the dataset structure, identifying patterns, trends, and extracting meaningful insights from employee data.</a:t>
            </a:r>
          </a:p>
          <a:p>
            <a:pPr>
              <a:buNone/>
            </a:pPr>
            <a:br>
              <a:rPr lang="en-US" b="1" dirty="0">
                <a:solidFill>
                  <a:srgbClr val="7030A0"/>
                </a:solidFill>
                <a:latin typeface="Times New Roman" panose="02020603050405020304" pitchFamily="18" charset="0"/>
                <a:cs typeface="Times New Roman" panose="02020603050405020304" pitchFamily="18" charset="0"/>
              </a:rPr>
            </a:br>
            <a:r>
              <a:rPr lang="en-US" b="1" dirty="0">
                <a:solidFill>
                  <a:srgbClr val="7030A0"/>
                </a:solidFill>
                <a:latin typeface="Times New Roman" panose="02020603050405020304" pitchFamily="18" charset="0"/>
                <a:cs typeface="Times New Roman" panose="02020603050405020304" pitchFamily="18" charset="0"/>
              </a:rPr>
              <a:t>• Both numerical and categorical features are analyzed to understand their distributions and relationships with each other.</a:t>
            </a:r>
          </a:p>
          <a:p>
            <a:pPr>
              <a:buNone/>
            </a:pPr>
            <a:br>
              <a:rPr lang="en-US" b="1" dirty="0">
                <a:solidFill>
                  <a:srgbClr val="7030A0"/>
                </a:solidFill>
                <a:latin typeface="Times New Roman" panose="02020603050405020304" pitchFamily="18" charset="0"/>
                <a:cs typeface="Times New Roman" panose="02020603050405020304" pitchFamily="18" charset="0"/>
              </a:rPr>
            </a:br>
            <a:r>
              <a:rPr lang="en-US" b="1" dirty="0">
                <a:solidFill>
                  <a:srgbClr val="7030A0"/>
                </a:solidFill>
                <a:latin typeface="Times New Roman" panose="02020603050405020304" pitchFamily="18" charset="0"/>
                <a:cs typeface="Times New Roman" panose="02020603050405020304" pitchFamily="18" charset="0"/>
              </a:rPr>
              <a:t>• Visualizations such as histograms, bar plots, and heatmaps are used to clearly understand feature behavior and key influencing factors.</a:t>
            </a:r>
          </a:p>
          <a:p>
            <a:pPr>
              <a:buNone/>
            </a:pPr>
            <a:br>
              <a:rPr lang="en-US" b="1" dirty="0">
                <a:solidFill>
                  <a:srgbClr val="7030A0"/>
                </a:solidFill>
                <a:latin typeface="Times New Roman" panose="02020603050405020304" pitchFamily="18" charset="0"/>
                <a:cs typeface="Times New Roman" panose="02020603050405020304" pitchFamily="18" charset="0"/>
              </a:rPr>
            </a:br>
            <a:r>
              <a:rPr lang="en-US" b="1" dirty="0">
                <a:solidFill>
                  <a:srgbClr val="7030A0"/>
                </a:solidFill>
                <a:latin typeface="Times New Roman" panose="02020603050405020304" pitchFamily="18" charset="0"/>
                <a:cs typeface="Times New Roman" panose="02020603050405020304" pitchFamily="18" charset="0"/>
              </a:rPr>
              <a:t>• The dataset contains missing values (in features like gender, </a:t>
            </a:r>
            <a:r>
              <a:rPr lang="en-US" b="1" dirty="0" err="1">
                <a:solidFill>
                  <a:srgbClr val="7030A0"/>
                </a:solidFill>
                <a:latin typeface="Times New Roman" panose="02020603050405020304" pitchFamily="18" charset="0"/>
                <a:cs typeface="Times New Roman" panose="02020603050405020304" pitchFamily="18" charset="0"/>
              </a:rPr>
              <a:t>company_size</a:t>
            </a:r>
            <a:r>
              <a:rPr lang="en-US" b="1" dirty="0">
                <a:solidFill>
                  <a:srgbClr val="7030A0"/>
                </a:solidFill>
                <a:latin typeface="Times New Roman" panose="02020603050405020304" pitchFamily="18" charset="0"/>
                <a:cs typeface="Times New Roman" panose="02020603050405020304" pitchFamily="18" charset="0"/>
              </a:rPr>
              <a:t>, and </a:t>
            </a:r>
            <a:r>
              <a:rPr lang="en-US" b="1" dirty="0" err="1">
                <a:solidFill>
                  <a:srgbClr val="7030A0"/>
                </a:solidFill>
                <a:latin typeface="Times New Roman" panose="02020603050405020304" pitchFamily="18" charset="0"/>
                <a:cs typeface="Times New Roman" panose="02020603050405020304" pitchFamily="18" charset="0"/>
              </a:rPr>
              <a:t>company_type</a:t>
            </a:r>
            <a:r>
              <a:rPr lang="en-US" b="1" dirty="0">
                <a:solidFill>
                  <a:srgbClr val="7030A0"/>
                </a:solidFill>
                <a:latin typeface="Times New Roman" panose="02020603050405020304" pitchFamily="18" charset="0"/>
                <a:cs typeface="Times New Roman" panose="02020603050405020304" pitchFamily="18" charset="0"/>
              </a:rPr>
              <a:t>), along with duplicate values and outliers.</a:t>
            </a:r>
          </a:p>
          <a:p>
            <a:pPr>
              <a:buNone/>
            </a:pPr>
            <a:br>
              <a:rPr lang="en-US" b="1" dirty="0">
                <a:solidFill>
                  <a:srgbClr val="7030A0"/>
                </a:solidFill>
                <a:latin typeface="Times New Roman" panose="02020603050405020304" pitchFamily="18" charset="0"/>
                <a:cs typeface="Times New Roman" panose="02020603050405020304" pitchFamily="18" charset="0"/>
              </a:rPr>
            </a:br>
            <a:r>
              <a:rPr lang="en-US" b="1" dirty="0">
                <a:solidFill>
                  <a:srgbClr val="7030A0"/>
                </a:solidFill>
                <a:latin typeface="Times New Roman" panose="02020603050405020304" pitchFamily="18" charset="0"/>
                <a:cs typeface="Times New Roman" panose="02020603050405020304" pitchFamily="18" charset="0"/>
              </a:rPr>
              <a:t>• Univariate and bivariate analysis are performed to study individual features and their relationship with the target variable (job change).</a:t>
            </a:r>
          </a:p>
          <a:p>
            <a:pPr>
              <a:buNone/>
            </a:pPr>
            <a:br>
              <a:rPr lang="en-US" b="1" dirty="0">
                <a:solidFill>
                  <a:srgbClr val="7030A0"/>
                </a:solidFill>
                <a:latin typeface="Times New Roman" panose="02020603050405020304" pitchFamily="18" charset="0"/>
                <a:cs typeface="Times New Roman" panose="02020603050405020304" pitchFamily="18" charset="0"/>
              </a:rPr>
            </a:br>
            <a:r>
              <a:rPr lang="en-US" b="1" dirty="0">
                <a:solidFill>
                  <a:srgbClr val="7030A0"/>
                </a:solidFill>
                <a:latin typeface="Times New Roman" panose="02020603050405020304" pitchFamily="18" charset="0"/>
                <a:cs typeface="Times New Roman" panose="02020603050405020304" pitchFamily="18" charset="0"/>
              </a:rPr>
              <a:t>• EDA helps identify important features like city development index, experience, and relevant experience, improving model performance.</a:t>
            </a:r>
          </a:p>
        </p:txBody>
      </p:sp>
      <p:pic>
        <p:nvPicPr>
          <p:cNvPr id="15" name="Picture 14">
            <a:extLst>
              <a:ext uri="{FF2B5EF4-FFF2-40B4-BE49-F238E27FC236}">
                <a16:creationId xmlns:a16="http://schemas.microsoft.com/office/drawing/2014/main" id="{7402C93C-B3D7-0F65-2303-28B622701F42}"/>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a:xfrm>
            <a:off x="10253624" y="6252812"/>
            <a:ext cx="1785976" cy="462949"/>
          </a:xfrm>
          <a:prstGeom prst="rect">
            <a:avLst/>
          </a:prstGeom>
        </p:spPr>
      </p:pic>
    </p:spTree>
    <p:extLst>
      <p:ext uri="{BB962C8B-B14F-4D97-AF65-F5344CB8AC3E}">
        <p14:creationId xmlns:p14="http://schemas.microsoft.com/office/powerpoint/2010/main" val="25367624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3D6FEE5B-BE0C-650E-4733-44EE5FE7FD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87152" y="717662"/>
            <a:ext cx="7204848" cy="319532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B6D39954-2417-BA0A-1DE0-8C0A170172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87152" y="3985947"/>
            <a:ext cx="6075680" cy="239807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4501F1D-3FAB-E1F4-C743-91CE711B31F9}"/>
              </a:ext>
            </a:extLst>
          </p:cNvPr>
          <p:cNvSpPr txBox="1"/>
          <p:nvPr/>
        </p:nvSpPr>
        <p:spPr>
          <a:xfrm>
            <a:off x="111760" y="1427185"/>
            <a:ext cx="4958080" cy="4247317"/>
          </a:xfrm>
          <a:prstGeom prst="rect">
            <a:avLst/>
          </a:prstGeom>
          <a:noFill/>
        </p:spPr>
        <p:txBody>
          <a:bodyPr wrap="square">
            <a:spAutoFit/>
          </a:bodyPr>
          <a:lstStyle/>
          <a:p>
            <a:r>
              <a:rPr lang="en-US" b="1" dirty="0">
                <a:solidFill>
                  <a:srgbClr val="C00000"/>
                </a:solidFill>
                <a:latin typeface="Times New Roman" panose="02020603050405020304" pitchFamily="18" charset="0"/>
                <a:cs typeface="Times New Roman" panose="02020603050405020304" pitchFamily="18" charset="0"/>
              </a:rPr>
              <a:t>• City Development Index: Mostly high values (~0.9) → candidates from developed cities</a:t>
            </a:r>
          </a:p>
          <a:p>
            <a:br>
              <a:rPr lang="en-US" b="1" dirty="0">
                <a:solidFill>
                  <a:srgbClr val="C00000"/>
                </a:solidFill>
                <a:latin typeface="Times New Roman" panose="02020603050405020304" pitchFamily="18" charset="0"/>
                <a:cs typeface="Times New Roman" panose="02020603050405020304" pitchFamily="18" charset="0"/>
              </a:rPr>
            </a:br>
            <a:endParaRPr lang="en-US" b="1" dirty="0">
              <a:solidFill>
                <a:srgbClr val="C00000"/>
              </a:solidFill>
              <a:latin typeface="Times New Roman" panose="02020603050405020304" pitchFamily="18" charset="0"/>
              <a:cs typeface="Times New Roman" panose="02020603050405020304" pitchFamily="18" charset="0"/>
            </a:endParaRPr>
          </a:p>
          <a:p>
            <a:r>
              <a:rPr lang="en-US" b="1" dirty="0">
                <a:solidFill>
                  <a:srgbClr val="C00000"/>
                </a:solidFill>
                <a:latin typeface="Times New Roman" panose="02020603050405020304" pitchFamily="18" charset="0"/>
                <a:cs typeface="Times New Roman" panose="02020603050405020304" pitchFamily="18" charset="0"/>
              </a:rPr>
              <a:t>• Training Hours: Most values are low (0–60) → few high values (right-skewed)</a:t>
            </a:r>
          </a:p>
          <a:p>
            <a:br>
              <a:rPr lang="en-US" b="1" dirty="0">
                <a:solidFill>
                  <a:srgbClr val="C00000"/>
                </a:solidFill>
                <a:latin typeface="Times New Roman" panose="02020603050405020304" pitchFamily="18" charset="0"/>
                <a:cs typeface="Times New Roman" panose="02020603050405020304" pitchFamily="18" charset="0"/>
              </a:rPr>
            </a:br>
            <a:endParaRPr lang="en-US" b="1" dirty="0">
              <a:solidFill>
                <a:srgbClr val="C00000"/>
              </a:solidFill>
              <a:latin typeface="Times New Roman" panose="02020603050405020304" pitchFamily="18" charset="0"/>
              <a:cs typeface="Times New Roman" panose="02020603050405020304" pitchFamily="18" charset="0"/>
            </a:endParaRPr>
          </a:p>
          <a:p>
            <a:r>
              <a:rPr lang="en-US" b="1" dirty="0">
                <a:solidFill>
                  <a:srgbClr val="C00000"/>
                </a:solidFill>
                <a:latin typeface="Times New Roman" panose="02020603050405020304" pitchFamily="18" charset="0"/>
                <a:cs typeface="Times New Roman" panose="02020603050405020304" pitchFamily="18" charset="0"/>
              </a:rPr>
              <a:t>• Enrollee ID: Random distribution → no meaningful pattern (only identifier)</a:t>
            </a:r>
          </a:p>
          <a:p>
            <a:br>
              <a:rPr lang="en-US" b="1" dirty="0">
                <a:solidFill>
                  <a:srgbClr val="C00000"/>
                </a:solidFill>
                <a:latin typeface="Times New Roman" panose="02020603050405020304" pitchFamily="18" charset="0"/>
                <a:cs typeface="Times New Roman" panose="02020603050405020304" pitchFamily="18" charset="0"/>
              </a:rPr>
            </a:br>
            <a:endParaRPr lang="en-US" b="1" dirty="0">
              <a:solidFill>
                <a:srgbClr val="C00000"/>
              </a:solidFill>
              <a:latin typeface="Times New Roman" panose="02020603050405020304" pitchFamily="18" charset="0"/>
              <a:cs typeface="Times New Roman" panose="02020603050405020304" pitchFamily="18" charset="0"/>
            </a:endParaRPr>
          </a:p>
          <a:p>
            <a:r>
              <a:rPr lang="en-US" b="1" dirty="0">
                <a:solidFill>
                  <a:srgbClr val="C00000"/>
                </a:solidFill>
                <a:latin typeface="Times New Roman" panose="02020603050405020304" pitchFamily="18" charset="0"/>
                <a:cs typeface="Times New Roman" panose="02020603050405020304" pitchFamily="18" charset="0"/>
              </a:rPr>
              <a:t>• Target: Imbalanced → more 0 (no job change) than 1</a:t>
            </a:r>
          </a:p>
          <a:p>
            <a:pPr>
              <a:buNone/>
            </a:pPr>
            <a:endParaRPr lang="en-US" dirty="0"/>
          </a:p>
        </p:txBody>
      </p:sp>
      <p:pic>
        <p:nvPicPr>
          <p:cNvPr id="5" name="Picture 4">
            <a:extLst>
              <a:ext uri="{FF2B5EF4-FFF2-40B4-BE49-F238E27FC236}">
                <a16:creationId xmlns:a16="http://schemas.microsoft.com/office/drawing/2014/main" id="{9DA50153-0FE9-94F4-7BF9-A3F224BD2D37}"/>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a:xfrm>
            <a:off x="10314584" y="6384025"/>
            <a:ext cx="1785976" cy="462949"/>
          </a:xfrm>
          <a:prstGeom prst="rect">
            <a:avLst/>
          </a:prstGeom>
        </p:spPr>
      </p:pic>
      <p:sp>
        <p:nvSpPr>
          <p:cNvPr id="7" name="TextBox 6">
            <a:extLst>
              <a:ext uri="{FF2B5EF4-FFF2-40B4-BE49-F238E27FC236}">
                <a16:creationId xmlns:a16="http://schemas.microsoft.com/office/drawing/2014/main" id="{788BD06E-4428-3208-111C-834BE785DF3A}"/>
              </a:ext>
            </a:extLst>
          </p:cNvPr>
          <p:cNvSpPr txBox="1"/>
          <p:nvPr/>
        </p:nvSpPr>
        <p:spPr>
          <a:xfrm>
            <a:off x="1383944" y="194442"/>
            <a:ext cx="8930640" cy="523220"/>
          </a:xfrm>
          <a:prstGeom prst="rect">
            <a:avLst/>
          </a:prstGeom>
          <a:noFill/>
        </p:spPr>
        <p:txBody>
          <a:bodyPr wrap="square">
            <a:spAutoFit/>
          </a:bodyPr>
          <a:lstStyle/>
          <a:p>
            <a:pPr>
              <a:buNone/>
            </a:pPr>
            <a:r>
              <a:rPr lang="en-US" sz="2800" b="1" dirty="0">
                <a:ln w="0"/>
                <a:effectLst>
                  <a:outerShdw blurRad="38100" dist="19050" dir="2700000" algn="tl" rotWithShape="0">
                    <a:schemeClr val="dk1">
                      <a:alpha val="40000"/>
                    </a:schemeClr>
                  </a:outerShdw>
                </a:effectLst>
                <a:latin typeface="ADLaM Display" panose="02010000000000000000" pitchFamily="2" charset="0"/>
                <a:ea typeface="ADLaM Display" panose="02010000000000000000" pitchFamily="2" charset="0"/>
                <a:cs typeface="ADLaM Display" panose="02010000000000000000" pitchFamily="2" charset="0"/>
              </a:rPr>
              <a:t>NUMERICAL VARIABLES — UNIVARIATE ANALYSIS</a:t>
            </a:r>
          </a:p>
        </p:txBody>
      </p:sp>
    </p:spTree>
    <p:extLst>
      <p:ext uri="{BB962C8B-B14F-4D97-AF65-F5344CB8AC3E}">
        <p14:creationId xmlns:p14="http://schemas.microsoft.com/office/powerpoint/2010/main" val="41303672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a:extLst>
              <a:ext uri="{FF2B5EF4-FFF2-40B4-BE49-F238E27FC236}">
                <a16:creationId xmlns:a16="http://schemas.microsoft.com/office/drawing/2014/main" id="{654C251E-5084-4A52-F4DA-2CD2C0E8F7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51220" y="91441"/>
            <a:ext cx="6240780" cy="615217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8AD224AF-2F79-9FC8-7BCC-15A8F02BDDE4}"/>
              </a:ext>
            </a:extLst>
          </p:cNvPr>
          <p:cNvSpPr txBox="1"/>
          <p:nvPr/>
        </p:nvSpPr>
        <p:spPr>
          <a:xfrm>
            <a:off x="147319" y="1000068"/>
            <a:ext cx="5803901" cy="5909310"/>
          </a:xfrm>
          <a:prstGeom prst="rect">
            <a:avLst/>
          </a:prstGeom>
          <a:noFill/>
        </p:spPr>
        <p:txBody>
          <a:bodyPr wrap="square">
            <a:spAutoFit/>
          </a:bodyPr>
          <a:lstStyle/>
          <a:p>
            <a:pPr>
              <a:buNone/>
            </a:pPr>
            <a:r>
              <a:rPr lang="en-US" b="1" dirty="0">
                <a:solidFill>
                  <a:srgbClr val="002060"/>
                </a:solidFill>
              </a:rPr>
              <a:t>•  </a:t>
            </a:r>
            <a:r>
              <a:rPr lang="en-US" sz="2000" b="1" dirty="0">
                <a:solidFill>
                  <a:srgbClr val="002060"/>
                </a:solidFill>
                <a:latin typeface="Times New Roman" panose="02020603050405020304" pitchFamily="18" charset="0"/>
                <a:cs typeface="Times New Roman" panose="02020603050405020304" pitchFamily="18" charset="0"/>
              </a:rPr>
              <a:t>City: Few cities like city_103 and city_21 have highest candidates → data concentrated</a:t>
            </a:r>
          </a:p>
          <a:p>
            <a:pPr>
              <a:buNone/>
            </a:pPr>
            <a:r>
              <a:rPr lang="en-US" sz="2000" b="1" dirty="0">
                <a:solidFill>
                  <a:srgbClr val="002060"/>
                </a:solidFill>
                <a:latin typeface="Times New Roman" panose="02020603050405020304" pitchFamily="18" charset="0"/>
                <a:cs typeface="Times New Roman" panose="02020603050405020304" pitchFamily="18" charset="0"/>
              </a:rPr>
              <a:t>• Gender: Mostly Male → dataset is imbalanced + some missing values</a:t>
            </a:r>
          </a:p>
          <a:p>
            <a:pPr>
              <a:buNone/>
            </a:pPr>
            <a:r>
              <a:rPr lang="en-US" sz="2000" b="1" dirty="0">
                <a:solidFill>
                  <a:srgbClr val="002060"/>
                </a:solidFill>
                <a:latin typeface="Times New Roman" panose="02020603050405020304" pitchFamily="18" charset="0"/>
                <a:cs typeface="Times New Roman" panose="02020603050405020304" pitchFamily="18" charset="0"/>
              </a:rPr>
              <a:t>• Relevant Experience: Most candidates have relevant experience</a:t>
            </a:r>
          </a:p>
          <a:p>
            <a:pPr>
              <a:buNone/>
            </a:pPr>
            <a:r>
              <a:rPr lang="en-US" sz="2000" b="1" dirty="0">
                <a:solidFill>
                  <a:srgbClr val="002060"/>
                </a:solidFill>
                <a:latin typeface="Times New Roman" panose="02020603050405020304" pitchFamily="18" charset="0"/>
                <a:cs typeface="Times New Roman" panose="02020603050405020304" pitchFamily="18" charset="0"/>
              </a:rPr>
              <a:t>• Enrolled University: Majority are not enrolled → working professionals</a:t>
            </a:r>
          </a:p>
          <a:p>
            <a:pPr>
              <a:buNone/>
            </a:pPr>
            <a:r>
              <a:rPr lang="en-US" sz="2000" b="1" dirty="0">
                <a:solidFill>
                  <a:srgbClr val="002060"/>
                </a:solidFill>
                <a:latin typeface="Times New Roman" panose="02020603050405020304" pitchFamily="18" charset="0"/>
                <a:cs typeface="Times New Roman" panose="02020603050405020304" pitchFamily="18" charset="0"/>
              </a:rPr>
              <a:t>• Education Level: Most are Graduates, then Masters → strong education background</a:t>
            </a:r>
          </a:p>
          <a:p>
            <a:pPr>
              <a:buNone/>
            </a:pPr>
            <a:r>
              <a:rPr lang="en-US" sz="2000" b="1" dirty="0">
                <a:solidFill>
                  <a:srgbClr val="002060"/>
                </a:solidFill>
                <a:latin typeface="Times New Roman" panose="02020603050405020304" pitchFamily="18" charset="0"/>
                <a:cs typeface="Times New Roman" panose="02020603050405020304" pitchFamily="18" charset="0"/>
              </a:rPr>
              <a:t>• Major Discipline: STEM dominates → technical field majority</a:t>
            </a:r>
          </a:p>
          <a:p>
            <a:pPr>
              <a:buNone/>
            </a:pPr>
            <a:r>
              <a:rPr lang="en-US" sz="2000" b="1" dirty="0">
                <a:solidFill>
                  <a:srgbClr val="002060"/>
                </a:solidFill>
                <a:latin typeface="Times New Roman" panose="02020603050405020304" pitchFamily="18" charset="0"/>
                <a:cs typeface="Times New Roman" panose="02020603050405020304" pitchFamily="18" charset="0"/>
              </a:rPr>
              <a:t>• Experience: Many candidates have high experience (&gt;20 years)</a:t>
            </a:r>
          </a:p>
          <a:p>
            <a:pPr>
              <a:buNone/>
            </a:pPr>
            <a:r>
              <a:rPr lang="en-US" sz="2000" b="1" dirty="0">
                <a:solidFill>
                  <a:srgbClr val="002060"/>
                </a:solidFill>
                <a:latin typeface="Times New Roman" panose="02020603050405020304" pitchFamily="18" charset="0"/>
                <a:cs typeface="Times New Roman" panose="02020603050405020304" pitchFamily="18" charset="0"/>
              </a:rPr>
              <a:t>• Company Size: Many missing values → common sizes are 50–99 and 100–500</a:t>
            </a:r>
          </a:p>
          <a:p>
            <a:pPr>
              <a:buNone/>
            </a:pPr>
            <a:r>
              <a:rPr lang="en-US" sz="2000" b="1" dirty="0">
                <a:solidFill>
                  <a:srgbClr val="002060"/>
                </a:solidFill>
                <a:latin typeface="Times New Roman" panose="02020603050405020304" pitchFamily="18" charset="0"/>
                <a:cs typeface="Times New Roman" panose="02020603050405020304" pitchFamily="18" charset="0"/>
              </a:rPr>
              <a:t>• Company Type: Pvt Ltd dominates → few startups and others</a:t>
            </a:r>
          </a:p>
          <a:p>
            <a:pPr>
              <a:buNone/>
            </a:pPr>
            <a:r>
              <a:rPr lang="en-US" sz="2000" b="1" dirty="0">
                <a:solidFill>
                  <a:srgbClr val="002060"/>
                </a:solidFill>
                <a:latin typeface="Times New Roman" panose="02020603050405020304" pitchFamily="18" charset="0"/>
                <a:cs typeface="Times New Roman" panose="02020603050405020304" pitchFamily="18" charset="0"/>
              </a:rPr>
              <a:t>• Last New Job: Most changed job recently (1 year</a:t>
            </a:r>
            <a:r>
              <a:rPr lang="en-US" dirty="0">
                <a:solidFill>
                  <a:srgbClr val="002060"/>
                </a:solidFill>
                <a:latin typeface="Times New Roman" panose="02020603050405020304" pitchFamily="18" charset="0"/>
                <a:cs typeface="Times New Roman" panose="02020603050405020304" pitchFamily="18" charset="0"/>
              </a:rPr>
              <a:t>)</a:t>
            </a:r>
          </a:p>
        </p:txBody>
      </p:sp>
      <p:pic>
        <p:nvPicPr>
          <p:cNvPr id="4" name="Picture 3">
            <a:extLst>
              <a:ext uri="{FF2B5EF4-FFF2-40B4-BE49-F238E27FC236}">
                <a16:creationId xmlns:a16="http://schemas.microsoft.com/office/drawing/2014/main" id="{0594614A-8FEF-34C4-6D43-D4BB36EE0D4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10174884" y="6395051"/>
            <a:ext cx="1785976" cy="462949"/>
          </a:xfrm>
          <a:prstGeom prst="rect">
            <a:avLst/>
          </a:prstGeom>
        </p:spPr>
      </p:pic>
      <p:sp>
        <p:nvSpPr>
          <p:cNvPr id="8" name="TextBox 7">
            <a:extLst>
              <a:ext uri="{FF2B5EF4-FFF2-40B4-BE49-F238E27FC236}">
                <a16:creationId xmlns:a16="http://schemas.microsoft.com/office/drawing/2014/main" id="{577C78EA-0173-96A3-60B0-4294E1CBA5B3}"/>
              </a:ext>
            </a:extLst>
          </p:cNvPr>
          <p:cNvSpPr txBox="1"/>
          <p:nvPr/>
        </p:nvSpPr>
        <p:spPr>
          <a:xfrm>
            <a:off x="147319" y="126309"/>
            <a:ext cx="5318761" cy="830997"/>
          </a:xfrm>
          <a:prstGeom prst="rect">
            <a:avLst/>
          </a:prstGeom>
          <a:noFill/>
        </p:spPr>
        <p:txBody>
          <a:bodyPr wrap="square">
            <a:spAutoFit/>
          </a:bodyPr>
          <a:lstStyle/>
          <a:p>
            <a:r>
              <a:rPr lang="en-US" sz="2400" b="1" dirty="0">
                <a:ln w="0"/>
                <a:effectLst>
                  <a:outerShdw blurRad="38100" dist="19050" dir="2700000" algn="tl" rotWithShape="0">
                    <a:schemeClr val="dk1">
                      <a:alpha val="40000"/>
                    </a:schemeClr>
                  </a:outerShdw>
                </a:effectLst>
                <a:latin typeface="ADLaM Display" panose="02010000000000000000" pitchFamily="2" charset="0"/>
                <a:ea typeface="ADLaM Display" panose="02010000000000000000" pitchFamily="2" charset="0"/>
                <a:cs typeface="ADLaM Display" panose="02010000000000000000" pitchFamily="2" charset="0"/>
              </a:rPr>
              <a:t>CATEGORICAL VARIABLES — UNIVARIATE ANALYSIS</a:t>
            </a:r>
          </a:p>
        </p:txBody>
      </p:sp>
    </p:spTree>
    <p:extLst>
      <p:ext uri="{BB962C8B-B14F-4D97-AF65-F5344CB8AC3E}">
        <p14:creationId xmlns:p14="http://schemas.microsoft.com/office/powerpoint/2010/main" val="9242221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2" name="Picture 10">
            <a:extLst>
              <a:ext uri="{FF2B5EF4-FFF2-40B4-BE49-F238E27FC236}">
                <a16:creationId xmlns:a16="http://schemas.microsoft.com/office/drawing/2014/main" id="{D2D0A968-AD40-1BF2-8165-0C8EB39440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61760" y="1206000"/>
            <a:ext cx="5577840" cy="398839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5B4F3C23-3BA3-BA47-47CD-34A88D36E8D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10253624" y="6324765"/>
            <a:ext cx="1785976" cy="462949"/>
          </a:xfrm>
          <a:prstGeom prst="rect">
            <a:avLst/>
          </a:prstGeom>
        </p:spPr>
      </p:pic>
      <p:sp>
        <p:nvSpPr>
          <p:cNvPr id="11" name="TextBox 10">
            <a:extLst>
              <a:ext uri="{FF2B5EF4-FFF2-40B4-BE49-F238E27FC236}">
                <a16:creationId xmlns:a16="http://schemas.microsoft.com/office/drawing/2014/main" id="{4D528DAD-D597-D113-06BB-036F0C37BFF8}"/>
              </a:ext>
            </a:extLst>
          </p:cNvPr>
          <p:cNvSpPr txBox="1"/>
          <p:nvPr/>
        </p:nvSpPr>
        <p:spPr>
          <a:xfrm>
            <a:off x="233680" y="923929"/>
            <a:ext cx="6096000" cy="5909310"/>
          </a:xfrm>
          <a:prstGeom prst="rect">
            <a:avLst/>
          </a:prstGeom>
          <a:noFill/>
        </p:spPr>
        <p:txBody>
          <a:bodyPr wrap="square">
            <a:spAutoFit/>
          </a:bodyPr>
          <a:lstStyle/>
          <a:p>
            <a:pPr>
              <a:buNone/>
            </a:pPr>
            <a:r>
              <a:rPr lang="en-US" b="1" dirty="0">
                <a:solidFill>
                  <a:srgbClr val="7030A0"/>
                </a:solidFill>
              </a:rPr>
              <a:t>• </a:t>
            </a:r>
            <a:r>
              <a:rPr lang="en-US" b="1" dirty="0">
                <a:solidFill>
                  <a:srgbClr val="7030A0"/>
                </a:solidFill>
                <a:latin typeface="Times New Roman" panose="02020603050405020304" pitchFamily="18" charset="0"/>
                <a:cs typeface="Times New Roman" panose="02020603050405020304" pitchFamily="18" charset="0"/>
              </a:rPr>
              <a:t>City Development Index: Higher for target = 0 → strong relation with job stability</a:t>
            </a:r>
          </a:p>
          <a:p>
            <a:pPr>
              <a:buNone/>
            </a:pPr>
            <a:br>
              <a:rPr lang="en-US" b="1" dirty="0">
                <a:solidFill>
                  <a:srgbClr val="7030A0"/>
                </a:solidFill>
                <a:latin typeface="Times New Roman" panose="02020603050405020304" pitchFamily="18" charset="0"/>
                <a:cs typeface="Times New Roman" panose="02020603050405020304" pitchFamily="18" charset="0"/>
              </a:rPr>
            </a:br>
            <a:endParaRPr lang="en-US" b="1" dirty="0">
              <a:solidFill>
                <a:srgbClr val="7030A0"/>
              </a:solidFill>
              <a:latin typeface="Times New Roman" panose="02020603050405020304" pitchFamily="18" charset="0"/>
              <a:cs typeface="Times New Roman" panose="02020603050405020304" pitchFamily="18" charset="0"/>
            </a:endParaRPr>
          </a:p>
          <a:p>
            <a:pPr>
              <a:buNone/>
            </a:pPr>
            <a:r>
              <a:rPr lang="en-US" b="1" dirty="0">
                <a:solidFill>
                  <a:srgbClr val="7030A0"/>
                </a:solidFill>
                <a:latin typeface="Times New Roman" panose="02020603050405020304" pitchFamily="18" charset="0"/>
                <a:cs typeface="Times New Roman" panose="02020603050405020304" pitchFamily="18" charset="0"/>
              </a:rPr>
              <a:t>• Lower values of city index are linked with higher job change (target = 1)</a:t>
            </a:r>
          </a:p>
          <a:p>
            <a:pPr>
              <a:buNone/>
            </a:pPr>
            <a:br>
              <a:rPr lang="en-US" b="1" dirty="0">
                <a:solidFill>
                  <a:srgbClr val="7030A0"/>
                </a:solidFill>
                <a:latin typeface="Times New Roman" panose="02020603050405020304" pitchFamily="18" charset="0"/>
                <a:cs typeface="Times New Roman" panose="02020603050405020304" pitchFamily="18" charset="0"/>
              </a:rPr>
            </a:br>
            <a:endParaRPr lang="en-US" b="1" dirty="0">
              <a:solidFill>
                <a:srgbClr val="7030A0"/>
              </a:solidFill>
              <a:latin typeface="Times New Roman" panose="02020603050405020304" pitchFamily="18" charset="0"/>
              <a:cs typeface="Times New Roman" panose="02020603050405020304" pitchFamily="18" charset="0"/>
            </a:endParaRPr>
          </a:p>
          <a:p>
            <a:pPr>
              <a:buNone/>
            </a:pPr>
            <a:r>
              <a:rPr lang="en-US" b="1" dirty="0">
                <a:solidFill>
                  <a:srgbClr val="7030A0"/>
                </a:solidFill>
                <a:latin typeface="Times New Roman" panose="02020603050405020304" pitchFamily="18" charset="0"/>
                <a:cs typeface="Times New Roman" panose="02020603050405020304" pitchFamily="18" charset="0"/>
              </a:rPr>
              <a:t>• Training Hours: Similar for both target classes → weak relationship</a:t>
            </a:r>
          </a:p>
          <a:p>
            <a:pPr>
              <a:buNone/>
            </a:pPr>
            <a:br>
              <a:rPr lang="en-US" b="1" dirty="0">
                <a:solidFill>
                  <a:srgbClr val="7030A0"/>
                </a:solidFill>
                <a:latin typeface="Times New Roman" panose="02020603050405020304" pitchFamily="18" charset="0"/>
                <a:cs typeface="Times New Roman" panose="02020603050405020304" pitchFamily="18" charset="0"/>
              </a:rPr>
            </a:br>
            <a:endParaRPr lang="en-US" b="1" dirty="0">
              <a:solidFill>
                <a:srgbClr val="7030A0"/>
              </a:solidFill>
              <a:latin typeface="Times New Roman" panose="02020603050405020304" pitchFamily="18" charset="0"/>
              <a:cs typeface="Times New Roman" panose="02020603050405020304" pitchFamily="18" charset="0"/>
            </a:endParaRPr>
          </a:p>
          <a:p>
            <a:pPr>
              <a:buNone/>
            </a:pPr>
            <a:r>
              <a:rPr lang="en-US" b="1" dirty="0">
                <a:solidFill>
                  <a:srgbClr val="7030A0"/>
                </a:solidFill>
                <a:latin typeface="Times New Roman" panose="02020603050405020304" pitchFamily="18" charset="0"/>
                <a:cs typeface="Times New Roman" panose="02020603050405020304" pitchFamily="18" charset="0"/>
              </a:rPr>
              <a:t>• Both groups show right-skewed distribution in training hours</a:t>
            </a:r>
          </a:p>
          <a:p>
            <a:pPr>
              <a:buNone/>
            </a:pPr>
            <a:br>
              <a:rPr lang="en-US" b="1" dirty="0">
                <a:solidFill>
                  <a:srgbClr val="7030A0"/>
                </a:solidFill>
                <a:latin typeface="Times New Roman" panose="02020603050405020304" pitchFamily="18" charset="0"/>
                <a:cs typeface="Times New Roman" panose="02020603050405020304" pitchFamily="18" charset="0"/>
              </a:rPr>
            </a:br>
            <a:endParaRPr lang="en-US" b="1" dirty="0">
              <a:solidFill>
                <a:srgbClr val="7030A0"/>
              </a:solidFill>
              <a:latin typeface="Times New Roman" panose="02020603050405020304" pitchFamily="18" charset="0"/>
              <a:cs typeface="Times New Roman" panose="02020603050405020304" pitchFamily="18" charset="0"/>
            </a:endParaRPr>
          </a:p>
          <a:p>
            <a:pPr>
              <a:buNone/>
            </a:pPr>
            <a:r>
              <a:rPr lang="en-US" b="1" dirty="0">
                <a:solidFill>
                  <a:srgbClr val="7030A0"/>
                </a:solidFill>
                <a:latin typeface="Times New Roman" panose="02020603050405020304" pitchFamily="18" charset="0"/>
                <a:cs typeface="Times New Roman" panose="02020603050405020304" pitchFamily="18" charset="0"/>
              </a:rPr>
              <a:t>• Target is used to compare feature behavior across classes</a:t>
            </a:r>
          </a:p>
          <a:p>
            <a:pPr>
              <a:buNone/>
            </a:pPr>
            <a:br>
              <a:rPr lang="en-US" b="1" dirty="0">
                <a:solidFill>
                  <a:srgbClr val="7030A0"/>
                </a:solidFill>
                <a:latin typeface="Times New Roman" panose="02020603050405020304" pitchFamily="18" charset="0"/>
                <a:cs typeface="Times New Roman" panose="02020603050405020304" pitchFamily="18" charset="0"/>
              </a:rPr>
            </a:br>
            <a:endParaRPr lang="en-US" b="1" dirty="0">
              <a:solidFill>
                <a:srgbClr val="7030A0"/>
              </a:solidFill>
              <a:latin typeface="Times New Roman" panose="02020603050405020304" pitchFamily="18" charset="0"/>
              <a:cs typeface="Times New Roman" panose="02020603050405020304" pitchFamily="18" charset="0"/>
            </a:endParaRPr>
          </a:p>
          <a:p>
            <a:pPr>
              <a:buNone/>
            </a:pPr>
            <a:r>
              <a:rPr lang="en-US" b="1" dirty="0">
                <a:solidFill>
                  <a:srgbClr val="7030A0"/>
                </a:solidFill>
                <a:latin typeface="Times New Roman" panose="02020603050405020304" pitchFamily="18" charset="0"/>
                <a:cs typeface="Times New Roman" panose="02020603050405020304" pitchFamily="18" charset="0"/>
              </a:rPr>
              <a:t>• Enrollee ID is excluded → no meaningful relation (only identifier)</a:t>
            </a:r>
          </a:p>
        </p:txBody>
      </p:sp>
      <p:sp>
        <p:nvSpPr>
          <p:cNvPr id="15" name="TextBox 14">
            <a:extLst>
              <a:ext uri="{FF2B5EF4-FFF2-40B4-BE49-F238E27FC236}">
                <a16:creationId xmlns:a16="http://schemas.microsoft.com/office/drawing/2014/main" id="{4F5E1FE5-0C9C-5C46-0949-26265C56BC7D}"/>
              </a:ext>
            </a:extLst>
          </p:cNvPr>
          <p:cNvSpPr txBox="1"/>
          <p:nvPr/>
        </p:nvSpPr>
        <p:spPr>
          <a:xfrm>
            <a:off x="1625600" y="117094"/>
            <a:ext cx="9499600" cy="707886"/>
          </a:xfrm>
          <a:prstGeom prst="rect">
            <a:avLst/>
          </a:prstGeom>
          <a:noFill/>
        </p:spPr>
        <p:txBody>
          <a:bodyPr wrap="square">
            <a:spAutoFit/>
          </a:bodyPr>
          <a:lstStyle/>
          <a:p>
            <a:r>
              <a:rPr lang="en-US" sz="4000" b="1" dirty="0">
                <a:ln w="0"/>
                <a:effectLst>
                  <a:outerShdw blurRad="38100" dist="19050" dir="2700000" algn="tl" rotWithShape="0">
                    <a:schemeClr val="dk1">
                      <a:alpha val="40000"/>
                    </a:schemeClr>
                  </a:outerShdw>
                </a:effectLst>
                <a:latin typeface="ADLaM Display" panose="02010000000000000000" pitchFamily="2" charset="0"/>
                <a:ea typeface="ADLaM Display" panose="02010000000000000000" pitchFamily="2" charset="0"/>
                <a:cs typeface="ADLaM Display" panose="02010000000000000000" pitchFamily="2" charset="0"/>
              </a:rPr>
              <a:t>CONTINUOUS FEATURES VS TARGET</a:t>
            </a:r>
          </a:p>
        </p:txBody>
      </p:sp>
    </p:spTree>
    <p:extLst>
      <p:ext uri="{BB962C8B-B14F-4D97-AF65-F5344CB8AC3E}">
        <p14:creationId xmlns:p14="http://schemas.microsoft.com/office/powerpoint/2010/main" val="40683935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a:extLst>
              <a:ext uri="{FF2B5EF4-FFF2-40B4-BE49-F238E27FC236}">
                <a16:creationId xmlns:a16="http://schemas.microsoft.com/office/drawing/2014/main" id="{DF14254C-341D-66B1-930D-FCDFB47A7C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22160" y="1009445"/>
            <a:ext cx="5069840" cy="5018283"/>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ED747514-4B57-DF1A-2D00-8B09DB9FDB8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10212984" y="6296491"/>
            <a:ext cx="1785976" cy="462949"/>
          </a:xfrm>
          <a:prstGeom prst="rect">
            <a:avLst/>
          </a:prstGeom>
        </p:spPr>
      </p:pic>
      <p:sp>
        <p:nvSpPr>
          <p:cNvPr id="5" name="TextBox 4">
            <a:extLst>
              <a:ext uri="{FF2B5EF4-FFF2-40B4-BE49-F238E27FC236}">
                <a16:creationId xmlns:a16="http://schemas.microsoft.com/office/drawing/2014/main" id="{B134135A-B7A5-6C21-2CE1-0F6D74C7FA1F}"/>
              </a:ext>
            </a:extLst>
          </p:cNvPr>
          <p:cNvSpPr txBox="1"/>
          <p:nvPr/>
        </p:nvSpPr>
        <p:spPr>
          <a:xfrm>
            <a:off x="0" y="589281"/>
            <a:ext cx="8046720" cy="6268720"/>
          </a:xfrm>
          <a:prstGeom prst="rect">
            <a:avLst/>
          </a:prstGeom>
          <a:noFill/>
        </p:spPr>
        <p:txBody>
          <a:bodyPr wrap="square">
            <a:spAutoFit/>
          </a:bodyPr>
          <a:lstStyle/>
          <a:p>
            <a:pPr>
              <a:buNone/>
            </a:pPr>
            <a:r>
              <a:rPr lang="en-US" b="1" dirty="0">
                <a:solidFill>
                  <a:srgbClr val="0070C0"/>
                </a:solidFill>
              </a:rPr>
              <a:t>• </a:t>
            </a:r>
            <a:r>
              <a:rPr lang="en-US" b="1" dirty="0">
                <a:solidFill>
                  <a:srgbClr val="0070C0"/>
                </a:solidFill>
                <a:latin typeface="Times New Roman" panose="02020603050405020304" pitchFamily="18" charset="0"/>
                <a:cs typeface="Times New Roman" panose="02020603050405020304" pitchFamily="18" charset="0"/>
              </a:rPr>
              <a:t>Most categories show higher target = 0 → employees are generally stable</a:t>
            </a:r>
          </a:p>
          <a:p>
            <a:pPr>
              <a:buNone/>
            </a:pPr>
            <a:br>
              <a:rPr lang="en-US" b="1" dirty="0">
                <a:solidFill>
                  <a:srgbClr val="0070C0"/>
                </a:solidFill>
                <a:latin typeface="Times New Roman" panose="02020603050405020304" pitchFamily="18" charset="0"/>
                <a:cs typeface="Times New Roman" panose="02020603050405020304" pitchFamily="18" charset="0"/>
              </a:rPr>
            </a:br>
            <a:endParaRPr lang="en-US" b="1" dirty="0">
              <a:solidFill>
                <a:srgbClr val="0070C0"/>
              </a:solidFill>
              <a:latin typeface="Times New Roman" panose="02020603050405020304" pitchFamily="18" charset="0"/>
              <a:cs typeface="Times New Roman" panose="02020603050405020304" pitchFamily="18" charset="0"/>
            </a:endParaRPr>
          </a:p>
          <a:p>
            <a:pPr>
              <a:buNone/>
            </a:pPr>
            <a:r>
              <a:rPr lang="en-US" b="1" dirty="0">
                <a:solidFill>
                  <a:srgbClr val="0070C0"/>
                </a:solidFill>
                <a:latin typeface="Times New Roman" panose="02020603050405020304" pitchFamily="18" charset="0"/>
                <a:cs typeface="Times New Roman" panose="02020603050405020304" pitchFamily="18" charset="0"/>
              </a:rPr>
              <a:t>• City shows variation → some cities have higher job change (target = 1)</a:t>
            </a:r>
          </a:p>
          <a:p>
            <a:pPr>
              <a:buNone/>
            </a:pPr>
            <a:br>
              <a:rPr lang="en-US" b="1" dirty="0">
                <a:solidFill>
                  <a:srgbClr val="0070C0"/>
                </a:solidFill>
                <a:latin typeface="Times New Roman" panose="02020603050405020304" pitchFamily="18" charset="0"/>
                <a:cs typeface="Times New Roman" panose="02020603050405020304" pitchFamily="18" charset="0"/>
              </a:rPr>
            </a:br>
            <a:endParaRPr lang="en-US" b="1" dirty="0">
              <a:solidFill>
                <a:srgbClr val="0070C0"/>
              </a:solidFill>
              <a:latin typeface="Times New Roman" panose="02020603050405020304" pitchFamily="18" charset="0"/>
              <a:cs typeface="Times New Roman" panose="02020603050405020304" pitchFamily="18" charset="0"/>
            </a:endParaRPr>
          </a:p>
          <a:p>
            <a:pPr>
              <a:buNone/>
            </a:pPr>
            <a:r>
              <a:rPr lang="en-US" b="1" dirty="0">
                <a:solidFill>
                  <a:srgbClr val="0070C0"/>
                </a:solidFill>
                <a:latin typeface="Times New Roman" panose="02020603050405020304" pitchFamily="18" charset="0"/>
                <a:cs typeface="Times New Roman" panose="02020603050405020304" pitchFamily="18" charset="0"/>
              </a:rPr>
              <a:t>• No relevant experience → higher job change</a:t>
            </a:r>
          </a:p>
          <a:p>
            <a:pPr>
              <a:buNone/>
            </a:pPr>
            <a:br>
              <a:rPr lang="en-US" b="1" dirty="0">
                <a:solidFill>
                  <a:srgbClr val="0070C0"/>
                </a:solidFill>
                <a:latin typeface="Times New Roman" panose="02020603050405020304" pitchFamily="18" charset="0"/>
                <a:cs typeface="Times New Roman" panose="02020603050405020304" pitchFamily="18" charset="0"/>
              </a:rPr>
            </a:br>
            <a:endParaRPr lang="en-US" b="1" dirty="0">
              <a:solidFill>
                <a:srgbClr val="0070C0"/>
              </a:solidFill>
              <a:latin typeface="Times New Roman" panose="02020603050405020304" pitchFamily="18" charset="0"/>
              <a:cs typeface="Times New Roman" panose="02020603050405020304" pitchFamily="18" charset="0"/>
            </a:endParaRPr>
          </a:p>
          <a:p>
            <a:pPr>
              <a:buNone/>
            </a:pPr>
            <a:r>
              <a:rPr lang="en-US" b="1" dirty="0">
                <a:solidFill>
                  <a:srgbClr val="0070C0"/>
                </a:solidFill>
                <a:latin typeface="Times New Roman" panose="02020603050405020304" pitchFamily="18" charset="0"/>
                <a:cs typeface="Times New Roman" panose="02020603050405020304" pitchFamily="18" charset="0"/>
              </a:rPr>
              <a:t>• Full-time learners → more likely to change jobs</a:t>
            </a:r>
          </a:p>
          <a:p>
            <a:pPr>
              <a:buNone/>
            </a:pPr>
            <a:br>
              <a:rPr lang="en-US" b="1" dirty="0">
                <a:solidFill>
                  <a:srgbClr val="0070C0"/>
                </a:solidFill>
                <a:latin typeface="Times New Roman" panose="02020603050405020304" pitchFamily="18" charset="0"/>
                <a:cs typeface="Times New Roman" panose="02020603050405020304" pitchFamily="18" charset="0"/>
              </a:rPr>
            </a:br>
            <a:endParaRPr lang="en-US" b="1" dirty="0">
              <a:solidFill>
                <a:srgbClr val="0070C0"/>
              </a:solidFill>
              <a:latin typeface="Times New Roman" panose="02020603050405020304" pitchFamily="18" charset="0"/>
              <a:cs typeface="Times New Roman" panose="02020603050405020304" pitchFamily="18" charset="0"/>
            </a:endParaRPr>
          </a:p>
          <a:p>
            <a:pPr>
              <a:buNone/>
            </a:pPr>
            <a:r>
              <a:rPr lang="en-US" b="1" dirty="0">
                <a:solidFill>
                  <a:srgbClr val="0070C0"/>
                </a:solidFill>
                <a:latin typeface="Times New Roman" panose="02020603050405020304" pitchFamily="18" charset="0"/>
                <a:cs typeface="Times New Roman" panose="02020603050405020304" pitchFamily="18" charset="0"/>
              </a:rPr>
              <a:t>• Less experience → higher job change, more experience → stable</a:t>
            </a:r>
          </a:p>
          <a:p>
            <a:pPr>
              <a:buNone/>
            </a:pPr>
            <a:br>
              <a:rPr lang="en-US" b="1" dirty="0">
                <a:solidFill>
                  <a:srgbClr val="0070C0"/>
                </a:solidFill>
                <a:latin typeface="Times New Roman" panose="02020603050405020304" pitchFamily="18" charset="0"/>
                <a:cs typeface="Times New Roman" panose="02020603050405020304" pitchFamily="18" charset="0"/>
              </a:rPr>
            </a:br>
            <a:endParaRPr lang="en-US" b="1" dirty="0">
              <a:solidFill>
                <a:srgbClr val="0070C0"/>
              </a:solidFill>
              <a:latin typeface="Times New Roman" panose="02020603050405020304" pitchFamily="18" charset="0"/>
              <a:cs typeface="Times New Roman" panose="02020603050405020304" pitchFamily="18" charset="0"/>
            </a:endParaRPr>
          </a:p>
          <a:p>
            <a:pPr>
              <a:buNone/>
            </a:pPr>
            <a:r>
              <a:rPr lang="en-US" b="1" dirty="0">
                <a:solidFill>
                  <a:srgbClr val="0070C0"/>
                </a:solidFill>
                <a:latin typeface="Times New Roman" panose="02020603050405020304" pitchFamily="18" charset="0"/>
                <a:cs typeface="Times New Roman" panose="02020603050405020304" pitchFamily="18" charset="0"/>
              </a:rPr>
              <a:t>• Small companies/startups → higher job change than large companies</a:t>
            </a:r>
          </a:p>
          <a:p>
            <a:pPr>
              <a:buNone/>
            </a:pPr>
            <a:br>
              <a:rPr lang="en-US" b="1" dirty="0">
                <a:solidFill>
                  <a:srgbClr val="0070C0"/>
                </a:solidFill>
                <a:latin typeface="Times New Roman" panose="02020603050405020304" pitchFamily="18" charset="0"/>
                <a:cs typeface="Times New Roman" panose="02020603050405020304" pitchFamily="18" charset="0"/>
              </a:rPr>
            </a:br>
            <a:endParaRPr lang="en-US" b="1" dirty="0">
              <a:solidFill>
                <a:srgbClr val="0070C0"/>
              </a:solidFill>
              <a:latin typeface="Times New Roman" panose="02020603050405020304" pitchFamily="18" charset="0"/>
              <a:cs typeface="Times New Roman" panose="02020603050405020304" pitchFamily="18" charset="0"/>
            </a:endParaRPr>
          </a:p>
          <a:p>
            <a:pPr>
              <a:buNone/>
            </a:pPr>
            <a:r>
              <a:rPr lang="en-US" b="1" dirty="0">
                <a:solidFill>
                  <a:srgbClr val="0070C0"/>
                </a:solidFill>
                <a:latin typeface="Times New Roman" panose="02020603050405020304" pitchFamily="18" charset="0"/>
                <a:cs typeface="Times New Roman" panose="02020603050405020304" pitchFamily="18" charset="0"/>
              </a:rPr>
              <a:t>• Recent job change → higher chance of switching again</a:t>
            </a:r>
          </a:p>
          <a:p>
            <a:pPr>
              <a:buNone/>
            </a:pPr>
            <a:br>
              <a:rPr lang="en-US" b="1" dirty="0">
                <a:solidFill>
                  <a:srgbClr val="0070C0"/>
                </a:solidFill>
                <a:latin typeface="Times New Roman" panose="02020603050405020304" pitchFamily="18" charset="0"/>
                <a:cs typeface="Times New Roman" panose="02020603050405020304" pitchFamily="18" charset="0"/>
              </a:rPr>
            </a:br>
            <a:endParaRPr lang="en-US" b="1" dirty="0">
              <a:solidFill>
                <a:srgbClr val="0070C0"/>
              </a:solidFill>
              <a:latin typeface="Times New Roman" panose="02020603050405020304" pitchFamily="18" charset="0"/>
              <a:cs typeface="Times New Roman" panose="02020603050405020304" pitchFamily="18" charset="0"/>
            </a:endParaRPr>
          </a:p>
          <a:p>
            <a:pPr>
              <a:buNone/>
            </a:pPr>
            <a:r>
              <a:rPr lang="en-US" b="1" dirty="0">
                <a:solidFill>
                  <a:srgbClr val="0070C0"/>
                </a:solidFill>
                <a:latin typeface="Times New Roman" panose="02020603050405020304" pitchFamily="18" charset="0"/>
                <a:cs typeface="Times New Roman" panose="02020603050405020304" pitchFamily="18" charset="0"/>
              </a:rPr>
              <a:t>• Target helps compare categories, </a:t>
            </a:r>
            <a:r>
              <a:rPr lang="en-US" b="1" dirty="0" err="1">
                <a:solidFill>
                  <a:srgbClr val="0070C0"/>
                </a:solidFill>
                <a:latin typeface="Times New Roman" panose="02020603050405020304" pitchFamily="18" charset="0"/>
                <a:cs typeface="Times New Roman" panose="02020603050405020304" pitchFamily="18" charset="0"/>
              </a:rPr>
              <a:t>enrollee_id</a:t>
            </a:r>
            <a:r>
              <a:rPr lang="en-US" b="1" dirty="0">
                <a:solidFill>
                  <a:srgbClr val="0070C0"/>
                </a:solidFill>
                <a:latin typeface="Times New Roman" panose="02020603050405020304" pitchFamily="18" charset="0"/>
                <a:cs typeface="Times New Roman" panose="02020603050405020304" pitchFamily="18" charset="0"/>
              </a:rPr>
              <a:t> excluded (only ID)</a:t>
            </a:r>
          </a:p>
        </p:txBody>
      </p:sp>
      <p:sp>
        <p:nvSpPr>
          <p:cNvPr id="8" name="TextBox 7">
            <a:extLst>
              <a:ext uri="{FF2B5EF4-FFF2-40B4-BE49-F238E27FC236}">
                <a16:creationId xmlns:a16="http://schemas.microsoft.com/office/drawing/2014/main" id="{3A7D92AE-3C91-E056-467F-79A24CDBA88F}"/>
              </a:ext>
            </a:extLst>
          </p:cNvPr>
          <p:cNvSpPr txBox="1"/>
          <p:nvPr/>
        </p:nvSpPr>
        <p:spPr>
          <a:xfrm>
            <a:off x="2530932" y="-118605"/>
            <a:ext cx="8473440" cy="707886"/>
          </a:xfrm>
          <a:prstGeom prst="rect">
            <a:avLst/>
          </a:prstGeom>
          <a:noFill/>
        </p:spPr>
        <p:txBody>
          <a:bodyPr wrap="square">
            <a:spAutoFit/>
          </a:bodyPr>
          <a:lstStyle/>
          <a:p>
            <a:r>
              <a:rPr lang="en-US" sz="4000" b="1" dirty="0">
                <a:ln w="0"/>
                <a:effectLst>
                  <a:outerShdw blurRad="38100" dist="19050" dir="2700000" algn="tl" rotWithShape="0">
                    <a:schemeClr val="dk1">
                      <a:alpha val="40000"/>
                    </a:schemeClr>
                  </a:outerShdw>
                </a:effectLst>
              </a:rPr>
              <a:t>CATEGORICAL FEATURES VS TARGET</a:t>
            </a:r>
          </a:p>
        </p:txBody>
      </p:sp>
    </p:spTree>
    <p:extLst>
      <p:ext uri="{BB962C8B-B14F-4D97-AF65-F5344CB8AC3E}">
        <p14:creationId xmlns:p14="http://schemas.microsoft.com/office/powerpoint/2010/main" val="7556863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A88E4FD-FD58-4E92-EBF0-34DF2638E84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10111384" y="6235531"/>
            <a:ext cx="1785976" cy="462949"/>
          </a:xfrm>
          <a:prstGeom prst="rect">
            <a:avLst/>
          </a:prstGeom>
        </p:spPr>
      </p:pic>
      <p:pic>
        <p:nvPicPr>
          <p:cNvPr id="5122" name="Picture 2">
            <a:extLst>
              <a:ext uri="{FF2B5EF4-FFF2-40B4-BE49-F238E27FC236}">
                <a16:creationId xmlns:a16="http://schemas.microsoft.com/office/drawing/2014/main" id="{D1DAE9ED-E2E9-720F-5AFF-5D05CCB539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48482" y="610165"/>
            <a:ext cx="6943518" cy="557784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42303CC-9CE1-F026-3913-2E005D597398}"/>
              </a:ext>
            </a:extLst>
          </p:cNvPr>
          <p:cNvSpPr txBox="1"/>
          <p:nvPr/>
        </p:nvSpPr>
        <p:spPr>
          <a:xfrm>
            <a:off x="137160" y="1500452"/>
            <a:ext cx="4693920" cy="5078313"/>
          </a:xfrm>
          <a:prstGeom prst="rect">
            <a:avLst/>
          </a:prstGeom>
          <a:noFill/>
        </p:spPr>
        <p:txBody>
          <a:bodyPr wrap="square">
            <a:spAutoFit/>
          </a:bodyPr>
          <a:lstStyle/>
          <a:p>
            <a:pPr>
              <a:buNone/>
            </a:pPr>
            <a:r>
              <a:rPr lang="en-US" b="1" dirty="0">
                <a:solidFill>
                  <a:srgbClr val="FF0000"/>
                </a:solidFill>
                <a:latin typeface="Times New Roman" panose="02020603050405020304" pitchFamily="18" charset="0"/>
                <a:cs typeface="Times New Roman" panose="02020603050405020304" pitchFamily="18" charset="0"/>
              </a:rPr>
              <a:t>• Heatmap shows relationships between all features (red = positive, blue = negative)</a:t>
            </a:r>
          </a:p>
          <a:p>
            <a:pPr>
              <a:buNone/>
            </a:pPr>
            <a:br>
              <a:rPr lang="en-US" b="1" dirty="0">
                <a:solidFill>
                  <a:srgbClr val="FF0000"/>
                </a:solidFill>
                <a:latin typeface="Times New Roman" panose="02020603050405020304" pitchFamily="18" charset="0"/>
                <a:cs typeface="Times New Roman" panose="02020603050405020304" pitchFamily="18" charset="0"/>
              </a:rPr>
            </a:br>
            <a:endParaRPr lang="en-US" b="1" dirty="0">
              <a:solidFill>
                <a:srgbClr val="FF0000"/>
              </a:solidFill>
              <a:latin typeface="Times New Roman" panose="02020603050405020304" pitchFamily="18" charset="0"/>
              <a:cs typeface="Times New Roman" panose="02020603050405020304" pitchFamily="18" charset="0"/>
            </a:endParaRPr>
          </a:p>
          <a:p>
            <a:pPr>
              <a:buNone/>
            </a:pPr>
            <a:r>
              <a:rPr lang="en-US" b="1" dirty="0">
                <a:solidFill>
                  <a:srgbClr val="FF0000"/>
                </a:solidFill>
                <a:latin typeface="Times New Roman" panose="02020603050405020304" pitchFamily="18" charset="0"/>
                <a:cs typeface="Times New Roman" panose="02020603050405020304" pitchFamily="18" charset="0"/>
              </a:rPr>
              <a:t>• Most features have weak correlation with target → no single strong predictor</a:t>
            </a:r>
          </a:p>
          <a:p>
            <a:pPr>
              <a:buNone/>
            </a:pPr>
            <a:br>
              <a:rPr lang="en-US" b="1" dirty="0">
                <a:solidFill>
                  <a:srgbClr val="FF0000"/>
                </a:solidFill>
                <a:latin typeface="Times New Roman" panose="02020603050405020304" pitchFamily="18" charset="0"/>
                <a:cs typeface="Times New Roman" panose="02020603050405020304" pitchFamily="18" charset="0"/>
              </a:rPr>
            </a:br>
            <a:endParaRPr lang="en-US" b="1" dirty="0">
              <a:solidFill>
                <a:srgbClr val="FF0000"/>
              </a:solidFill>
              <a:latin typeface="Times New Roman" panose="02020603050405020304" pitchFamily="18" charset="0"/>
              <a:cs typeface="Times New Roman" panose="02020603050405020304" pitchFamily="18" charset="0"/>
            </a:endParaRPr>
          </a:p>
          <a:p>
            <a:pPr>
              <a:buNone/>
            </a:pPr>
            <a:r>
              <a:rPr lang="en-US" b="1" dirty="0">
                <a:solidFill>
                  <a:srgbClr val="FF0000"/>
                </a:solidFill>
                <a:latin typeface="Times New Roman" panose="02020603050405020304" pitchFamily="18" charset="0"/>
                <a:cs typeface="Times New Roman" panose="02020603050405020304" pitchFamily="18" charset="0"/>
              </a:rPr>
              <a:t>• City Development Index has moderate negative correlation with target (-0.34)</a:t>
            </a:r>
          </a:p>
          <a:p>
            <a:pPr>
              <a:buNone/>
            </a:pPr>
            <a:br>
              <a:rPr lang="en-US" b="1" dirty="0">
                <a:solidFill>
                  <a:srgbClr val="FF0000"/>
                </a:solidFill>
                <a:latin typeface="Times New Roman" panose="02020603050405020304" pitchFamily="18" charset="0"/>
                <a:cs typeface="Times New Roman" panose="02020603050405020304" pitchFamily="18" charset="0"/>
              </a:rPr>
            </a:br>
            <a:endParaRPr lang="en-US" b="1" dirty="0">
              <a:solidFill>
                <a:srgbClr val="FF0000"/>
              </a:solidFill>
              <a:latin typeface="Times New Roman" panose="02020603050405020304" pitchFamily="18" charset="0"/>
              <a:cs typeface="Times New Roman" panose="02020603050405020304" pitchFamily="18" charset="0"/>
            </a:endParaRPr>
          </a:p>
          <a:p>
            <a:pPr>
              <a:buNone/>
            </a:pPr>
            <a:r>
              <a:rPr lang="en-US" b="1" dirty="0">
                <a:solidFill>
                  <a:srgbClr val="FF0000"/>
                </a:solidFill>
                <a:latin typeface="Times New Roman" panose="02020603050405020304" pitchFamily="18" charset="0"/>
                <a:cs typeface="Times New Roman" panose="02020603050405020304" pitchFamily="18" charset="0"/>
              </a:rPr>
              <a:t>• Company Size and Company Type show positive correlation (0.52)</a:t>
            </a:r>
          </a:p>
          <a:p>
            <a:pPr>
              <a:buNone/>
            </a:pPr>
            <a:br>
              <a:rPr lang="en-US" b="1" dirty="0">
                <a:solidFill>
                  <a:srgbClr val="FF0000"/>
                </a:solidFill>
                <a:latin typeface="Times New Roman" panose="02020603050405020304" pitchFamily="18" charset="0"/>
                <a:cs typeface="Times New Roman" panose="02020603050405020304" pitchFamily="18" charset="0"/>
              </a:rPr>
            </a:br>
            <a:endParaRPr lang="en-US" b="1" dirty="0">
              <a:solidFill>
                <a:srgbClr val="FF0000"/>
              </a:solidFill>
              <a:latin typeface="Times New Roman" panose="02020603050405020304" pitchFamily="18" charset="0"/>
              <a:cs typeface="Times New Roman" panose="02020603050405020304" pitchFamily="18" charset="0"/>
            </a:endParaRPr>
          </a:p>
          <a:p>
            <a:pPr>
              <a:buNone/>
            </a:pPr>
            <a:r>
              <a:rPr lang="en-US" b="1" dirty="0">
                <a:solidFill>
                  <a:srgbClr val="FF0000"/>
                </a:solidFill>
                <a:latin typeface="Times New Roman" panose="02020603050405020304" pitchFamily="18" charset="0"/>
                <a:cs typeface="Times New Roman" panose="02020603050405020304" pitchFamily="18" charset="0"/>
              </a:rPr>
              <a:t>• Other features show very low correlation → limited direct impact</a:t>
            </a:r>
          </a:p>
        </p:txBody>
      </p:sp>
      <p:sp>
        <p:nvSpPr>
          <p:cNvPr id="8" name="TextBox 7">
            <a:extLst>
              <a:ext uri="{FF2B5EF4-FFF2-40B4-BE49-F238E27FC236}">
                <a16:creationId xmlns:a16="http://schemas.microsoft.com/office/drawing/2014/main" id="{EC900AAF-0F79-9BB7-5E79-3A7C43DAC9CE}"/>
              </a:ext>
            </a:extLst>
          </p:cNvPr>
          <p:cNvSpPr txBox="1"/>
          <p:nvPr/>
        </p:nvSpPr>
        <p:spPr>
          <a:xfrm>
            <a:off x="0" y="77708"/>
            <a:ext cx="4968240" cy="1323439"/>
          </a:xfrm>
          <a:prstGeom prst="rect">
            <a:avLst/>
          </a:prstGeom>
          <a:noFill/>
        </p:spPr>
        <p:txBody>
          <a:bodyPr wrap="square">
            <a:spAutoFit/>
          </a:bodyPr>
          <a:lstStyle/>
          <a:p>
            <a:r>
              <a:rPr lang="en-US" sz="4000" b="1" dirty="0">
                <a:ln w="0"/>
                <a:effectLst>
                  <a:outerShdw blurRad="38100" dist="19050" dir="2700000" algn="tl" rotWithShape="0">
                    <a:schemeClr val="dk1">
                      <a:alpha val="40000"/>
                    </a:schemeClr>
                  </a:outerShdw>
                </a:effectLst>
                <a:latin typeface="ADLaM Display" panose="02010000000000000000" pitchFamily="2" charset="0"/>
                <a:ea typeface="ADLaM Display" panose="02010000000000000000" pitchFamily="2" charset="0"/>
                <a:cs typeface="ADLaM Display" panose="02010000000000000000" pitchFamily="2" charset="0"/>
              </a:rPr>
              <a:t>CORRELATION</a:t>
            </a:r>
            <a:r>
              <a:rPr lang="en-US" b="1" dirty="0">
                <a:ln w="0"/>
                <a:effectLst>
                  <a:outerShdw blurRad="38100" dist="19050" dir="2700000" algn="tl" rotWithShape="0">
                    <a:schemeClr val="dk1">
                      <a:alpha val="40000"/>
                    </a:schemeClr>
                  </a:outerShdw>
                </a:effectLst>
                <a:latin typeface="ADLaM Display" panose="02010000000000000000" pitchFamily="2" charset="0"/>
                <a:ea typeface="ADLaM Display" panose="02010000000000000000" pitchFamily="2" charset="0"/>
                <a:cs typeface="ADLaM Display" panose="02010000000000000000" pitchFamily="2" charset="0"/>
              </a:rPr>
              <a:t> </a:t>
            </a:r>
            <a:r>
              <a:rPr lang="en-US" sz="4000" b="1" dirty="0">
                <a:ln w="0"/>
                <a:effectLst>
                  <a:outerShdw blurRad="38100" dist="19050" dir="2700000" algn="tl" rotWithShape="0">
                    <a:schemeClr val="dk1">
                      <a:alpha val="40000"/>
                    </a:schemeClr>
                  </a:outerShdw>
                </a:effectLst>
                <a:latin typeface="ADLaM Display" panose="02010000000000000000" pitchFamily="2" charset="0"/>
                <a:ea typeface="ADLaM Display" panose="02010000000000000000" pitchFamily="2" charset="0"/>
                <a:cs typeface="ADLaM Display" panose="02010000000000000000" pitchFamily="2" charset="0"/>
              </a:rPr>
              <a:t>HEATMAP</a:t>
            </a:r>
          </a:p>
        </p:txBody>
      </p:sp>
    </p:spTree>
    <p:extLst>
      <p:ext uri="{BB962C8B-B14F-4D97-AF65-F5344CB8AC3E}">
        <p14:creationId xmlns:p14="http://schemas.microsoft.com/office/powerpoint/2010/main" val="24357813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3">
            <a:extLst>
              <a:ext uri="{FF2B5EF4-FFF2-40B4-BE49-F238E27FC236}">
                <a16:creationId xmlns:a16="http://schemas.microsoft.com/office/drawing/2014/main" id="{7A8692F5-B253-9225-9397-B85B41D13B04}"/>
              </a:ext>
            </a:extLst>
          </p:cNvPr>
          <p:cNvSpPr/>
          <p:nvPr/>
        </p:nvSpPr>
        <p:spPr>
          <a:xfrm>
            <a:off x="7051040" y="1664035"/>
            <a:ext cx="4747628" cy="3529929"/>
          </a:xfrm>
          <a:custGeom>
            <a:avLst/>
            <a:gdLst/>
            <a:ahLst/>
            <a:cxnLst/>
            <a:rect l="l" t="t" r="r" b="b"/>
            <a:pathLst>
              <a:path w="6000216" h="4712897">
                <a:moveTo>
                  <a:pt x="0" y="0"/>
                </a:moveTo>
                <a:lnTo>
                  <a:pt x="6000216" y="0"/>
                </a:lnTo>
                <a:lnTo>
                  <a:pt x="6000216" y="4712897"/>
                </a:lnTo>
                <a:lnTo>
                  <a:pt x="0" y="47128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TextBox 4">
            <a:extLst>
              <a:ext uri="{FF2B5EF4-FFF2-40B4-BE49-F238E27FC236}">
                <a16:creationId xmlns:a16="http://schemas.microsoft.com/office/drawing/2014/main" id="{5BCE45B5-2E85-7864-170D-BBCDF441B02D}"/>
              </a:ext>
            </a:extLst>
          </p:cNvPr>
          <p:cNvSpPr txBox="1"/>
          <p:nvPr/>
        </p:nvSpPr>
        <p:spPr>
          <a:xfrm>
            <a:off x="101600" y="1036255"/>
            <a:ext cx="6837680" cy="5632311"/>
          </a:xfrm>
          <a:prstGeom prst="rect">
            <a:avLst/>
          </a:prstGeom>
          <a:noFill/>
        </p:spPr>
        <p:txBody>
          <a:bodyPr wrap="square">
            <a:spAutoFit/>
          </a:bodyPr>
          <a:lstStyle/>
          <a:p>
            <a:pPr>
              <a:buNone/>
            </a:pPr>
            <a:r>
              <a:rPr lang="en-US" b="1" dirty="0">
                <a:solidFill>
                  <a:srgbClr val="1C1A55"/>
                </a:solidFill>
                <a:latin typeface="Times New Roman" panose="02020603050405020304" pitchFamily="18" charset="0"/>
                <a:cs typeface="Times New Roman" panose="02020603050405020304" pitchFamily="18" charset="0"/>
              </a:rPr>
              <a:t>Irrelevant Feature Removal: The </a:t>
            </a:r>
            <a:r>
              <a:rPr lang="en-US" b="1" dirty="0" err="1">
                <a:solidFill>
                  <a:srgbClr val="1C1A55"/>
                </a:solidFill>
                <a:latin typeface="Times New Roman" panose="02020603050405020304" pitchFamily="18" charset="0"/>
                <a:cs typeface="Times New Roman" panose="02020603050405020304" pitchFamily="18" charset="0"/>
              </a:rPr>
              <a:t>enrollee_id</a:t>
            </a:r>
            <a:r>
              <a:rPr lang="en-US" b="1" dirty="0">
                <a:solidFill>
                  <a:srgbClr val="1C1A55"/>
                </a:solidFill>
                <a:latin typeface="Times New Roman" panose="02020603050405020304" pitchFamily="18" charset="0"/>
                <a:cs typeface="Times New Roman" panose="02020603050405020304" pitchFamily="18" charset="0"/>
              </a:rPr>
              <a:t> column is removed as it is only an identifier and does not contribute to prediction.</a:t>
            </a:r>
          </a:p>
          <a:p>
            <a:pPr>
              <a:buNone/>
            </a:pPr>
            <a:br>
              <a:rPr lang="en-US" b="1" dirty="0">
                <a:solidFill>
                  <a:srgbClr val="1C1A55"/>
                </a:solidFill>
                <a:latin typeface="Times New Roman" panose="02020603050405020304" pitchFamily="18" charset="0"/>
                <a:cs typeface="Times New Roman" panose="02020603050405020304" pitchFamily="18" charset="0"/>
              </a:rPr>
            </a:br>
            <a:endParaRPr lang="en-US" b="1" dirty="0">
              <a:solidFill>
                <a:srgbClr val="1C1A55"/>
              </a:solidFill>
              <a:latin typeface="Times New Roman" panose="02020603050405020304" pitchFamily="18" charset="0"/>
              <a:cs typeface="Times New Roman" panose="02020603050405020304" pitchFamily="18" charset="0"/>
            </a:endParaRPr>
          </a:p>
          <a:p>
            <a:pPr>
              <a:buNone/>
            </a:pPr>
            <a:r>
              <a:rPr lang="en-US" b="1" dirty="0">
                <a:solidFill>
                  <a:srgbClr val="1C1A55"/>
                </a:solidFill>
                <a:latin typeface="Times New Roman" panose="02020603050405020304" pitchFamily="18" charset="0"/>
                <a:cs typeface="Times New Roman" panose="02020603050405020304" pitchFamily="18" charset="0"/>
              </a:rPr>
              <a:t>• Missing Value Treatment: Missing values are present in features like gender, </a:t>
            </a:r>
            <a:r>
              <a:rPr lang="en-US" b="1" dirty="0" err="1">
                <a:solidFill>
                  <a:srgbClr val="1C1A55"/>
                </a:solidFill>
                <a:latin typeface="Times New Roman" panose="02020603050405020304" pitchFamily="18" charset="0"/>
                <a:cs typeface="Times New Roman" panose="02020603050405020304" pitchFamily="18" charset="0"/>
              </a:rPr>
              <a:t>company_size</a:t>
            </a:r>
            <a:r>
              <a:rPr lang="en-US" b="1" dirty="0">
                <a:solidFill>
                  <a:srgbClr val="1C1A55"/>
                </a:solidFill>
                <a:latin typeface="Times New Roman" panose="02020603050405020304" pitchFamily="18" charset="0"/>
                <a:cs typeface="Times New Roman" panose="02020603050405020304" pitchFamily="18" charset="0"/>
              </a:rPr>
              <a:t>, and </a:t>
            </a:r>
            <a:r>
              <a:rPr lang="en-US" b="1" dirty="0" err="1">
                <a:solidFill>
                  <a:srgbClr val="1C1A55"/>
                </a:solidFill>
                <a:latin typeface="Times New Roman" panose="02020603050405020304" pitchFamily="18" charset="0"/>
                <a:cs typeface="Times New Roman" panose="02020603050405020304" pitchFamily="18" charset="0"/>
              </a:rPr>
              <a:t>company_type</a:t>
            </a:r>
            <a:r>
              <a:rPr lang="en-US" b="1" dirty="0">
                <a:solidFill>
                  <a:srgbClr val="1C1A55"/>
                </a:solidFill>
                <a:latin typeface="Times New Roman" panose="02020603050405020304" pitchFamily="18" charset="0"/>
                <a:cs typeface="Times New Roman" panose="02020603050405020304" pitchFamily="18" charset="0"/>
              </a:rPr>
              <a:t>, and are handled appropriately during preprocessing.</a:t>
            </a:r>
          </a:p>
          <a:p>
            <a:pPr>
              <a:buNone/>
            </a:pPr>
            <a:br>
              <a:rPr lang="en-US" b="1" dirty="0">
                <a:solidFill>
                  <a:srgbClr val="1C1A55"/>
                </a:solidFill>
                <a:latin typeface="Times New Roman" panose="02020603050405020304" pitchFamily="18" charset="0"/>
                <a:cs typeface="Times New Roman" panose="02020603050405020304" pitchFamily="18" charset="0"/>
              </a:rPr>
            </a:br>
            <a:endParaRPr lang="en-US" b="1" dirty="0">
              <a:solidFill>
                <a:srgbClr val="1C1A55"/>
              </a:solidFill>
              <a:latin typeface="Times New Roman" panose="02020603050405020304" pitchFamily="18" charset="0"/>
              <a:cs typeface="Times New Roman" panose="02020603050405020304" pitchFamily="18" charset="0"/>
            </a:endParaRPr>
          </a:p>
          <a:p>
            <a:pPr>
              <a:buNone/>
            </a:pPr>
            <a:r>
              <a:rPr lang="en-US" b="1" dirty="0">
                <a:solidFill>
                  <a:srgbClr val="1C1A55"/>
                </a:solidFill>
                <a:latin typeface="Times New Roman" panose="02020603050405020304" pitchFamily="18" charset="0"/>
                <a:cs typeface="Times New Roman" panose="02020603050405020304" pitchFamily="18" charset="0"/>
              </a:rPr>
              <a:t>• Outlier Treatment: Outliers in numerical features (</a:t>
            </a:r>
            <a:r>
              <a:rPr lang="en-US" b="1" dirty="0" err="1">
                <a:solidFill>
                  <a:srgbClr val="1C1A55"/>
                </a:solidFill>
                <a:latin typeface="Times New Roman" panose="02020603050405020304" pitchFamily="18" charset="0"/>
                <a:cs typeface="Times New Roman" panose="02020603050405020304" pitchFamily="18" charset="0"/>
              </a:rPr>
              <a:t>city_development_index</a:t>
            </a:r>
            <a:r>
              <a:rPr lang="en-US" b="1" dirty="0">
                <a:solidFill>
                  <a:srgbClr val="1C1A55"/>
                </a:solidFill>
                <a:latin typeface="Times New Roman" panose="02020603050405020304" pitchFamily="18" charset="0"/>
                <a:cs typeface="Times New Roman" panose="02020603050405020304" pitchFamily="18" charset="0"/>
              </a:rPr>
              <a:t>, </a:t>
            </a:r>
            <a:r>
              <a:rPr lang="en-US" b="1" dirty="0" err="1">
                <a:solidFill>
                  <a:srgbClr val="1C1A55"/>
                </a:solidFill>
                <a:latin typeface="Times New Roman" panose="02020603050405020304" pitchFamily="18" charset="0"/>
                <a:cs typeface="Times New Roman" panose="02020603050405020304" pitchFamily="18" charset="0"/>
              </a:rPr>
              <a:t>training_hours</a:t>
            </a:r>
            <a:r>
              <a:rPr lang="en-US" b="1" dirty="0">
                <a:solidFill>
                  <a:srgbClr val="1C1A55"/>
                </a:solidFill>
                <a:latin typeface="Times New Roman" panose="02020603050405020304" pitchFamily="18" charset="0"/>
                <a:cs typeface="Times New Roman" panose="02020603050405020304" pitchFamily="18" charset="0"/>
              </a:rPr>
              <a:t>) are detected using the IQR method and treated using transformation techniques.</a:t>
            </a:r>
          </a:p>
          <a:p>
            <a:pPr>
              <a:buNone/>
            </a:pPr>
            <a:br>
              <a:rPr lang="en-US" b="1" dirty="0">
                <a:solidFill>
                  <a:srgbClr val="1C1A55"/>
                </a:solidFill>
                <a:latin typeface="Times New Roman" panose="02020603050405020304" pitchFamily="18" charset="0"/>
                <a:cs typeface="Times New Roman" panose="02020603050405020304" pitchFamily="18" charset="0"/>
              </a:rPr>
            </a:br>
            <a:endParaRPr lang="en-US" b="1" dirty="0">
              <a:solidFill>
                <a:srgbClr val="1C1A55"/>
              </a:solidFill>
              <a:latin typeface="Times New Roman" panose="02020603050405020304" pitchFamily="18" charset="0"/>
              <a:cs typeface="Times New Roman" panose="02020603050405020304" pitchFamily="18" charset="0"/>
            </a:endParaRPr>
          </a:p>
          <a:p>
            <a:pPr>
              <a:buNone/>
            </a:pPr>
            <a:r>
              <a:rPr lang="en-US" b="1" dirty="0">
                <a:solidFill>
                  <a:srgbClr val="1C1A55"/>
                </a:solidFill>
                <a:latin typeface="Times New Roman" panose="02020603050405020304" pitchFamily="18" charset="0"/>
                <a:cs typeface="Times New Roman" panose="02020603050405020304" pitchFamily="18" charset="0"/>
              </a:rPr>
              <a:t>• Categorical Encoding: One-Hot Encoding is applied to categorical variables, increasing the dataset size to 185 features.</a:t>
            </a:r>
          </a:p>
          <a:p>
            <a:pPr>
              <a:buNone/>
            </a:pPr>
            <a:br>
              <a:rPr lang="en-US" b="1" dirty="0">
                <a:solidFill>
                  <a:srgbClr val="1C1A55"/>
                </a:solidFill>
                <a:latin typeface="Times New Roman" panose="02020603050405020304" pitchFamily="18" charset="0"/>
                <a:cs typeface="Times New Roman" panose="02020603050405020304" pitchFamily="18" charset="0"/>
              </a:rPr>
            </a:br>
            <a:endParaRPr lang="en-US" b="1" dirty="0">
              <a:solidFill>
                <a:srgbClr val="1C1A55"/>
              </a:solidFill>
              <a:latin typeface="Times New Roman" panose="02020603050405020304" pitchFamily="18" charset="0"/>
              <a:cs typeface="Times New Roman" panose="02020603050405020304" pitchFamily="18" charset="0"/>
            </a:endParaRPr>
          </a:p>
          <a:p>
            <a:pPr>
              <a:buNone/>
            </a:pPr>
            <a:r>
              <a:rPr lang="en-US" b="1" dirty="0">
                <a:solidFill>
                  <a:srgbClr val="1C1A55"/>
                </a:solidFill>
                <a:latin typeface="Times New Roman" panose="02020603050405020304" pitchFamily="18" charset="0"/>
                <a:cs typeface="Times New Roman" panose="02020603050405020304" pitchFamily="18" charset="0"/>
              </a:rPr>
              <a:t>• Feature Scaling: Scaling is applied for algorithms like Logistic Regression to ensure better model performance.</a:t>
            </a:r>
          </a:p>
        </p:txBody>
      </p:sp>
      <p:pic>
        <p:nvPicPr>
          <p:cNvPr id="6" name="Picture 5">
            <a:extLst>
              <a:ext uri="{FF2B5EF4-FFF2-40B4-BE49-F238E27FC236}">
                <a16:creationId xmlns:a16="http://schemas.microsoft.com/office/drawing/2014/main" id="{D6B17CDA-A237-82F5-78AA-9BC30C4F27A7}"/>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a:xfrm>
            <a:off x="10111384" y="6235531"/>
            <a:ext cx="1785976" cy="462949"/>
          </a:xfrm>
          <a:prstGeom prst="rect">
            <a:avLst/>
          </a:prstGeom>
        </p:spPr>
      </p:pic>
      <p:sp>
        <p:nvSpPr>
          <p:cNvPr id="8" name="TextBox 7">
            <a:extLst>
              <a:ext uri="{FF2B5EF4-FFF2-40B4-BE49-F238E27FC236}">
                <a16:creationId xmlns:a16="http://schemas.microsoft.com/office/drawing/2014/main" id="{5DCB72DE-8925-4590-397E-9099B73B5EE1}"/>
              </a:ext>
            </a:extLst>
          </p:cNvPr>
          <p:cNvSpPr txBox="1"/>
          <p:nvPr/>
        </p:nvSpPr>
        <p:spPr>
          <a:xfrm>
            <a:off x="3149600" y="189434"/>
            <a:ext cx="6096000" cy="707886"/>
          </a:xfrm>
          <a:prstGeom prst="rect">
            <a:avLst/>
          </a:prstGeom>
          <a:noFill/>
        </p:spPr>
        <p:txBody>
          <a:bodyPr wrap="square">
            <a:spAutoFit/>
          </a:bodyPr>
          <a:lstStyle/>
          <a:p>
            <a:r>
              <a:rPr lang="en-US" sz="4000" b="1" dirty="0">
                <a:ln w="0"/>
                <a:effectLst>
                  <a:outerShdw blurRad="38100" dist="19050" dir="2700000" algn="tl" rotWithShape="0">
                    <a:schemeClr val="dk1">
                      <a:alpha val="40000"/>
                    </a:schemeClr>
                  </a:outerShdw>
                </a:effectLst>
                <a:latin typeface="ADLaM Display" panose="02010000000000000000" pitchFamily="2" charset="0"/>
                <a:ea typeface="ADLaM Display" panose="02010000000000000000" pitchFamily="2" charset="0"/>
                <a:cs typeface="ADLaM Display" panose="02010000000000000000" pitchFamily="2" charset="0"/>
              </a:rPr>
              <a:t>PREPROCESSING</a:t>
            </a:r>
          </a:p>
        </p:txBody>
      </p:sp>
    </p:spTree>
    <p:extLst>
      <p:ext uri="{BB962C8B-B14F-4D97-AF65-F5344CB8AC3E}">
        <p14:creationId xmlns:p14="http://schemas.microsoft.com/office/powerpoint/2010/main" val="22472071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A4CAE4F-BFEC-D949-5C33-EE5C04898EFD}"/>
              </a:ext>
            </a:extLst>
          </p:cNvPr>
          <p:cNvSpPr txBox="1"/>
          <p:nvPr/>
        </p:nvSpPr>
        <p:spPr>
          <a:xfrm>
            <a:off x="0" y="944880"/>
            <a:ext cx="8940800" cy="6053177"/>
          </a:xfrm>
          <a:prstGeom prst="rect">
            <a:avLst/>
          </a:prstGeom>
          <a:noFill/>
        </p:spPr>
        <p:txBody>
          <a:bodyPr wrap="square">
            <a:spAutoFit/>
          </a:bodyPr>
          <a:lstStyle/>
          <a:p>
            <a:pPr>
              <a:buNone/>
            </a:pPr>
            <a:r>
              <a:rPr lang="en-US" b="1" dirty="0">
                <a:solidFill>
                  <a:srgbClr val="002060"/>
                </a:solidFill>
                <a:latin typeface="Times New Roman" panose="02020603050405020304" pitchFamily="18" charset="0"/>
                <a:cs typeface="Times New Roman" panose="02020603050405020304" pitchFamily="18" charset="0"/>
              </a:rPr>
              <a:t>Feature engineering means creating better features from existing data to improve model performance</a:t>
            </a:r>
          </a:p>
          <a:p>
            <a:pPr>
              <a:buNone/>
            </a:pPr>
            <a:br>
              <a:rPr lang="en-US" b="1" dirty="0">
                <a:solidFill>
                  <a:srgbClr val="002060"/>
                </a:solidFill>
                <a:latin typeface="Times New Roman" panose="02020603050405020304" pitchFamily="18" charset="0"/>
                <a:cs typeface="Times New Roman" panose="02020603050405020304" pitchFamily="18" charset="0"/>
              </a:rPr>
            </a:br>
            <a:endParaRPr lang="en-US" b="1" dirty="0">
              <a:solidFill>
                <a:srgbClr val="002060"/>
              </a:solidFill>
              <a:latin typeface="Times New Roman" panose="02020603050405020304" pitchFamily="18" charset="0"/>
              <a:cs typeface="Times New Roman" panose="02020603050405020304" pitchFamily="18" charset="0"/>
            </a:endParaRPr>
          </a:p>
          <a:p>
            <a:pPr>
              <a:buNone/>
            </a:pPr>
            <a:r>
              <a:rPr lang="en-US" b="1" dirty="0">
                <a:solidFill>
                  <a:srgbClr val="002060"/>
                </a:solidFill>
                <a:latin typeface="Times New Roman" panose="02020603050405020304" pitchFamily="18" charset="0"/>
                <a:cs typeface="Times New Roman" panose="02020603050405020304" pitchFamily="18" charset="0"/>
              </a:rPr>
              <a:t>• Raw data is cleaned and transformed into useful formats (like experience and last job values)</a:t>
            </a:r>
          </a:p>
          <a:p>
            <a:pPr>
              <a:buNone/>
            </a:pPr>
            <a:br>
              <a:rPr lang="en-US" b="1" dirty="0">
                <a:solidFill>
                  <a:srgbClr val="002060"/>
                </a:solidFill>
                <a:latin typeface="Times New Roman" panose="02020603050405020304" pitchFamily="18" charset="0"/>
                <a:cs typeface="Times New Roman" panose="02020603050405020304" pitchFamily="18" charset="0"/>
              </a:rPr>
            </a:br>
            <a:endParaRPr lang="en-US" b="1" dirty="0">
              <a:solidFill>
                <a:srgbClr val="002060"/>
              </a:solidFill>
              <a:latin typeface="Times New Roman" panose="02020603050405020304" pitchFamily="18" charset="0"/>
              <a:cs typeface="Times New Roman" panose="02020603050405020304" pitchFamily="18" charset="0"/>
            </a:endParaRPr>
          </a:p>
          <a:p>
            <a:pPr>
              <a:buNone/>
            </a:pPr>
            <a:r>
              <a:rPr lang="en-US" b="1" dirty="0">
                <a:solidFill>
                  <a:srgbClr val="002060"/>
                </a:solidFill>
                <a:latin typeface="Times New Roman" panose="02020603050405020304" pitchFamily="18" charset="0"/>
                <a:cs typeface="Times New Roman" panose="02020603050405020304" pitchFamily="18" charset="0"/>
              </a:rPr>
              <a:t>• Some variables are grouped into categories (training hours, city development, etc.)</a:t>
            </a:r>
          </a:p>
          <a:p>
            <a:pPr>
              <a:buNone/>
            </a:pPr>
            <a:br>
              <a:rPr lang="en-US" b="1" dirty="0">
                <a:solidFill>
                  <a:srgbClr val="002060"/>
                </a:solidFill>
                <a:latin typeface="Times New Roman" panose="02020603050405020304" pitchFamily="18" charset="0"/>
                <a:cs typeface="Times New Roman" panose="02020603050405020304" pitchFamily="18" charset="0"/>
              </a:rPr>
            </a:br>
            <a:endParaRPr lang="en-US" b="1" dirty="0">
              <a:solidFill>
                <a:srgbClr val="002060"/>
              </a:solidFill>
              <a:latin typeface="Times New Roman" panose="02020603050405020304" pitchFamily="18" charset="0"/>
              <a:cs typeface="Times New Roman" panose="02020603050405020304" pitchFamily="18" charset="0"/>
            </a:endParaRPr>
          </a:p>
          <a:p>
            <a:pPr>
              <a:buNone/>
            </a:pPr>
            <a:r>
              <a:rPr lang="en-US" b="1" dirty="0">
                <a:solidFill>
                  <a:srgbClr val="002060"/>
                </a:solidFill>
                <a:latin typeface="Times New Roman" panose="02020603050405020304" pitchFamily="18" charset="0"/>
                <a:cs typeface="Times New Roman" panose="02020603050405020304" pitchFamily="18" charset="0"/>
              </a:rPr>
              <a:t>• Missing value flags are added to keep important missing information</a:t>
            </a:r>
          </a:p>
          <a:p>
            <a:pPr>
              <a:buNone/>
            </a:pPr>
            <a:br>
              <a:rPr lang="en-US" b="1" dirty="0">
                <a:solidFill>
                  <a:srgbClr val="002060"/>
                </a:solidFill>
                <a:latin typeface="Times New Roman" panose="02020603050405020304" pitchFamily="18" charset="0"/>
                <a:cs typeface="Times New Roman" panose="02020603050405020304" pitchFamily="18" charset="0"/>
              </a:rPr>
            </a:br>
            <a:endParaRPr lang="en-US" b="1" dirty="0">
              <a:solidFill>
                <a:srgbClr val="002060"/>
              </a:solidFill>
              <a:latin typeface="Times New Roman" panose="02020603050405020304" pitchFamily="18" charset="0"/>
              <a:cs typeface="Times New Roman" panose="02020603050405020304" pitchFamily="18" charset="0"/>
            </a:endParaRPr>
          </a:p>
          <a:p>
            <a:pPr>
              <a:buNone/>
            </a:pPr>
            <a:r>
              <a:rPr lang="en-US" b="1" dirty="0">
                <a:solidFill>
                  <a:srgbClr val="002060"/>
                </a:solidFill>
                <a:latin typeface="Times New Roman" panose="02020603050405020304" pitchFamily="18" charset="0"/>
                <a:cs typeface="Times New Roman" panose="02020603050405020304" pitchFamily="18" charset="0"/>
              </a:rPr>
              <a:t>• New features are created by combining existing ones to capture better relationships</a:t>
            </a:r>
          </a:p>
          <a:p>
            <a:pPr>
              <a:buNone/>
            </a:pPr>
            <a:br>
              <a:rPr lang="en-US" b="1" dirty="0">
                <a:solidFill>
                  <a:srgbClr val="002060"/>
                </a:solidFill>
                <a:latin typeface="Times New Roman" panose="02020603050405020304" pitchFamily="18" charset="0"/>
                <a:cs typeface="Times New Roman" panose="02020603050405020304" pitchFamily="18" charset="0"/>
              </a:rPr>
            </a:br>
            <a:endParaRPr lang="en-US" b="1" dirty="0">
              <a:solidFill>
                <a:srgbClr val="002060"/>
              </a:solidFill>
              <a:latin typeface="Times New Roman" panose="02020603050405020304" pitchFamily="18" charset="0"/>
              <a:cs typeface="Times New Roman" panose="02020603050405020304" pitchFamily="18" charset="0"/>
            </a:endParaRPr>
          </a:p>
          <a:p>
            <a:pPr>
              <a:buNone/>
            </a:pPr>
            <a:r>
              <a:rPr lang="en-US" b="1" dirty="0">
                <a:solidFill>
                  <a:srgbClr val="002060"/>
                </a:solidFill>
                <a:latin typeface="Times New Roman" panose="02020603050405020304" pitchFamily="18" charset="0"/>
                <a:cs typeface="Times New Roman" panose="02020603050405020304" pitchFamily="18" charset="0"/>
              </a:rPr>
              <a:t>• Dataset increased to 23 columns → 22 features (X) and 1 target (Y)</a:t>
            </a:r>
          </a:p>
          <a:p>
            <a:pPr>
              <a:buNone/>
            </a:pPr>
            <a:br>
              <a:rPr lang="en-US" b="1" dirty="0">
                <a:solidFill>
                  <a:srgbClr val="002060"/>
                </a:solidFill>
                <a:latin typeface="Times New Roman" panose="02020603050405020304" pitchFamily="18" charset="0"/>
                <a:cs typeface="Times New Roman" panose="02020603050405020304" pitchFamily="18" charset="0"/>
              </a:rPr>
            </a:br>
            <a:endParaRPr lang="en-US" b="1" dirty="0">
              <a:solidFill>
                <a:srgbClr val="002060"/>
              </a:solidFill>
              <a:latin typeface="Times New Roman" panose="02020603050405020304" pitchFamily="18" charset="0"/>
              <a:cs typeface="Times New Roman" panose="02020603050405020304" pitchFamily="18" charset="0"/>
            </a:endParaRPr>
          </a:p>
          <a:p>
            <a:pPr>
              <a:buNone/>
            </a:pPr>
            <a:r>
              <a:rPr lang="en-US" b="1" dirty="0">
                <a:solidFill>
                  <a:srgbClr val="002060"/>
                </a:solidFill>
                <a:latin typeface="Times New Roman" panose="02020603050405020304" pitchFamily="18" charset="0"/>
                <a:cs typeface="Times New Roman" panose="02020603050405020304" pitchFamily="18" charset="0"/>
              </a:rPr>
              <a:t>• Target is imbalanced → more 0 (14381) than 1 (4777)</a:t>
            </a:r>
          </a:p>
        </p:txBody>
      </p:sp>
      <p:sp>
        <p:nvSpPr>
          <p:cNvPr id="5" name="Freeform 25">
            <a:extLst>
              <a:ext uri="{FF2B5EF4-FFF2-40B4-BE49-F238E27FC236}">
                <a16:creationId xmlns:a16="http://schemas.microsoft.com/office/drawing/2014/main" id="{B3F80EC1-3EDC-9703-181A-08E92C82F636}"/>
              </a:ext>
            </a:extLst>
          </p:cNvPr>
          <p:cNvSpPr/>
          <p:nvPr/>
        </p:nvSpPr>
        <p:spPr>
          <a:xfrm>
            <a:off x="8229601" y="1061116"/>
            <a:ext cx="3830320" cy="4537044"/>
          </a:xfrm>
          <a:custGeom>
            <a:avLst/>
            <a:gdLst/>
            <a:ahLst/>
            <a:cxnLst/>
            <a:rect l="l" t="t" r="r" b="b"/>
            <a:pathLst>
              <a:path w="5699502" h="4735768">
                <a:moveTo>
                  <a:pt x="0" y="0"/>
                </a:moveTo>
                <a:lnTo>
                  <a:pt x="5699503" y="0"/>
                </a:lnTo>
                <a:lnTo>
                  <a:pt x="5699503" y="4735768"/>
                </a:lnTo>
                <a:lnTo>
                  <a:pt x="0" y="473576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pic>
        <p:nvPicPr>
          <p:cNvPr id="6" name="Picture 5">
            <a:extLst>
              <a:ext uri="{FF2B5EF4-FFF2-40B4-BE49-F238E27FC236}">
                <a16:creationId xmlns:a16="http://schemas.microsoft.com/office/drawing/2014/main" id="{1122ED87-072A-8E37-01A3-7D254E0D6E54}"/>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a:xfrm>
            <a:off x="10111384" y="6235531"/>
            <a:ext cx="1785976" cy="462949"/>
          </a:xfrm>
          <a:prstGeom prst="rect">
            <a:avLst/>
          </a:prstGeom>
        </p:spPr>
      </p:pic>
      <p:sp>
        <p:nvSpPr>
          <p:cNvPr id="8" name="TextBox 7">
            <a:extLst>
              <a:ext uri="{FF2B5EF4-FFF2-40B4-BE49-F238E27FC236}">
                <a16:creationId xmlns:a16="http://schemas.microsoft.com/office/drawing/2014/main" id="{DBC13F5F-F3D9-1224-9FD3-2DC6F3FE8E24}"/>
              </a:ext>
            </a:extLst>
          </p:cNvPr>
          <p:cNvSpPr txBox="1"/>
          <p:nvPr/>
        </p:nvSpPr>
        <p:spPr>
          <a:xfrm>
            <a:off x="2898140" y="122843"/>
            <a:ext cx="6121400" cy="707886"/>
          </a:xfrm>
          <a:prstGeom prst="rect">
            <a:avLst/>
          </a:prstGeom>
          <a:noFill/>
        </p:spPr>
        <p:txBody>
          <a:bodyPr wrap="square">
            <a:spAutoFit/>
          </a:bodyPr>
          <a:lstStyle/>
          <a:p>
            <a:r>
              <a:rPr lang="en-US" sz="4000" b="1" dirty="0">
                <a:ln w="0"/>
                <a:effectLst>
                  <a:outerShdw blurRad="38100" dist="19050" dir="2700000" algn="tl" rotWithShape="0">
                    <a:schemeClr val="dk1">
                      <a:alpha val="40000"/>
                    </a:schemeClr>
                  </a:outerShdw>
                </a:effectLst>
                <a:latin typeface="ADLaM Display" panose="02010000000000000000" pitchFamily="2" charset="0"/>
                <a:ea typeface="ADLaM Display" panose="02010000000000000000" pitchFamily="2" charset="0"/>
                <a:cs typeface="ADLaM Display" panose="02010000000000000000" pitchFamily="2" charset="0"/>
              </a:rPr>
              <a:t>FEATURE ENGINEERING</a:t>
            </a:r>
          </a:p>
        </p:txBody>
      </p:sp>
    </p:spTree>
    <p:extLst>
      <p:ext uri="{BB962C8B-B14F-4D97-AF65-F5344CB8AC3E}">
        <p14:creationId xmlns:p14="http://schemas.microsoft.com/office/powerpoint/2010/main" val="12825606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F77D2884-C385-984C-483A-29CC54CDB905}"/>
              </a:ext>
            </a:extLst>
          </p:cNvPr>
          <p:cNvSpPr txBox="1"/>
          <p:nvPr/>
        </p:nvSpPr>
        <p:spPr>
          <a:xfrm>
            <a:off x="335280" y="679163"/>
            <a:ext cx="10657840" cy="5909310"/>
          </a:xfrm>
          <a:prstGeom prst="rect">
            <a:avLst/>
          </a:prstGeom>
          <a:noFill/>
        </p:spPr>
        <p:txBody>
          <a:bodyPr wrap="square">
            <a:spAutoFit/>
          </a:bodyPr>
          <a:lstStyle/>
          <a:p>
            <a:pPr>
              <a:buNone/>
            </a:pPr>
            <a:r>
              <a:rPr lang="en-US" b="1" dirty="0">
                <a:solidFill>
                  <a:srgbClr val="FF0000"/>
                </a:solidFill>
                <a:latin typeface="Times New Roman" panose="02020603050405020304" pitchFamily="18" charset="0"/>
                <a:cs typeface="Times New Roman" panose="02020603050405020304" pitchFamily="18" charset="0"/>
              </a:rPr>
              <a:t>• Data Splitting: Divided into 80% Training (15,326 rows) and 20% Testing (3,832 rows)</a:t>
            </a:r>
          </a:p>
          <a:p>
            <a:pPr>
              <a:buNone/>
            </a:pPr>
            <a:endParaRPr lang="en-US" b="1" dirty="0">
              <a:solidFill>
                <a:srgbClr val="FF0000"/>
              </a:solidFill>
              <a:latin typeface="Times New Roman" panose="02020603050405020304" pitchFamily="18" charset="0"/>
              <a:cs typeface="Times New Roman" panose="02020603050405020304" pitchFamily="18" charset="0"/>
            </a:endParaRPr>
          </a:p>
          <a:p>
            <a:pPr>
              <a:buNone/>
            </a:pPr>
            <a:r>
              <a:rPr lang="en-US" b="1" dirty="0">
                <a:solidFill>
                  <a:srgbClr val="FF0000"/>
                </a:solidFill>
                <a:latin typeface="Times New Roman" panose="02020603050405020304" pitchFamily="18" charset="0"/>
                <a:cs typeface="Times New Roman" panose="02020603050405020304" pitchFamily="18" charset="0"/>
              </a:rPr>
              <a:t>• Stratification: Ensured consistent target distribution across both datasets</a:t>
            </a:r>
          </a:p>
          <a:p>
            <a:pPr>
              <a:buNone/>
            </a:pPr>
            <a:endParaRPr lang="en-US" b="1" dirty="0">
              <a:solidFill>
                <a:srgbClr val="FF0000"/>
              </a:solidFill>
              <a:latin typeface="Times New Roman" panose="02020603050405020304" pitchFamily="18" charset="0"/>
              <a:cs typeface="Times New Roman" panose="02020603050405020304" pitchFamily="18" charset="0"/>
            </a:endParaRPr>
          </a:p>
          <a:p>
            <a:pPr>
              <a:buNone/>
            </a:pPr>
            <a:r>
              <a:rPr lang="en-US" b="1" dirty="0">
                <a:solidFill>
                  <a:srgbClr val="FF0000"/>
                </a:solidFill>
                <a:latin typeface="Times New Roman" panose="02020603050405020304" pitchFamily="18" charset="0"/>
                <a:cs typeface="Times New Roman" panose="02020603050405020304" pitchFamily="18" charset="0"/>
              </a:rPr>
              <a:t>• Target Distribution (Train): Class 0 → 11,504 | Class 1 → 3,822</a:t>
            </a:r>
          </a:p>
          <a:p>
            <a:pPr>
              <a:buNone/>
            </a:pPr>
            <a:endParaRPr lang="en-US" b="1" dirty="0">
              <a:solidFill>
                <a:srgbClr val="FF0000"/>
              </a:solidFill>
              <a:latin typeface="Times New Roman" panose="02020603050405020304" pitchFamily="18" charset="0"/>
              <a:cs typeface="Times New Roman" panose="02020603050405020304" pitchFamily="18" charset="0"/>
            </a:endParaRPr>
          </a:p>
          <a:p>
            <a:pPr>
              <a:buNone/>
            </a:pPr>
            <a:r>
              <a:rPr lang="en-US" b="1" dirty="0">
                <a:solidFill>
                  <a:srgbClr val="FF0000"/>
                </a:solidFill>
                <a:latin typeface="Times New Roman" panose="02020603050405020304" pitchFamily="18" charset="0"/>
                <a:cs typeface="Times New Roman" panose="02020603050405020304" pitchFamily="18" charset="0"/>
              </a:rPr>
              <a:t>• Target Distribution (Test): Class 0 → 2,877 | Class 1 → 955</a:t>
            </a:r>
          </a:p>
          <a:p>
            <a:pPr>
              <a:buNone/>
            </a:pPr>
            <a:endParaRPr lang="en-US" b="1" dirty="0">
              <a:solidFill>
                <a:srgbClr val="FF0000"/>
              </a:solidFill>
              <a:latin typeface="Times New Roman" panose="02020603050405020304" pitchFamily="18" charset="0"/>
              <a:cs typeface="Times New Roman" panose="02020603050405020304" pitchFamily="18" charset="0"/>
            </a:endParaRPr>
          </a:p>
          <a:p>
            <a:pPr>
              <a:buNone/>
            </a:pPr>
            <a:r>
              <a:rPr lang="en-US" b="1" dirty="0">
                <a:solidFill>
                  <a:srgbClr val="FF0000"/>
                </a:solidFill>
                <a:latin typeface="Times New Roman" panose="02020603050405020304" pitchFamily="18" charset="0"/>
                <a:cs typeface="Times New Roman" panose="02020603050405020304" pitchFamily="18" charset="0"/>
              </a:rPr>
              <a:t>• Input Features (X): 22 variables used for prediction</a:t>
            </a:r>
          </a:p>
          <a:p>
            <a:pPr>
              <a:buNone/>
            </a:pPr>
            <a:endParaRPr lang="en-US" b="1" dirty="0">
              <a:solidFill>
                <a:srgbClr val="FF0000"/>
              </a:solidFill>
              <a:latin typeface="Times New Roman" panose="02020603050405020304" pitchFamily="18" charset="0"/>
              <a:cs typeface="Times New Roman" panose="02020603050405020304" pitchFamily="18" charset="0"/>
            </a:endParaRPr>
          </a:p>
          <a:p>
            <a:pPr>
              <a:buNone/>
            </a:pPr>
            <a:r>
              <a:rPr lang="en-US" b="1" dirty="0">
                <a:solidFill>
                  <a:srgbClr val="FF0000"/>
                </a:solidFill>
                <a:latin typeface="Times New Roman" panose="02020603050405020304" pitchFamily="18" charset="0"/>
                <a:cs typeface="Times New Roman" panose="02020603050405020304" pitchFamily="18" charset="0"/>
              </a:rPr>
              <a:t>• Target Variable (Y): Binary classification for Job Change (0 / 1)</a:t>
            </a:r>
          </a:p>
          <a:p>
            <a:pPr>
              <a:buNone/>
            </a:pPr>
            <a:endParaRPr lang="en-US" b="1" dirty="0">
              <a:solidFill>
                <a:srgbClr val="FF0000"/>
              </a:solidFill>
              <a:latin typeface="Times New Roman" panose="02020603050405020304" pitchFamily="18" charset="0"/>
              <a:cs typeface="Times New Roman" panose="02020603050405020304" pitchFamily="18" charset="0"/>
            </a:endParaRPr>
          </a:p>
          <a:p>
            <a:pPr>
              <a:buNone/>
            </a:pPr>
            <a:r>
              <a:rPr lang="en-US" b="1" dirty="0">
                <a:solidFill>
                  <a:srgbClr val="FF0000"/>
                </a:solidFill>
                <a:latin typeface="Times New Roman" panose="02020603050405020304" pitchFamily="18" charset="0"/>
                <a:cs typeface="Times New Roman" panose="02020603050405020304" pitchFamily="18" charset="0"/>
              </a:rPr>
              <a:t>• Column Types: 8 Numerical and 14 Categorical features</a:t>
            </a:r>
          </a:p>
          <a:p>
            <a:pPr>
              <a:buNone/>
            </a:pPr>
            <a:endParaRPr lang="en-US" b="1" dirty="0">
              <a:solidFill>
                <a:srgbClr val="FF0000"/>
              </a:solidFill>
              <a:latin typeface="Times New Roman" panose="02020603050405020304" pitchFamily="18" charset="0"/>
              <a:cs typeface="Times New Roman" panose="02020603050405020304" pitchFamily="18" charset="0"/>
            </a:endParaRPr>
          </a:p>
          <a:p>
            <a:pPr>
              <a:buNone/>
            </a:pPr>
            <a:r>
              <a:rPr lang="en-US" b="1" dirty="0">
                <a:solidFill>
                  <a:srgbClr val="FF0000"/>
                </a:solidFill>
                <a:latin typeface="Times New Roman" panose="02020603050405020304" pitchFamily="18" charset="0"/>
                <a:cs typeface="Times New Roman" panose="02020603050405020304" pitchFamily="18" charset="0"/>
              </a:rPr>
              <a:t>• Missing Values: Fully handled with no missing data remaining</a:t>
            </a:r>
          </a:p>
          <a:p>
            <a:pPr>
              <a:buNone/>
            </a:pPr>
            <a:endParaRPr lang="en-US" b="1" dirty="0">
              <a:solidFill>
                <a:srgbClr val="FF0000"/>
              </a:solidFill>
              <a:latin typeface="Times New Roman" panose="02020603050405020304" pitchFamily="18" charset="0"/>
              <a:cs typeface="Times New Roman" panose="02020603050405020304" pitchFamily="18" charset="0"/>
            </a:endParaRPr>
          </a:p>
          <a:p>
            <a:pPr>
              <a:buNone/>
            </a:pPr>
            <a:r>
              <a:rPr lang="en-US" b="1" dirty="0">
                <a:solidFill>
                  <a:srgbClr val="FF0000"/>
                </a:solidFill>
                <a:latin typeface="Times New Roman" panose="02020603050405020304" pitchFamily="18" charset="0"/>
                <a:cs typeface="Times New Roman" panose="02020603050405020304" pitchFamily="18" charset="0"/>
              </a:rPr>
              <a:t>• Skewness Handling: Transformed skewed features like </a:t>
            </a:r>
            <a:r>
              <a:rPr lang="en-US" b="1" i="1" dirty="0" err="1">
                <a:solidFill>
                  <a:srgbClr val="FF0000"/>
                </a:solidFill>
                <a:latin typeface="Times New Roman" panose="02020603050405020304" pitchFamily="18" charset="0"/>
                <a:cs typeface="Times New Roman" panose="02020603050405020304" pitchFamily="18" charset="0"/>
              </a:rPr>
              <a:t>training_hours</a:t>
            </a:r>
            <a:endParaRPr lang="en-US" b="1" i="1" dirty="0">
              <a:solidFill>
                <a:srgbClr val="FF0000"/>
              </a:solidFill>
              <a:latin typeface="Times New Roman" panose="02020603050405020304" pitchFamily="18" charset="0"/>
              <a:cs typeface="Times New Roman" panose="02020603050405020304" pitchFamily="18" charset="0"/>
            </a:endParaRPr>
          </a:p>
          <a:p>
            <a:pPr>
              <a:buNone/>
            </a:pPr>
            <a:endParaRPr lang="en-US" b="1" dirty="0">
              <a:solidFill>
                <a:srgbClr val="FF0000"/>
              </a:solidFill>
              <a:latin typeface="Times New Roman" panose="02020603050405020304" pitchFamily="18" charset="0"/>
              <a:cs typeface="Times New Roman" panose="02020603050405020304" pitchFamily="18" charset="0"/>
            </a:endParaRPr>
          </a:p>
          <a:p>
            <a:pPr>
              <a:buNone/>
            </a:pPr>
            <a:r>
              <a:rPr lang="en-US" b="1" dirty="0">
                <a:solidFill>
                  <a:srgbClr val="FF0000"/>
                </a:solidFill>
                <a:latin typeface="Times New Roman" panose="02020603050405020304" pitchFamily="18" charset="0"/>
                <a:cs typeface="Times New Roman" panose="02020603050405020304" pitchFamily="18" charset="0"/>
              </a:rPr>
              <a:t>• Encoding: Categorical features expanded to 226 columns</a:t>
            </a:r>
          </a:p>
          <a:p>
            <a:pPr>
              <a:buNone/>
            </a:pPr>
            <a:endParaRPr lang="en-US" b="1" dirty="0">
              <a:solidFill>
                <a:srgbClr val="FF0000"/>
              </a:solidFill>
              <a:latin typeface="Times New Roman" panose="02020603050405020304" pitchFamily="18" charset="0"/>
              <a:cs typeface="Times New Roman" panose="02020603050405020304" pitchFamily="18" charset="0"/>
            </a:endParaRPr>
          </a:p>
          <a:p>
            <a:pPr>
              <a:buNone/>
            </a:pPr>
            <a:r>
              <a:rPr lang="en-US" b="1" dirty="0">
                <a:solidFill>
                  <a:srgbClr val="FF0000"/>
                </a:solidFill>
                <a:latin typeface="Times New Roman" panose="02020603050405020304" pitchFamily="18" charset="0"/>
                <a:cs typeface="Times New Roman" panose="02020603050405020304" pitchFamily="18" charset="0"/>
              </a:rPr>
              <a:t>• Feature Scaling: Applied to improve Logistic Regression performance</a:t>
            </a:r>
          </a:p>
        </p:txBody>
      </p:sp>
      <p:sp>
        <p:nvSpPr>
          <p:cNvPr id="14" name="Freeform 17">
            <a:extLst>
              <a:ext uri="{FF2B5EF4-FFF2-40B4-BE49-F238E27FC236}">
                <a16:creationId xmlns:a16="http://schemas.microsoft.com/office/drawing/2014/main" id="{A3995472-39A5-5477-1A46-CB7AE97FD0FF}"/>
              </a:ext>
            </a:extLst>
          </p:cNvPr>
          <p:cNvSpPr/>
          <p:nvPr/>
        </p:nvSpPr>
        <p:spPr>
          <a:xfrm>
            <a:off x="7352228" y="1853582"/>
            <a:ext cx="4504492" cy="3937618"/>
          </a:xfrm>
          <a:custGeom>
            <a:avLst/>
            <a:gdLst/>
            <a:ahLst/>
            <a:cxnLst/>
            <a:rect l="l" t="t" r="r" b="b"/>
            <a:pathLst>
              <a:path w="6204824" h="5302304">
                <a:moveTo>
                  <a:pt x="0" y="0"/>
                </a:moveTo>
                <a:lnTo>
                  <a:pt x="6204824" y="0"/>
                </a:lnTo>
                <a:lnTo>
                  <a:pt x="6204824" y="5302304"/>
                </a:lnTo>
                <a:lnTo>
                  <a:pt x="0" y="530230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6" name="TextBox 15">
            <a:extLst>
              <a:ext uri="{FF2B5EF4-FFF2-40B4-BE49-F238E27FC236}">
                <a16:creationId xmlns:a16="http://schemas.microsoft.com/office/drawing/2014/main" id="{69FD2E9B-0D6E-9922-DDD1-DF63506CDF54}"/>
              </a:ext>
            </a:extLst>
          </p:cNvPr>
          <p:cNvSpPr txBox="1"/>
          <p:nvPr/>
        </p:nvSpPr>
        <p:spPr>
          <a:xfrm>
            <a:off x="3312160" y="0"/>
            <a:ext cx="6096000" cy="707886"/>
          </a:xfrm>
          <a:prstGeom prst="rect">
            <a:avLst/>
          </a:prstGeom>
          <a:noFill/>
        </p:spPr>
        <p:txBody>
          <a:bodyPr wrap="square">
            <a:spAutoFit/>
          </a:bodyPr>
          <a:lstStyle/>
          <a:p>
            <a:r>
              <a:rPr lang="en-US" sz="4000" b="1" dirty="0">
                <a:ln w="0"/>
                <a:effectLst>
                  <a:outerShdw blurRad="38100" dist="19050" dir="2700000" algn="tl" rotWithShape="0">
                    <a:schemeClr val="dk1">
                      <a:alpha val="40000"/>
                    </a:schemeClr>
                  </a:outerShdw>
                </a:effectLst>
                <a:latin typeface="ADLaM Display" panose="02010000000000000000" pitchFamily="2" charset="0"/>
                <a:ea typeface="ADLaM Display" panose="02010000000000000000" pitchFamily="2" charset="0"/>
                <a:cs typeface="ADLaM Display" panose="02010000000000000000" pitchFamily="2" charset="0"/>
              </a:rPr>
              <a:t>TRAIN TEST SPLIT</a:t>
            </a:r>
          </a:p>
        </p:txBody>
      </p:sp>
      <p:pic>
        <p:nvPicPr>
          <p:cNvPr id="17" name="Picture 16">
            <a:extLst>
              <a:ext uri="{FF2B5EF4-FFF2-40B4-BE49-F238E27FC236}">
                <a16:creationId xmlns:a16="http://schemas.microsoft.com/office/drawing/2014/main" id="{A1EA891C-F8C9-AB8C-1A37-DE24B481009E}"/>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a:xfrm>
            <a:off x="10111384" y="6235531"/>
            <a:ext cx="1785976" cy="462949"/>
          </a:xfrm>
          <a:prstGeom prst="rect">
            <a:avLst/>
          </a:prstGeom>
        </p:spPr>
      </p:pic>
    </p:spTree>
    <p:extLst>
      <p:ext uri="{BB962C8B-B14F-4D97-AF65-F5344CB8AC3E}">
        <p14:creationId xmlns:p14="http://schemas.microsoft.com/office/powerpoint/2010/main" val="30365908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a:extLst>
              <a:ext uri="{FF2B5EF4-FFF2-40B4-BE49-F238E27FC236}">
                <a16:creationId xmlns:a16="http://schemas.microsoft.com/office/drawing/2014/main" id="{14FEB7EA-4D1D-5B44-3C70-8F3EA0760E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43600" y="1824302"/>
            <a:ext cx="6300397" cy="310329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DF97BC10-853F-67EA-57F5-ECBC5D7445D8}"/>
              </a:ext>
            </a:extLst>
          </p:cNvPr>
          <p:cNvSpPr txBox="1"/>
          <p:nvPr/>
        </p:nvSpPr>
        <p:spPr>
          <a:xfrm>
            <a:off x="0" y="1027358"/>
            <a:ext cx="4632960" cy="923330"/>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 </a:t>
            </a:r>
            <a:r>
              <a:rPr lang="en-US" b="1" dirty="0">
                <a:solidFill>
                  <a:srgbClr val="C00000"/>
                </a:solidFill>
                <a:latin typeface="Times New Roman" panose="02020603050405020304" pitchFamily="18" charset="0"/>
                <a:cs typeface="Times New Roman" panose="02020603050405020304" pitchFamily="18" charset="0"/>
              </a:rPr>
              <a:t>SMOTE (Synthetic Minority Over-sampling Technique) is used when the dataset is imbalanced</a:t>
            </a:r>
          </a:p>
        </p:txBody>
      </p:sp>
      <p:sp>
        <p:nvSpPr>
          <p:cNvPr id="5" name="TextBox 4">
            <a:extLst>
              <a:ext uri="{FF2B5EF4-FFF2-40B4-BE49-F238E27FC236}">
                <a16:creationId xmlns:a16="http://schemas.microsoft.com/office/drawing/2014/main" id="{747EC4F5-09EE-7C5C-77DE-D3A277E21989}"/>
              </a:ext>
            </a:extLst>
          </p:cNvPr>
          <p:cNvSpPr txBox="1"/>
          <p:nvPr/>
        </p:nvSpPr>
        <p:spPr>
          <a:xfrm>
            <a:off x="-124816" y="3706983"/>
            <a:ext cx="9580880" cy="2862322"/>
          </a:xfrm>
          <a:prstGeom prst="rect">
            <a:avLst/>
          </a:prstGeom>
          <a:noFill/>
        </p:spPr>
        <p:txBody>
          <a:bodyPr wrap="square">
            <a:spAutoFit/>
          </a:bodyPr>
          <a:lstStyle/>
          <a:p>
            <a:pPr>
              <a:buNone/>
            </a:pPr>
            <a:r>
              <a:rPr lang="en-US" b="1" dirty="0">
                <a:solidFill>
                  <a:srgbClr val="C00000"/>
                </a:solidFill>
              </a:rPr>
              <a:t>• </a:t>
            </a:r>
            <a:r>
              <a:rPr lang="en-US" b="1" dirty="0">
                <a:solidFill>
                  <a:srgbClr val="C00000"/>
                </a:solidFill>
                <a:latin typeface="Times New Roman" panose="02020603050405020304" pitchFamily="18" charset="0"/>
                <a:cs typeface="Times New Roman" panose="02020603050405020304" pitchFamily="18" charset="0"/>
              </a:rPr>
              <a:t>Before SMOTE: Data is imbalanced → 0 = 11504, 1 = 3822</a:t>
            </a:r>
          </a:p>
          <a:p>
            <a:pPr>
              <a:buNone/>
            </a:pPr>
            <a:br>
              <a:rPr lang="en-US" b="1" dirty="0">
                <a:solidFill>
                  <a:srgbClr val="C00000"/>
                </a:solidFill>
                <a:latin typeface="Times New Roman" panose="02020603050405020304" pitchFamily="18" charset="0"/>
                <a:cs typeface="Times New Roman" panose="02020603050405020304" pitchFamily="18" charset="0"/>
              </a:rPr>
            </a:br>
            <a:endParaRPr lang="en-US" b="1" dirty="0">
              <a:solidFill>
                <a:srgbClr val="C00000"/>
              </a:solidFill>
              <a:latin typeface="Times New Roman" panose="02020603050405020304" pitchFamily="18" charset="0"/>
              <a:cs typeface="Times New Roman" panose="02020603050405020304" pitchFamily="18" charset="0"/>
            </a:endParaRPr>
          </a:p>
          <a:p>
            <a:pPr>
              <a:buNone/>
            </a:pPr>
            <a:r>
              <a:rPr lang="en-US" b="1" dirty="0">
                <a:solidFill>
                  <a:srgbClr val="C00000"/>
                </a:solidFill>
                <a:latin typeface="Times New Roman" panose="02020603050405020304" pitchFamily="18" charset="0"/>
                <a:cs typeface="Times New Roman" panose="02020603050405020304" pitchFamily="18" charset="0"/>
              </a:rPr>
              <a:t>• Minority class has fewer samples → risk of biased model</a:t>
            </a:r>
          </a:p>
          <a:p>
            <a:pPr>
              <a:buNone/>
            </a:pPr>
            <a:br>
              <a:rPr lang="en-US" b="1" dirty="0">
                <a:solidFill>
                  <a:srgbClr val="C00000"/>
                </a:solidFill>
                <a:latin typeface="Times New Roman" panose="02020603050405020304" pitchFamily="18" charset="0"/>
                <a:cs typeface="Times New Roman" panose="02020603050405020304" pitchFamily="18" charset="0"/>
              </a:rPr>
            </a:br>
            <a:endParaRPr lang="en-US" b="1" dirty="0">
              <a:solidFill>
                <a:srgbClr val="C00000"/>
              </a:solidFill>
              <a:latin typeface="Times New Roman" panose="02020603050405020304" pitchFamily="18" charset="0"/>
              <a:cs typeface="Times New Roman" panose="02020603050405020304" pitchFamily="18" charset="0"/>
            </a:endParaRPr>
          </a:p>
          <a:p>
            <a:pPr>
              <a:buNone/>
            </a:pPr>
            <a:r>
              <a:rPr lang="en-US" b="1" dirty="0">
                <a:solidFill>
                  <a:srgbClr val="C00000"/>
                </a:solidFill>
                <a:latin typeface="Times New Roman" panose="02020603050405020304" pitchFamily="18" charset="0"/>
                <a:cs typeface="Times New Roman" panose="02020603050405020304" pitchFamily="18" charset="0"/>
              </a:rPr>
              <a:t>• SMOTE generates synthetic samples for minority class (1)</a:t>
            </a:r>
          </a:p>
          <a:p>
            <a:pPr>
              <a:buNone/>
            </a:pPr>
            <a:br>
              <a:rPr lang="en-US" b="1" dirty="0">
                <a:solidFill>
                  <a:srgbClr val="C00000"/>
                </a:solidFill>
                <a:latin typeface="Times New Roman" panose="02020603050405020304" pitchFamily="18" charset="0"/>
                <a:cs typeface="Times New Roman" panose="02020603050405020304" pitchFamily="18" charset="0"/>
              </a:rPr>
            </a:br>
            <a:endParaRPr lang="en-US" b="1" dirty="0">
              <a:solidFill>
                <a:srgbClr val="C00000"/>
              </a:solidFill>
              <a:latin typeface="Times New Roman" panose="02020603050405020304" pitchFamily="18" charset="0"/>
              <a:cs typeface="Times New Roman" panose="02020603050405020304" pitchFamily="18" charset="0"/>
            </a:endParaRPr>
          </a:p>
          <a:p>
            <a:pPr>
              <a:buNone/>
            </a:pPr>
            <a:r>
              <a:rPr lang="en-US" b="1" dirty="0">
                <a:solidFill>
                  <a:srgbClr val="C00000"/>
                </a:solidFill>
                <a:latin typeface="Times New Roman" panose="02020603050405020304" pitchFamily="18" charset="0"/>
                <a:cs typeface="Times New Roman" panose="02020603050405020304" pitchFamily="18" charset="0"/>
              </a:rPr>
              <a:t>• After SMOTE: Data becomes balanced → 0 = 11504, 1 = 11504</a:t>
            </a:r>
          </a:p>
        </p:txBody>
      </p:sp>
      <p:sp>
        <p:nvSpPr>
          <p:cNvPr id="9" name="TextBox 8">
            <a:extLst>
              <a:ext uri="{FF2B5EF4-FFF2-40B4-BE49-F238E27FC236}">
                <a16:creationId xmlns:a16="http://schemas.microsoft.com/office/drawing/2014/main" id="{D769F231-2C97-6547-A07A-D6EE0FAFFA31}"/>
              </a:ext>
            </a:extLst>
          </p:cNvPr>
          <p:cNvSpPr txBox="1"/>
          <p:nvPr/>
        </p:nvSpPr>
        <p:spPr>
          <a:xfrm>
            <a:off x="0" y="2228671"/>
            <a:ext cx="6121400" cy="1200329"/>
          </a:xfrm>
          <a:prstGeom prst="rect">
            <a:avLst/>
          </a:prstGeom>
          <a:noFill/>
        </p:spPr>
        <p:txBody>
          <a:bodyPr wrap="square">
            <a:spAutoFit/>
          </a:bodyPr>
          <a:lstStyle/>
          <a:p>
            <a:pPr>
              <a:buNone/>
            </a:pPr>
            <a:r>
              <a:rPr lang="en-US" b="1" dirty="0">
                <a:solidFill>
                  <a:srgbClr val="C00000"/>
                </a:solidFill>
              </a:rPr>
              <a:t>• </a:t>
            </a:r>
            <a:r>
              <a:rPr lang="en-US" b="1" dirty="0">
                <a:solidFill>
                  <a:srgbClr val="C00000"/>
                </a:solidFill>
                <a:latin typeface="Times New Roman" panose="02020603050405020304" pitchFamily="18" charset="0"/>
                <a:cs typeface="Times New Roman" panose="02020603050405020304" pitchFamily="18" charset="0"/>
              </a:rPr>
              <a:t>It works by generating new samples between existing minority points</a:t>
            </a:r>
          </a:p>
          <a:p>
            <a:pPr>
              <a:buNone/>
            </a:pPr>
            <a:r>
              <a:rPr lang="en-US" b="1" dirty="0">
                <a:solidFill>
                  <a:srgbClr val="C00000"/>
                </a:solidFill>
                <a:latin typeface="Times New Roman" panose="02020603050405020304" pitchFamily="18" charset="0"/>
                <a:cs typeface="Times New Roman" panose="02020603050405020304" pitchFamily="18" charset="0"/>
              </a:rPr>
              <a:t>• This helps the model learn both classes equally and avoids bias</a:t>
            </a:r>
          </a:p>
        </p:txBody>
      </p:sp>
      <p:pic>
        <p:nvPicPr>
          <p:cNvPr id="10" name="Picture 9">
            <a:extLst>
              <a:ext uri="{FF2B5EF4-FFF2-40B4-BE49-F238E27FC236}">
                <a16:creationId xmlns:a16="http://schemas.microsoft.com/office/drawing/2014/main" id="{F5F80433-2A3B-DE93-4A6F-51E2896E839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10111384" y="6235531"/>
            <a:ext cx="1785976" cy="462949"/>
          </a:xfrm>
          <a:prstGeom prst="rect">
            <a:avLst/>
          </a:prstGeom>
        </p:spPr>
      </p:pic>
      <p:sp>
        <p:nvSpPr>
          <p:cNvPr id="12" name="TextBox 11">
            <a:extLst>
              <a:ext uri="{FF2B5EF4-FFF2-40B4-BE49-F238E27FC236}">
                <a16:creationId xmlns:a16="http://schemas.microsoft.com/office/drawing/2014/main" id="{C7E68211-7FB8-A516-C4DF-B5617A30B953}"/>
              </a:ext>
            </a:extLst>
          </p:cNvPr>
          <p:cNvSpPr txBox="1"/>
          <p:nvPr/>
        </p:nvSpPr>
        <p:spPr>
          <a:xfrm>
            <a:off x="863600" y="157350"/>
            <a:ext cx="10749280" cy="707886"/>
          </a:xfrm>
          <a:prstGeom prst="rect">
            <a:avLst/>
          </a:prstGeom>
          <a:noFill/>
        </p:spPr>
        <p:txBody>
          <a:bodyPr wrap="square">
            <a:spAutoFit/>
          </a:bodyPr>
          <a:lstStyle/>
          <a:p>
            <a:r>
              <a:rPr lang="en-US" sz="4000" b="1" dirty="0">
                <a:ln w="0"/>
                <a:effectLst>
                  <a:outerShdw blurRad="38100" dist="19050" dir="2700000" algn="tl" rotWithShape="0">
                    <a:schemeClr val="dk1">
                      <a:alpha val="40000"/>
                    </a:schemeClr>
                  </a:outerShdw>
                </a:effectLst>
                <a:latin typeface="ADLaM Display" panose="02010000000000000000" pitchFamily="2" charset="0"/>
                <a:ea typeface="ADLaM Display" panose="02010000000000000000" pitchFamily="2" charset="0"/>
                <a:cs typeface="ADLaM Display" panose="02010000000000000000" pitchFamily="2" charset="0"/>
              </a:rPr>
              <a:t>HANDLING IMBALANCED DATA (SMOTE)</a:t>
            </a:r>
          </a:p>
        </p:txBody>
      </p:sp>
    </p:spTree>
    <p:extLst>
      <p:ext uri="{BB962C8B-B14F-4D97-AF65-F5344CB8AC3E}">
        <p14:creationId xmlns:p14="http://schemas.microsoft.com/office/powerpoint/2010/main" val="37824934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5083200-C147-098C-ED3B-184E2FCDF2EB}"/>
              </a:ext>
            </a:extLst>
          </p:cNvPr>
          <p:cNvSpPr txBox="1"/>
          <p:nvPr/>
        </p:nvSpPr>
        <p:spPr>
          <a:xfrm>
            <a:off x="71120" y="3104216"/>
            <a:ext cx="7945120" cy="3262432"/>
          </a:xfrm>
          <a:prstGeom prst="rect">
            <a:avLst/>
          </a:prstGeom>
          <a:noFill/>
        </p:spPr>
        <p:txBody>
          <a:bodyPr wrap="square">
            <a:spAutoFit/>
          </a:bodyPr>
          <a:lstStyle/>
          <a:p>
            <a:pPr>
              <a:buNone/>
            </a:pPr>
            <a:r>
              <a:rPr lang="en-US" b="1" dirty="0">
                <a:solidFill>
                  <a:srgbClr val="002060"/>
                </a:solidFill>
                <a:latin typeface="Times New Roman" panose="02020603050405020304" pitchFamily="18" charset="0"/>
                <a:cs typeface="Times New Roman" panose="02020603050405020304" pitchFamily="18" charset="0"/>
              </a:rPr>
              <a:t>• Logistic Regression is used for binary classification → simple, interpretable, and provides probability-based predictions.</a:t>
            </a:r>
          </a:p>
          <a:p>
            <a:pPr>
              <a:buNone/>
            </a:pPr>
            <a:endParaRPr lang="en-US" sz="2400" b="1" dirty="0">
              <a:solidFill>
                <a:srgbClr val="002060"/>
              </a:solidFill>
              <a:latin typeface="Times New Roman" panose="02020603050405020304" pitchFamily="18" charset="0"/>
              <a:cs typeface="Times New Roman" panose="02020603050405020304" pitchFamily="18" charset="0"/>
            </a:endParaRPr>
          </a:p>
          <a:p>
            <a:pPr>
              <a:buNone/>
            </a:pPr>
            <a:r>
              <a:rPr lang="en-US" b="1" dirty="0">
                <a:solidFill>
                  <a:srgbClr val="002060"/>
                </a:solidFill>
                <a:latin typeface="Times New Roman" panose="02020603050405020304" pitchFamily="18" charset="0"/>
                <a:cs typeface="Times New Roman" panose="02020603050405020304" pitchFamily="18" charset="0"/>
              </a:rPr>
              <a:t>• Random </a:t>
            </a:r>
            <a:r>
              <a:rPr lang="en-US" sz="2000" b="1" dirty="0">
                <a:solidFill>
                  <a:srgbClr val="002060"/>
                </a:solidFill>
                <a:latin typeface="Times New Roman" panose="02020603050405020304" pitchFamily="18" charset="0"/>
                <a:cs typeface="Times New Roman" panose="02020603050405020304" pitchFamily="18" charset="0"/>
              </a:rPr>
              <a:t>Forest</a:t>
            </a:r>
            <a:r>
              <a:rPr lang="en-US" b="1" dirty="0">
                <a:solidFill>
                  <a:srgbClr val="002060"/>
                </a:solidFill>
                <a:latin typeface="Times New Roman" panose="02020603050405020304" pitchFamily="18" charset="0"/>
                <a:cs typeface="Times New Roman" panose="02020603050405020304" pitchFamily="18" charset="0"/>
              </a:rPr>
              <a:t> is an ensemble model → handles complex data well and captures non-linear relationships effectively.</a:t>
            </a:r>
          </a:p>
          <a:p>
            <a:pPr>
              <a:buNone/>
            </a:pPr>
            <a:endParaRPr lang="en-US" b="1" dirty="0">
              <a:solidFill>
                <a:srgbClr val="002060"/>
              </a:solidFill>
              <a:latin typeface="Times New Roman" panose="02020603050405020304" pitchFamily="18" charset="0"/>
              <a:cs typeface="Times New Roman" panose="02020603050405020304" pitchFamily="18" charset="0"/>
            </a:endParaRPr>
          </a:p>
          <a:p>
            <a:pPr>
              <a:buNone/>
            </a:pPr>
            <a:r>
              <a:rPr lang="en-US" b="1" dirty="0">
                <a:solidFill>
                  <a:srgbClr val="002060"/>
                </a:solidFill>
                <a:latin typeface="Times New Roman" panose="02020603050405020304" pitchFamily="18" charset="0"/>
                <a:cs typeface="Times New Roman" panose="02020603050405020304" pitchFamily="18" charset="0"/>
              </a:rPr>
              <a:t>• XGBoost is an advanced boosting algorithm → delivers high accuracy and strong predictive performance.</a:t>
            </a:r>
          </a:p>
          <a:p>
            <a:pPr>
              <a:buNone/>
            </a:pPr>
            <a:endParaRPr lang="en-US" b="1" dirty="0">
              <a:solidFill>
                <a:srgbClr val="002060"/>
              </a:solidFill>
              <a:latin typeface="Times New Roman" panose="02020603050405020304" pitchFamily="18" charset="0"/>
              <a:cs typeface="Times New Roman" panose="02020603050405020304" pitchFamily="18" charset="0"/>
            </a:endParaRPr>
          </a:p>
          <a:p>
            <a:pPr>
              <a:buNone/>
            </a:pPr>
            <a:r>
              <a:rPr lang="en-US" b="1" dirty="0">
                <a:solidFill>
                  <a:srgbClr val="002060"/>
                </a:solidFill>
                <a:latin typeface="Times New Roman" panose="02020603050405020304" pitchFamily="18" charset="0"/>
                <a:cs typeface="Times New Roman" panose="02020603050405020304" pitchFamily="18" charset="0"/>
              </a:rPr>
              <a:t>• LightGBM is a fast-boosting model → efficient for large datasets and high-dimensional features.</a:t>
            </a:r>
          </a:p>
        </p:txBody>
      </p:sp>
      <p:sp>
        <p:nvSpPr>
          <p:cNvPr id="4" name="Freeform 9">
            <a:extLst>
              <a:ext uri="{FF2B5EF4-FFF2-40B4-BE49-F238E27FC236}">
                <a16:creationId xmlns:a16="http://schemas.microsoft.com/office/drawing/2014/main" id="{E1B65EC9-B51F-2B08-3138-F919B7C46004}"/>
              </a:ext>
            </a:extLst>
          </p:cNvPr>
          <p:cNvSpPr/>
          <p:nvPr/>
        </p:nvSpPr>
        <p:spPr>
          <a:xfrm>
            <a:off x="8615681" y="91440"/>
            <a:ext cx="3505200" cy="3820160"/>
          </a:xfrm>
          <a:custGeom>
            <a:avLst/>
            <a:gdLst/>
            <a:ahLst/>
            <a:cxnLst/>
            <a:rect l="l" t="t" r="r" b="b"/>
            <a:pathLst>
              <a:path w="5210378" h="4727234">
                <a:moveTo>
                  <a:pt x="0" y="0"/>
                </a:moveTo>
                <a:lnTo>
                  <a:pt x="5210378" y="0"/>
                </a:lnTo>
                <a:lnTo>
                  <a:pt x="5210378" y="4727234"/>
                </a:lnTo>
                <a:lnTo>
                  <a:pt x="0" y="47272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5">
            <a:extLst>
              <a:ext uri="{FF2B5EF4-FFF2-40B4-BE49-F238E27FC236}">
                <a16:creationId xmlns:a16="http://schemas.microsoft.com/office/drawing/2014/main" id="{03E16678-8005-3080-27B5-0790A9A146FF}"/>
              </a:ext>
            </a:extLst>
          </p:cNvPr>
          <p:cNvSpPr txBox="1"/>
          <p:nvPr/>
        </p:nvSpPr>
        <p:spPr>
          <a:xfrm>
            <a:off x="172720" y="2001520"/>
            <a:ext cx="6553200" cy="954107"/>
          </a:xfrm>
          <a:prstGeom prst="rect">
            <a:avLst/>
          </a:prstGeom>
          <a:noFill/>
        </p:spPr>
        <p:txBody>
          <a:bodyPr wrap="square">
            <a:spAutoFit/>
          </a:bodyPr>
          <a:lstStyle/>
          <a:p>
            <a:r>
              <a:rPr lang="en-US" b="1" dirty="0">
                <a:solidFill>
                  <a:srgbClr val="002060"/>
                </a:solidFill>
                <a:latin typeface="Times New Roman" panose="02020603050405020304" pitchFamily="18" charset="0"/>
                <a:cs typeface="Times New Roman" panose="02020603050405020304" pitchFamily="18" charset="0"/>
              </a:rPr>
              <a:t>• Evaluate various </a:t>
            </a:r>
            <a:r>
              <a:rPr lang="en-US" sz="2000" b="1" dirty="0">
                <a:solidFill>
                  <a:srgbClr val="002060"/>
                </a:solidFill>
                <a:latin typeface="Times New Roman" panose="02020603050405020304" pitchFamily="18" charset="0"/>
                <a:cs typeface="Times New Roman" panose="02020603050405020304" pitchFamily="18" charset="0"/>
              </a:rPr>
              <a:t>classification</a:t>
            </a:r>
            <a:r>
              <a:rPr lang="en-US" b="1" dirty="0">
                <a:solidFill>
                  <a:srgbClr val="002060"/>
                </a:solidFill>
                <a:latin typeface="Times New Roman" panose="02020603050405020304" pitchFamily="18" charset="0"/>
                <a:cs typeface="Times New Roman" panose="02020603050405020304" pitchFamily="18" charset="0"/>
              </a:rPr>
              <a:t> algorithms including Logistic Regression, Random Forest, XGBoost, and LightGBM for predicting job change </a:t>
            </a:r>
          </a:p>
        </p:txBody>
      </p:sp>
      <p:sp>
        <p:nvSpPr>
          <p:cNvPr id="8" name="TextBox 7">
            <a:extLst>
              <a:ext uri="{FF2B5EF4-FFF2-40B4-BE49-F238E27FC236}">
                <a16:creationId xmlns:a16="http://schemas.microsoft.com/office/drawing/2014/main" id="{92CAEE1A-C62F-53DB-B920-9E103E4FE9D6}"/>
              </a:ext>
            </a:extLst>
          </p:cNvPr>
          <p:cNvSpPr txBox="1"/>
          <p:nvPr/>
        </p:nvSpPr>
        <p:spPr>
          <a:xfrm>
            <a:off x="345440" y="378997"/>
            <a:ext cx="6207760" cy="1323439"/>
          </a:xfrm>
          <a:prstGeom prst="rect">
            <a:avLst/>
          </a:prstGeom>
          <a:noFill/>
        </p:spPr>
        <p:txBody>
          <a:bodyPr wrap="square">
            <a:spAutoFit/>
          </a:bodyPr>
          <a:lstStyle/>
          <a:p>
            <a:r>
              <a:rPr lang="en-US" sz="4000" b="1" dirty="0">
                <a:ln w="0"/>
                <a:effectLst>
                  <a:outerShdw blurRad="38100" dist="19050" dir="2700000" algn="tl" rotWithShape="0">
                    <a:schemeClr val="dk1">
                      <a:alpha val="40000"/>
                    </a:schemeClr>
                  </a:outerShdw>
                </a:effectLst>
                <a:latin typeface="ADLaM Display" panose="02010000000000000000" pitchFamily="2" charset="0"/>
                <a:ea typeface="ADLaM Display" panose="02010000000000000000" pitchFamily="2" charset="0"/>
                <a:cs typeface="ADLaM Display" panose="02010000000000000000" pitchFamily="2" charset="0"/>
              </a:rPr>
              <a:t>MODEL SELECTION AND EVALUATION</a:t>
            </a:r>
          </a:p>
        </p:txBody>
      </p:sp>
      <p:pic>
        <p:nvPicPr>
          <p:cNvPr id="9" name="Picture 8">
            <a:extLst>
              <a:ext uri="{FF2B5EF4-FFF2-40B4-BE49-F238E27FC236}">
                <a16:creationId xmlns:a16="http://schemas.microsoft.com/office/drawing/2014/main" id="{85C547C8-20A7-A1F7-5573-74D6C56262E4}"/>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a:xfrm>
            <a:off x="10111384" y="6235531"/>
            <a:ext cx="1785976" cy="462949"/>
          </a:xfrm>
          <a:prstGeom prst="rect">
            <a:avLst/>
          </a:prstGeom>
        </p:spPr>
      </p:pic>
    </p:spTree>
    <p:extLst>
      <p:ext uri="{BB962C8B-B14F-4D97-AF65-F5344CB8AC3E}">
        <p14:creationId xmlns:p14="http://schemas.microsoft.com/office/powerpoint/2010/main" val="3019499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4ED47B5D-0624-1309-2B06-86906FEEFED6}"/>
              </a:ext>
            </a:extLst>
          </p:cNvPr>
          <p:cNvSpPr txBox="1"/>
          <p:nvPr/>
        </p:nvSpPr>
        <p:spPr>
          <a:xfrm>
            <a:off x="0" y="5657671"/>
            <a:ext cx="12095480" cy="1077218"/>
          </a:xfrm>
          <a:prstGeom prst="rect">
            <a:avLst/>
          </a:prstGeom>
          <a:noFill/>
        </p:spPr>
        <p:txBody>
          <a:bodyPr wrap="square">
            <a:spAutoFit/>
          </a:bodyPr>
          <a:lstStyle/>
          <a:p>
            <a:pPr>
              <a:buNone/>
            </a:pPr>
            <a:r>
              <a:rPr lang="en-US" sz="1600" dirty="0"/>
              <a:t>• </a:t>
            </a:r>
            <a:r>
              <a:rPr lang="en-US" sz="1600" b="1" dirty="0">
                <a:solidFill>
                  <a:srgbClr val="7030A0"/>
                </a:solidFill>
                <a:latin typeface="Times New Roman" panose="02020603050405020304" pitchFamily="18" charset="0"/>
                <a:cs typeface="Times New Roman" panose="02020603050405020304" pitchFamily="18" charset="0"/>
              </a:rPr>
              <a:t>Logistic Regression is stable → very small train-test gap (good baseline model)</a:t>
            </a:r>
          </a:p>
          <a:p>
            <a:pPr>
              <a:buNone/>
            </a:pPr>
            <a:r>
              <a:rPr lang="en-US" sz="1600" b="1" dirty="0">
                <a:solidFill>
                  <a:srgbClr val="7030A0"/>
                </a:solidFill>
                <a:latin typeface="Times New Roman" panose="02020603050405020304" pitchFamily="18" charset="0"/>
                <a:cs typeface="Times New Roman" panose="02020603050405020304" pitchFamily="18" charset="0"/>
              </a:rPr>
              <a:t>• Random Forest shows higher recall (~0.80) → effective for detecting at-risk employees</a:t>
            </a:r>
          </a:p>
          <a:p>
            <a:pPr>
              <a:buNone/>
            </a:pPr>
            <a:r>
              <a:rPr lang="en-US" sz="1600" b="1" dirty="0">
                <a:solidFill>
                  <a:srgbClr val="7030A0"/>
                </a:solidFill>
                <a:latin typeface="Times New Roman" panose="02020603050405020304" pitchFamily="18" charset="0"/>
                <a:cs typeface="Times New Roman" panose="02020603050405020304" pitchFamily="18" charset="0"/>
              </a:rPr>
              <a:t>• LightGBM also provides high recall (~0.80) → strong performance close to Random Forest</a:t>
            </a:r>
          </a:p>
          <a:p>
            <a:pPr>
              <a:buNone/>
            </a:pPr>
            <a:r>
              <a:rPr lang="en-US" sz="1600" b="1" dirty="0">
                <a:solidFill>
                  <a:srgbClr val="7030A0"/>
                </a:solidFill>
                <a:latin typeface="Times New Roman" panose="02020603050405020304" pitchFamily="18" charset="0"/>
                <a:cs typeface="Times New Roman" panose="02020603050405020304" pitchFamily="18" charset="0"/>
              </a:rPr>
              <a:t>• XGBoost is the best model → highest ROC-AUC (0.8167) and best test accuracy (~0.7957), giving the best overall balance</a:t>
            </a:r>
          </a:p>
        </p:txBody>
      </p:sp>
      <p:pic>
        <p:nvPicPr>
          <p:cNvPr id="11" name="Picture 10">
            <a:extLst>
              <a:ext uri="{FF2B5EF4-FFF2-40B4-BE49-F238E27FC236}">
                <a16:creationId xmlns:a16="http://schemas.microsoft.com/office/drawing/2014/main" id="{02E92C0B-C1AC-B050-681F-3639350DF8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7396"/>
            <a:ext cx="12192000" cy="5580275"/>
          </a:xfrm>
          <a:prstGeom prst="rect">
            <a:avLst/>
          </a:prstGeom>
        </p:spPr>
      </p:pic>
    </p:spTree>
    <p:extLst>
      <p:ext uri="{BB962C8B-B14F-4D97-AF65-F5344CB8AC3E}">
        <p14:creationId xmlns:p14="http://schemas.microsoft.com/office/powerpoint/2010/main" val="29160055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CF88112-9A4C-5C25-A677-4FF52924366D}"/>
              </a:ext>
            </a:extLst>
          </p:cNvPr>
          <p:cNvSpPr txBox="1"/>
          <p:nvPr/>
        </p:nvSpPr>
        <p:spPr>
          <a:xfrm>
            <a:off x="81280" y="1434237"/>
            <a:ext cx="9834880" cy="1323439"/>
          </a:xfrm>
          <a:prstGeom prst="rect">
            <a:avLst/>
          </a:prstGeom>
          <a:noFill/>
        </p:spPr>
        <p:txBody>
          <a:bodyPr wrap="square">
            <a:spAutoFit/>
          </a:bodyPr>
          <a:lstStyle/>
          <a:p>
            <a:pPr>
              <a:buNone/>
            </a:pPr>
            <a:r>
              <a:rPr lang="en-US" b="1" dirty="0"/>
              <a:t> </a:t>
            </a:r>
            <a:r>
              <a:rPr lang="en-US" sz="2000" b="1" dirty="0">
                <a:solidFill>
                  <a:srgbClr val="FF0000"/>
                </a:solidFill>
                <a:latin typeface="Times New Roman" panose="02020603050405020304" pitchFamily="18" charset="0"/>
                <a:cs typeface="Times New Roman" panose="02020603050405020304" pitchFamily="18" charset="0"/>
              </a:rPr>
              <a:t>1. PREDICTION</a:t>
            </a:r>
          </a:p>
          <a:p>
            <a:pPr>
              <a:buNone/>
            </a:pPr>
            <a:r>
              <a:rPr lang="en-US" sz="2000" b="1" dirty="0">
                <a:solidFill>
                  <a:srgbClr val="FF0000"/>
                </a:solidFill>
                <a:latin typeface="Times New Roman" panose="02020603050405020304" pitchFamily="18" charset="0"/>
                <a:cs typeface="Times New Roman" panose="02020603050405020304" pitchFamily="18" charset="0"/>
              </a:rPr>
              <a:t>• The model predicts the probability of a Data Scientist seeking a job change</a:t>
            </a:r>
          </a:p>
          <a:p>
            <a:pPr>
              <a:buNone/>
            </a:pPr>
            <a:r>
              <a:rPr lang="en-US" sz="2000" b="1" dirty="0">
                <a:solidFill>
                  <a:srgbClr val="FF0000"/>
                </a:solidFill>
                <a:latin typeface="Times New Roman" panose="02020603050405020304" pitchFamily="18" charset="0"/>
                <a:cs typeface="Times New Roman" panose="02020603050405020304" pitchFamily="18" charset="0"/>
              </a:rPr>
              <a:t>• XGBoost is used for prediction → provides accurate and reliable results</a:t>
            </a:r>
          </a:p>
          <a:p>
            <a:pPr>
              <a:buNone/>
            </a:pPr>
            <a:r>
              <a:rPr lang="en-US" sz="2000" b="1" dirty="0">
                <a:solidFill>
                  <a:srgbClr val="FF0000"/>
                </a:solidFill>
                <a:latin typeface="Times New Roman" panose="02020603050405020304" pitchFamily="18" charset="0"/>
                <a:cs typeface="Times New Roman" panose="02020603050405020304" pitchFamily="18" charset="0"/>
              </a:rPr>
              <a:t>• Helps identify high-risk employees in advance</a:t>
            </a:r>
          </a:p>
        </p:txBody>
      </p:sp>
      <p:sp>
        <p:nvSpPr>
          <p:cNvPr id="5" name="TextBox 4">
            <a:extLst>
              <a:ext uri="{FF2B5EF4-FFF2-40B4-BE49-F238E27FC236}">
                <a16:creationId xmlns:a16="http://schemas.microsoft.com/office/drawing/2014/main" id="{5EAFEFB2-A0FC-3ED6-28D7-33C9C914AB81}"/>
              </a:ext>
            </a:extLst>
          </p:cNvPr>
          <p:cNvSpPr txBox="1"/>
          <p:nvPr/>
        </p:nvSpPr>
        <p:spPr>
          <a:xfrm>
            <a:off x="81280" y="3094058"/>
            <a:ext cx="8910320" cy="1323439"/>
          </a:xfrm>
          <a:prstGeom prst="rect">
            <a:avLst/>
          </a:prstGeom>
          <a:noFill/>
        </p:spPr>
        <p:txBody>
          <a:bodyPr wrap="square">
            <a:spAutoFit/>
          </a:bodyPr>
          <a:lstStyle/>
          <a:p>
            <a:pPr>
              <a:buNone/>
            </a:pPr>
            <a:r>
              <a:rPr lang="en-US" sz="2000" b="1" dirty="0">
                <a:solidFill>
                  <a:srgbClr val="C00000"/>
                </a:solidFill>
                <a:latin typeface="Times New Roman" panose="02020603050405020304" pitchFamily="18" charset="0"/>
                <a:cs typeface="Times New Roman" panose="02020603050405020304" pitchFamily="18" charset="0"/>
              </a:rPr>
              <a:t>2.CONCLUSION</a:t>
            </a:r>
          </a:p>
          <a:p>
            <a:pPr>
              <a:buNone/>
            </a:pPr>
            <a:r>
              <a:rPr lang="en-US" sz="2000" b="1" dirty="0">
                <a:solidFill>
                  <a:srgbClr val="C00000"/>
                </a:solidFill>
                <a:latin typeface="Times New Roman" panose="02020603050405020304" pitchFamily="18" charset="0"/>
                <a:cs typeface="Times New Roman" panose="02020603050405020304" pitchFamily="18" charset="0"/>
              </a:rPr>
              <a:t>• The project goal is achieved → successful job change prediction model built</a:t>
            </a:r>
          </a:p>
          <a:p>
            <a:pPr>
              <a:buNone/>
            </a:pPr>
            <a:r>
              <a:rPr lang="en-US" sz="2000" b="1" dirty="0">
                <a:solidFill>
                  <a:srgbClr val="C00000"/>
                </a:solidFill>
                <a:latin typeface="Times New Roman" panose="02020603050405020304" pitchFamily="18" charset="0"/>
                <a:cs typeface="Times New Roman" panose="02020603050405020304" pitchFamily="18" charset="0"/>
              </a:rPr>
              <a:t>• XGBoost performs best → highest accuracy and ROC-AUC score</a:t>
            </a:r>
          </a:p>
          <a:p>
            <a:pPr>
              <a:buNone/>
            </a:pPr>
            <a:r>
              <a:rPr lang="en-US" sz="2000" b="1" dirty="0">
                <a:solidFill>
                  <a:srgbClr val="C00000"/>
                </a:solidFill>
                <a:latin typeface="Times New Roman" panose="02020603050405020304" pitchFamily="18" charset="0"/>
                <a:cs typeface="Times New Roman" panose="02020603050405020304" pitchFamily="18" charset="0"/>
              </a:rPr>
              <a:t>• Model supports better decision-making in HR and workforce planning</a:t>
            </a:r>
          </a:p>
        </p:txBody>
      </p:sp>
      <p:sp>
        <p:nvSpPr>
          <p:cNvPr id="7" name="TextBox 6">
            <a:extLst>
              <a:ext uri="{FF2B5EF4-FFF2-40B4-BE49-F238E27FC236}">
                <a16:creationId xmlns:a16="http://schemas.microsoft.com/office/drawing/2014/main" id="{CA121BB5-5B4A-EE7D-07E3-B4CE0AB56A56}"/>
              </a:ext>
            </a:extLst>
          </p:cNvPr>
          <p:cNvSpPr txBox="1"/>
          <p:nvPr/>
        </p:nvSpPr>
        <p:spPr>
          <a:xfrm>
            <a:off x="81280" y="4916439"/>
            <a:ext cx="11531600" cy="1323439"/>
          </a:xfrm>
          <a:prstGeom prst="rect">
            <a:avLst/>
          </a:prstGeom>
          <a:noFill/>
        </p:spPr>
        <p:txBody>
          <a:bodyPr wrap="square">
            <a:spAutoFit/>
          </a:bodyPr>
          <a:lstStyle/>
          <a:p>
            <a:pPr>
              <a:buNone/>
            </a:pPr>
            <a:r>
              <a:rPr lang="en-US" sz="2000" b="1" dirty="0">
                <a:solidFill>
                  <a:srgbClr val="002060"/>
                </a:solidFill>
                <a:latin typeface="Times New Roman" panose="02020603050405020304" pitchFamily="18" charset="0"/>
                <a:cs typeface="Times New Roman" panose="02020603050405020304" pitchFamily="18" charset="0"/>
              </a:rPr>
              <a:t>3. FUTURE RESEARCH</a:t>
            </a:r>
          </a:p>
          <a:p>
            <a:pPr>
              <a:buNone/>
            </a:pPr>
            <a:r>
              <a:rPr lang="en-US" sz="2000" b="1" dirty="0">
                <a:solidFill>
                  <a:srgbClr val="002060"/>
                </a:solidFill>
                <a:latin typeface="Times New Roman" panose="02020603050405020304" pitchFamily="18" charset="0"/>
                <a:cs typeface="Times New Roman" panose="02020603050405020304" pitchFamily="18" charset="0"/>
              </a:rPr>
              <a:t>Future research should focus on improving model accuracy and robustness by handling missing values, outliers, and class imbalance. Using advanced techniques and real-time data can further enhance prediction performance and practical use</a:t>
            </a:r>
            <a:r>
              <a:rPr lang="en-US" sz="2000" b="1" dirty="0"/>
              <a:t>.</a:t>
            </a:r>
          </a:p>
        </p:txBody>
      </p:sp>
      <p:sp>
        <p:nvSpPr>
          <p:cNvPr id="9" name="TextBox 8">
            <a:extLst>
              <a:ext uri="{FF2B5EF4-FFF2-40B4-BE49-F238E27FC236}">
                <a16:creationId xmlns:a16="http://schemas.microsoft.com/office/drawing/2014/main" id="{79A25E38-3A77-B2E0-9186-4F5E2403EE40}"/>
              </a:ext>
            </a:extLst>
          </p:cNvPr>
          <p:cNvSpPr txBox="1"/>
          <p:nvPr/>
        </p:nvSpPr>
        <p:spPr>
          <a:xfrm>
            <a:off x="1869440" y="110798"/>
            <a:ext cx="7569200" cy="1323439"/>
          </a:xfrm>
          <a:prstGeom prst="rect">
            <a:avLst/>
          </a:prstGeom>
          <a:noFill/>
        </p:spPr>
        <p:txBody>
          <a:bodyPr wrap="square">
            <a:spAutoFit/>
          </a:bodyPr>
          <a:lstStyle/>
          <a:p>
            <a:r>
              <a:rPr lang="en-US" sz="4000" b="1" dirty="0">
                <a:ln w="0"/>
                <a:effectLst>
                  <a:outerShdw blurRad="38100" dist="19050" dir="2700000" algn="tl" rotWithShape="0">
                    <a:schemeClr val="dk1">
                      <a:alpha val="40000"/>
                    </a:schemeClr>
                  </a:outerShdw>
                </a:effectLst>
                <a:latin typeface="ADLaM Display" panose="02010000000000000000" pitchFamily="2" charset="0"/>
                <a:ea typeface="ADLaM Display" panose="02010000000000000000" pitchFamily="2" charset="0"/>
                <a:cs typeface="ADLaM Display" panose="02010000000000000000" pitchFamily="2" charset="0"/>
              </a:rPr>
              <a:t>PREDICTION, CONCLUSION &amp; FUTURE RESEARCH</a:t>
            </a:r>
          </a:p>
        </p:txBody>
      </p:sp>
      <p:pic>
        <p:nvPicPr>
          <p:cNvPr id="10" name="Picture 9">
            <a:extLst>
              <a:ext uri="{FF2B5EF4-FFF2-40B4-BE49-F238E27FC236}">
                <a16:creationId xmlns:a16="http://schemas.microsoft.com/office/drawing/2014/main" id="{628CDEEE-634E-7E0B-6D12-50C0FEB4840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10111384" y="6235531"/>
            <a:ext cx="1785976" cy="462949"/>
          </a:xfrm>
          <a:prstGeom prst="rect">
            <a:avLst/>
          </a:prstGeom>
        </p:spPr>
      </p:pic>
    </p:spTree>
    <p:extLst>
      <p:ext uri="{BB962C8B-B14F-4D97-AF65-F5344CB8AC3E}">
        <p14:creationId xmlns:p14="http://schemas.microsoft.com/office/powerpoint/2010/main" val="369325767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BAI_THEME_MODEL" val="{&quot;showLogo&quot;:true,&quot;logoScale&quot;:1,&quot;logoPosition&quot;:&quot;left&quot;,&quot;logoOffset&quot;:0,&quot;showMessage&quot;:true,&quot;showPageNum&quot;:true,&quot;logo&quot;:null,&quot;logo_dark&quot;:null,&quot;showFooterByDefault&quot;:null,&quot;footerMessage&quot;:&quot;©2024 Proprietary and Confidential. All Rights Reserved.&quot;,&quot;palette_name&quot;:&quot;colorful&quot;,&quot;defaultSlideColor&quot;:&quot;theme&quot;,&quot;defaultBackgroundColor&quot;:&quot;background_light&quot;,&quot;styleFonts&quot;:1,&quot;styleFontWeight&quot;:&quot;heavy&quot;,&quot;styleElementStyle&quot;:&quot;outlined&quot;,&quot;styleEffect&quot;:&quot;none&quot;,&quot;styleDesign&quot;:1,&quot;styleDecoration&quot;:&quot;bar_left&quot;,&quot;styleHeaderAlignment&quot;:&quot;left&quot;,&quot;styleShape&quot;:&quot;rect&quot;,&quot;styleColor&quot;:&quot;slide&quot;,&quot;styleBackground&quot;:&quot;none&quot;,&quot;styleTitleFont&quot;:&quot;sourcesanspro&quot;,&quot;styleBodyFont&quot;:&quot;sourcesanspro&quot;,&quot;styleWeight&quot;:&quot;medium&quot;,&quot;styleTitleSlide&quot;:&quot;bar_left&quot;,&quot;fontScale&quot;:1,&quot;iconStyle&quot;:&quot;chunky&quot;,&quot;cjkFont&quot;:&quot;jp&quot;,&quot;isRTL&quot;:false,&quot;colors&quot;:{&quot;background_light&quot;:&quot;#ffffff&quot;,&quot;background_dark&quot;:&quot;#000000&quot;,&quot;primary_light&quot;:&quot;#ffffff&quot;,&quot;primary_dark&quot;:&quot;#000000&quot;,&quot;secondary_light&quot;:&quot;#e7e6e6&quot;,&quot;secondary_dark&quot;:&quot;#44546a&quot;,&quot;positive&quot;:&quot;#54C351&quot;,&quot;negative&quot;:&quot;#E04C2B&quot;,&quot;hyperlink&quot;:&quot;#11a9e2&quot;,&quot;theme&quot;:&quot;#4472c4&quot;,&quot;background_accent&quot;:&quot;#e7e6e6&quot;,&quot;chart1&quot;:&quot;#4472c4&quot;,&quot;accent1&quot;:&quot;#ed7d31&quot;,&quot;chart2&quot;:&quot;#ed7d31&quot;,&quot;accent2&quot;:&quot;#a5a5a5&quot;,&quot;chart3&quot;:&quot;#a5a5a5&quot;,&quot;accent3&quot;:&quot;#ffc000&quot;,&quot;chart4&quot;:&quot;#ffc000&quot;,&quot;accent4&quot;:&quot;#5b9bd5&quot;,&quot;chart5&quot;:&quot;#5b9bd5&quot;,&quot;accent5&quot;:&quot;#70ad47&quot;,&quot;chart6&quot;:&quot;#70ad47&quot;},&quot;fontHeaderFontId&quot;:&quot;sourcesanspro&quot;,&quot;fontHeaderWeight&quot;:600,&quot;fontHeaderBoldWeight&quot;:600,&quot;fontHeaderLetterSpacing&quot;:0,&quot;fontHeaderLineHeight&quot;:1.6,&quot;fontHeaderScaling&quot;:100,&quot;fontHeaderTextTransform&quot;:&quot;auto&quot;,&quot;fontTitleFontId&quot;:&quot;sourcesanspro&quot;,&quot;fontTitleWeight&quot;:600,&quot;fontTitleBoldWeight&quot;:600,&quot;fontTitleLetterSpacing&quot;:0,&quot;fontTitleLineHeight&quot;:1.6,&quot;fontTitleScaling&quot;:100,&quot;fontTitleTextTransform&quot;:&quot;auto&quot;,&quot;fontBodyFontId&quot;:&quot;sourcesanspro&quot;,&quot;fontBodyWeight&quot;:400,&quot;fontBodyBoldWeight&quot;:600,&quot;fontBodyLetterSpacing&quot;:0,&quot;fontBodyLineHeight&quot;:1.9,&quot;fontBodyScaling&quot;:100,&quot;fontBodyTextTransform&quot;:&quot;auto&quot;}"/>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mplate 2.1" id="{19F6FF4A-BFB8-D448-81DB-A8F1C71F8E46}" vid="{CDCDF023-17A4-CF46-89DD-D6386F64A917}"/>
    </a:ext>
  </a:extLst>
</a:theme>
</file>

<file path=ppt/theme/theme2.xml><?xml version="1.0" encoding="utf-8"?>
<a:theme xmlns:a="http://schemas.openxmlformats.org/drawingml/2006/main" name="Office 2013 - 2022 Theme">
  <a:themeElements>
    <a:clrScheme name="Orange">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5">
    <wetp:webextensionref xmlns:r="http://schemas.openxmlformats.org/officeDocument/2006/relationships" r:id="rId1"/>
  </wetp:taskpane>
  <wetp:taskpane dockstate="right" visibility="0" width="438" row="6">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F98E7D50-581B-4293-BF8B-96CE4C9BE07B}">
  <we:reference id="wa200005566" version="3.0.0.2" store="en-US" storeType="OMEX"/>
  <we:alternateReferences>
    <we:reference id="wa200005566" version="3.0.0.2" store="wa200005566"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BCE39EDF-E3F7-4696-8F8D-249A55DDEAD5}">
  <we:reference id="wa200003964" version="1.0.0.0" store="en-US" storeType="OMEX"/>
  <we:alternateReferences>
    <we:reference id="wa200003964" version="1.0.0.0" store="wa200003964"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Bank loan analysis (ppt)</Template>
  <TotalTime>3571</TotalTime>
  <Words>1879</Words>
  <Application>Microsoft Office PowerPoint</Application>
  <PresentationFormat>Widescreen</PresentationFormat>
  <Paragraphs>230</Paragraphs>
  <Slides>20</Slides>
  <Notes>0</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20</vt:i4>
      </vt:variant>
    </vt:vector>
  </HeadingPairs>
  <TitlesOfParts>
    <vt:vector size="31" baseType="lpstr">
      <vt:lpstr>ADLaM Display</vt:lpstr>
      <vt:lpstr>Arial</vt:lpstr>
      <vt:lpstr>Calibri</vt:lpstr>
      <vt:lpstr>Calibri Light</vt:lpstr>
      <vt:lpstr>DM Sans Bold</vt:lpstr>
      <vt:lpstr>Roboto</vt:lpstr>
      <vt:lpstr>Rockwell</vt:lpstr>
      <vt:lpstr>Times New Roman</vt:lpstr>
      <vt:lpstr>TT Hoves Bold</vt:lpstr>
      <vt:lpstr>1_Office Theme</vt:lpstr>
      <vt:lpstr>Office 2013 - 2022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Aftab Khan</dc:creator>
  <cp:lastModifiedBy>CAO CON GRC</cp:lastModifiedBy>
  <cp:revision>52</cp:revision>
  <dcterms:created xsi:type="dcterms:W3CDTF">2023-11-30T07:40:03Z</dcterms:created>
  <dcterms:modified xsi:type="dcterms:W3CDTF">2026-03-19T18:51:31Z</dcterms:modified>
</cp:coreProperties>
</file>